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DM Sans Medium"/>
      <p:regular r:id="rId38"/>
      <p:bold r:id="rId39"/>
      <p:italic r:id="rId40"/>
      <p:boldItalic r:id="rId41"/>
    </p:embeddedFont>
    <p:embeddedFont>
      <p:font typeface="Inter"/>
      <p:regular r:id="rId42"/>
      <p:bold r:id="rId43"/>
      <p:italic r:id="rId44"/>
      <p:boldItalic r:id="rId45"/>
    </p:embeddedFont>
    <p:embeddedFont>
      <p:font typeface="DM Sans SemiBold"/>
      <p:regular r:id="rId46"/>
      <p:bold r:id="rId47"/>
      <p:italic r:id="rId48"/>
      <p:boldItalic r:id="rId49"/>
    </p:embeddedFont>
    <p:embeddedFont>
      <p:font typeface="DM Sans"/>
      <p:regular r:id="rId50"/>
      <p:bold r:id="rId51"/>
      <p:italic r:id="rId52"/>
      <p:boldItalic r:id="rId53"/>
    </p:embeddedFont>
    <p:embeddedFont>
      <p:font typeface="Inter Medium"/>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125B41-AD74-4D98-8F56-BF913B72A7BE}">
  <a:tblStyle styleId="{8A125B41-AD74-4D98-8F56-BF913B72A7B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Medium-italic.fntdata"/><Relationship Id="rId42" Type="http://schemas.openxmlformats.org/officeDocument/2006/relationships/font" Target="fonts/Inter-regular.fntdata"/><Relationship Id="rId41" Type="http://schemas.openxmlformats.org/officeDocument/2006/relationships/font" Target="fonts/DMSansMedium-boldItalic.fntdata"/><Relationship Id="rId44" Type="http://schemas.openxmlformats.org/officeDocument/2006/relationships/font" Target="fonts/Inter-italic.fntdata"/><Relationship Id="rId43" Type="http://schemas.openxmlformats.org/officeDocument/2006/relationships/font" Target="fonts/Inter-bold.fntdata"/><Relationship Id="rId46" Type="http://schemas.openxmlformats.org/officeDocument/2006/relationships/font" Target="fonts/DMSansSemiBold-regular.fntdata"/><Relationship Id="rId45"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DMSansSemiBold-italic.fntdata"/><Relationship Id="rId47" Type="http://schemas.openxmlformats.org/officeDocument/2006/relationships/font" Target="fonts/DMSansSemiBold-bold.fntdata"/><Relationship Id="rId49" Type="http://schemas.openxmlformats.org/officeDocument/2006/relationships/font" Target="fonts/DMSans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DMSansMedium-bold.fntdata"/><Relationship Id="rId38" Type="http://schemas.openxmlformats.org/officeDocument/2006/relationships/font" Target="fonts/DMSansMedium-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DMSans-bold.fntdata"/><Relationship Id="rId50" Type="http://schemas.openxmlformats.org/officeDocument/2006/relationships/font" Target="fonts/DMSans-regular.fntdata"/><Relationship Id="rId53" Type="http://schemas.openxmlformats.org/officeDocument/2006/relationships/font" Target="fonts/DMSans-boldItalic.fntdata"/><Relationship Id="rId52" Type="http://schemas.openxmlformats.org/officeDocument/2006/relationships/font" Target="fonts/DMSans-italic.fntdata"/><Relationship Id="rId11" Type="http://schemas.openxmlformats.org/officeDocument/2006/relationships/slide" Target="slides/slide5.xml"/><Relationship Id="rId55" Type="http://schemas.openxmlformats.org/officeDocument/2006/relationships/font" Target="fonts/InterMedium-bold.fntdata"/><Relationship Id="rId10" Type="http://schemas.openxmlformats.org/officeDocument/2006/relationships/slide" Target="slides/slide4.xml"/><Relationship Id="rId54" Type="http://schemas.openxmlformats.org/officeDocument/2006/relationships/font" Target="fonts/InterMedium-regular.fntdata"/><Relationship Id="rId13" Type="http://schemas.openxmlformats.org/officeDocument/2006/relationships/slide" Target="slides/slide7.xml"/><Relationship Id="rId57" Type="http://schemas.openxmlformats.org/officeDocument/2006/relationships/font" Target="fonts/InterMedium-boldItalic.fntdata"/><Relationship Id="rId12" Type="http://schemas.openxmlformats.org/officeDocument/2006/relationships/slide" Target="slides/slide6.xml"/><Relationship Id="rId56" Type="http://schemas.openxmlformats.org/officeDocument/2006/relationships/font" Target="fonts/InterMedium-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ature.com/articles/nclimate1527" TargetMode="External"/><Relationship Id="rId3" Type="http://schemas.openxmlformats.org/officeDocument/2006/relationships/hyperlink" Target="https://le.uwpress.org/content/96/1/25.abstrac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ature.com/articles/nclimate1527" TargetMode="External"/><Relationship Id="rId3" Type="http://schemas.openxmlformats.org/officeDocument/2006/relationships/hyperlink" Target="https://le.uwpress.org/content/96/1/25.abstrac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da1ce8cf6_0_0: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97" name="Google Shape;97;g3cda1ce8cf6_0_0: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98" name="Google Shape;98;g3cda1ce8cf6_0_0: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da1ce8cf6_0_22: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20" name="Google Shape;120;g3cda1ce8cf6_0_2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21" name="Google Shape;121;g3cda1ce8cf6_0_2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5e30809b8_0_2: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28" name="Google Shape;128;g395e30809b8_0_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29" name="Google Shape;129;g395e30809b8_0_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da1ce8cf6_0_49: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55" name="Google Shape;155;g3cda1ce8cf6_0_49: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56" name="Google Shape;156;g3cda1ce8cf6_0_49: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da1ce8cf6_0_61: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68" name="Google Shape;168;g3cda1ce8cf6_0_61: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69" name="Google Shape;169;g3cda1ce8cf6_0_61: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da1ce8cf6_0_81: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90" name="Google Shape;190;g3cda1ce8cf6_0_81: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91" name="Google Shape;191;g3cda1ce8cf6_0_81: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da1ce8cf6_0_110: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20" name="Google Shape;220;g3cda1ce8cf6_0_110: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221" name="Google Shape;221;g3cda1ce8cf6_0_110: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e3c4a0253_0_112: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29" name="Google Shape;229;g3ce3c4a0253_0_11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230" name="Google Shape;230;g3ce3c4a0253_0_11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da1ce8cf6_0_150: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39" name="Google Shape;239;g3cda1ce8cf6_0_150: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rPr lang="en"/>
              <a:t>Aldy, J. E., Kotchen, M. J., &amp; Leiserowitz, A. A. (2012). Willingness to pay and political support for a US national clean energy standard. Nature Climate Change, 2(8), 596-599. </a:t>
            </a:r>
            <a:r>
              <a:rPr lang="en" u="sng">
                <a:solidFill>
                  <a:schemeClr val="hlink"/>
                </a:solidFill>
                <a:hlinkClick r:id="rId2"/>
              </a:rPr>
              <a:t>https://www.nature.com/articles/nclimate1527</a:t>
            </a:r>
            <a:r>
              <a:rPr lang="en"/>
              <a:t> </a:t>
            </a:r>
            <a:endParaRPr/>
          </a:p>
          <a:p>
            <a:pPr indent="0" lvl="0" marL="0" rtl="0" algn="l">
              <a:spcBef>
                <a:spcPts val="0"/>
              </a:spcBef>
              <a:spcAft>
                <a:spcPts val="0"/>
              </a:spcAft>
              <a:buNone/>
            </a:pPr>
            <a:r>
              <a:rPr lang="en"/>
              <a:t>Giguere, C., Moore, C., &amp; Whitehead, J. C. (2020). Valuing hemlock woolly adelgid control in public forests: Scope effects with attribute nonattendance. Land economics, 96(1), 25-42. </a:t>
            </a:r>
            <a:r>
              <a:rPr lang="en" u="sng">
                <a:solidFill>
                  <a:schemeClr val="hlink"/>
                </a:solidFill>
                <a:hlinkClick r:id="rId3"/>
              </a:rPr>
              <a:t>https://le.uwpress.org/content/96/1/25.abstract</a:t>
            </a:r>
            <a:r>
              <a:rPr lang="en"/>
              <a:t> </a:t>
            </a:r>
            <a:endParaRPr/>
          </a:p>
        </p:txBody>
      </p:sp>
      <p:sp>
        <p:nvSpPr>
          <p:cNvPr id="240" name="Google Shape;240;g3cda1ce8cf6_0_150: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ce3c4a0253_0_64: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51" name="Google Shape;251;g3ce3c4a0253_0_64: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252" name="Google Shape;252;g3ce3c4a0253_0_64: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ce3c4a0253_0_205: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61" name="Google Shape;261;g3ce3c4a0253_0_205: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262" name="Google Shape;262;g3ce3c4a0253_0_205: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ce3c4a0253_0_218: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71" name="Google Shape;271;g3ce3c4a0253_0_218: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272" name="Google Shape;272;g3ce3c4a0253_0_218: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e3c4a0253_0_227: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81" name="Google Shape;281;g3ce3c4a0253_0_227: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282" name="Google Shape;282;g3ce3c4a0253_0_227: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da1ce8cf6_0_130: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291" name="Google Shape;291;g3cda1ce8cf6_0_130: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292" name="Google Shape;292;g3cda1ce8cf6_0_130: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ce3c4a0253_0_236: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312" name="Google Shape;312;g3ce3c4a0253_0_236: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rPr lang="en"/>
              <a:t>Aldy, J. E., Kotchen, M. J., &amp; Leiserowitz, A. A. (2012). Willingness to pay and political support for a US national clean energy standard. Nature Climate Change, 2(8), 596-599. </a:t>
            </a:r>
            <a:r>
              <a:rPr lang="en" u="sng">
                <a:solidFill>
                  <a:schemeClr val="hlink"/>
                </a:solidFill>
                <a:hlinkClick r:id="rId2"/>
              </a:rPr>
              <a:t>https://www.nature.com/articles/nclimate1527</a:t>
            </a:r>
            <a:r>
              <a:rPr lang="en"/>
              <a:t> </a:t>
            </a:r>
            <a:endParaRPr/>
          </a:p>
          <a:p>
            <a:pPr indent="0" lvl="0" marL="0" rtl="0" algn="l">
              <a:spcBef>
                <a:spcPts val="0"/>
              </a:spcBef>
              <a:spcAft>
                <a:spcPts val="0"/>
              </a:spcAft>
              <a:buNone/>
            </a:pPr>
            <a:r>
              <a:rPr lang="en"/>
              <a:t>Giguere, C., Moore, C., &amp; Whitehead, J. C. (2020). Valuing hemlock woolly adelgid control in public forests: Scope effects with attribute nonattendance. Land economics, 96(1), 25-42. </a:t>
            </a:r>
            <a:r>
              <a:rPr lang="en" u="sng">
                <a:solidFill>
                  <a:schemeClr val="hlink"/>
                </a:solidFill>
                <a:hlinkClick r:id="rId3"/>
              </a:rPr>
              <a:t>https://le.uwpress.org/content/96/1/25.abstract</a:t>
            </a:r>
            <a:r>
              <a:rPr lang="en"/>
              <a:t> </a:t>
            </a:r>
            <a:endParaRPr/>
          </a:p>
        </p:txBody>
      </p:sp>
      <p:sp>
        <p:nvSpPr>
          <p:cNvPr id="313" name="Google Shape;313;g3ce3c4a0253_0_236: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da1ce8cf6_0_164: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324" name="Google Shape;324;g3cda1ce8cf6_0_164: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325" name="Google Shape;325;g3cda1ce8cf6_0_164: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ce4e25d9c8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ce4e25d9c8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e073bfd6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ce073bfd6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ce073bfd6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ce073bfd6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ce073bfd6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ce073bfd6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cda1ce8cf6_0_178: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373" name="Google Shape;373;g3cda1ce8cf6_0_178: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374" name="Google Shape;374;g3cda1ce8cf6_0_178: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cda1ce8cf6_0_185: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382" name="Google Shape;382;g3cda1ce8cf6_0_185: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383" name="Google Shape;383;g3cda1ce8cf6_0_185: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e4e25d9c8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ce4e25d9c8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ce4e25d9c8_0_2: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04" name="Google Shape;404;g3ce4e25d9c8_0_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05" name="Google Shape;405;g3ce4e25d9c8_0_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cda1ce8cf6_0_197: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12" name="Google Shape;412;g3cda1ce8cf6_0_197: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13" name="Google Shape;413;g3cda1ce8cf6_0_197: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ce073bfd64_2_6: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20" name="Google Shape;420;g3ce073bfd64_2_6: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21" name="Google Shape;421;g3ce073bfd64_2_6: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cda1ce8cf6_0_258: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32" name="Google Shape;432;g3cda1ce8cf6_0_258: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33" name="Google Shape;433;g3cda1ce8cf6_0_258: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ce4e25d9c8_5_0: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40" name="Google Shape;440;g3ce4e25d9c8_5_0: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41" name="Google Shape;441;g3ce4e25d9c8_5_0: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95e30809b8_0_37: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70" name="Google Shape;470;g395e30809b8_0_37: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71" name="Google Shape;471;g395e30809b8_0_37: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cda1ce8cf6_0_278: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90" name="Google Shape;490;g3cda1ce8cf6_0_278: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91" name="Google Shape;491;g3cda1ce8cf6_0_278: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e3c4a0253_0_253: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96" name="Google Shape;496;g3ce3c4a0253_0_253: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497" name="Google Shape;497;g3ce3c4a0253_0_253: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2" name="Google Shape;52;p13"/>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53" name="Shape 53"/>
        <p:cNvGrpSpPr/>
        <p:nvPr/>
      </p:nvGrpSpPr>
      <p:grpSpPr>
        <a:xfrm>
          <a:off x="0" y="0"/>
          <a:ext cx="0" cy="0"/>
          <a:chOff x="0" y="0"/>
          <a:chExt cx="0" cy="0"/>
        </a:xfrm>
      </p:grpSpPr>
      <p:sp>
        <p:nvSpPr>
          <p:cNvPr id="54" name="Google Shape;54;p14"/>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5" name="Google Shape;55;p14"/>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56" name="Shape 56"/>
        <p:cNvGrpSpPr/>
        <p:nvPr/>
      </p:nvGrpSpPr>
      <p:grpSpPr>
        <a:xfrm>
          <a:off x="0" y="0"/>
          <a:ext cx="0" cy="0"/>
          <a:chOff x="0" y="0"/>
          <a:chExt cx="0" cy="0"/>
        </a:xfrm>
      </p:grpSpPr>
      <p:sp>
        <p:nvSpPr>
          <p:cNvPr id="57" name="Google Shape;57;p15"/>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8" name="Google Shape;58;p15"/>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59" name="Shape 59"/>
        <p:cNvGrpSpPr/>
        <p:nvPr/>
      </p:nvGrpSpPr>
      <p:grpSpPr>
        <a:xfrm>
          <a:off x="0" y="0"/>
          <a:ext cx="0" cy="0"/>
          <a:chOff x="0" y="0"/>
          <a:chExt cx="0" cy="0"/>
        </a:xfrm>
      </p:grpSpPr>
      <p:sp>
        <p:nvSpPr>
          <p:cNvPr id="60" name="Google Shape;60;p16"/>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61" name="Google Shape;61;p16"/>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62" name="Shape 62"/>
        <p:cNvGrpSpPr/>
        <p:nvPr/>
      </p:nvGrpSpPr>
      <p:grpSpPr>
        <a:xfrm>
          <a:off x="0" y="0"/>
          <a:ext cx="0" cy="0"/>
          <a:chOff x="0" y="0"/>
          <a:chExt cx="0" cy="0"/>
        </a:xfrm>
      </p:grpSpPr>
      <p:sp>
        <p:nvSpPr>
          <p:cNvPr id="63" name="Google Shape;63;p17"/>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64" name="Google Shape;64;p17"/>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65" name="Shape 65"/>
        <p:cNvGrpSpPr/>
        <p:nvPr/>
      </p:nvGrpSpPr>
      <p:grpSpPr>
        <a:xfrm>
          <a:off x="0" y="0"/>
          <a:ext cx="0" cy="0"/>
          <a:chOff x="0" y="0"/>
          <a:chExt cx="0" cy="0"/>
        </a:xfrm>
      </p:grpSpPr>
      <p:sp>
        <p:nvSpPr>
          <p:cNvPr id="66" name="Google Shape;66;p18"/>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67" name="Google Shape;67;p18"/>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68" name="Shape 68"/>
        <p:cNvGrpSpPr/>
        <p:nvPr/>
      </p:nvGrpSpPr>
      <p:grpSpPr>
        <a:xfrm>
          <a:off x="0" y="0"/>
          <a:ext cx="0" cy="0"/>
          <a:chOff x="0" y="0"/>
          <a:chExt cx="0" cy="0"/>
        </a:xfrm>
      </p:grpSpPr>
      <p:sp>
        <p:nvSpPr>
          <p:cNvPr id="69" name="Google Shape;69;p19"/>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0" name="Google Shape;70;p19"/>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71" name="Shape 71"/>
        <p:cNvGrpSpPr/>
        <p:nvPr/>
      </p:nvGrpSpPr>
      <p:grpSpPr>
        <a:xfrm>
          <a:off x="0" y="0"/>
          <a:ext cx="0" cy="0"/>
          <a:chOff x="0" y="0"/>
          <a:chExt cx="0" cy="0"/>
        </a:xfrm>
      </p:grpSpPr>
      <p:sp>
        <p:nvSpPr>
          <p:cNvPr id="72" name="Google Shape;72;p20"/>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3" name="Google Shape;73;p20"/>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74" name="Shape 74"/>
        <p:cNvGrpSpPr/>
        <p:nvPr/>
      </p:nvGrpSpPr>
      <p:grpSpPr>
        <a:xfrm>
          <a:off x="0" y="0"/>
          <a:ext cx="0" cy="0"/>
          <a:chOff x="0" y="0"/>
          <a:chExt cx="0" cy="0"/>
        </a:xfrm>
      </p:grpSpPr>
      <p:sp>
        <p:nvSpPr>
          <p:cNvPr id="75" name="Google Shape;75;p21"/>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6" name="Google Shape;76;p21"/>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77" name="Shape 77"/>
        <p:cNvGrpSpPr/>
        <p:nvPr/>
      </p:nvGrpSpPr>
      <p:grpSpPr>
        <a:xfrm>
          <a:off x="0" y="0"/>
          <a:ext cx="0" cy="0"/>
          <a:chOff x="0" y="0"/>
          <a:chExt cx="0" cy="0"/>
        </a:xfrm>
      </p:grpSpPr>
      <p:sp>
        <p:nvSpPr>
          <p:cNvPr id="78" name="Google Shape;78;p22"/>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9" name="Google Shape;79;p22"/>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bg>
      <p:bgPr>
        <a:solidFill>
          <a:srgbClr val="000000"/>
        </a:solidFill>
      </p:bgPr>
    </p:bg>
    <p:spTree>
      <p:nvGrpSpPr>
        <p:cNvPr id="80" name="Shape 80"/>
        <p:cNvGrpSpPr/>
        <p:nvPr/>
      </p:nvGrpSpPr>
      <p:grpSpPr>
        <a:xfrm>
          <a:off x="0" y="0"/>
          <a:ext cx="0" cy="0"/>
          <a:chOff x="0" y="0"/>
          <a:chExt cx="0" cy="0"/>
        </a:xfrm>
      </p:grpSpPr>
      <p:sp>
        <p:nvSpPr>
          <p:cNvPr id="81" name="Google Shape;81;p23"/>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82" name="Google Shape;82;p23"/>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bg>
      <p:bgPr>
        <a:solidFill>
          <a:srgbClr val="000000"/>
        </a:solidFill>
      </p:bgPr>
    </p:bg>
    <p:spTree>
      <p:nvGrpSpPr>
        <p:cNvPr id="83" name="Shape 83"/>
        <p:cNvGrpSpPr/>
        <p:nvPr/>
      </p:nvGrpSpPr>
      <p:grpSpPr>
        <a:xfrm>
          <a:off x="0" y="0"/>
          <a:ext cx="0" cy="0"/>
          <a:chOff x="0" y="0"/>
          <a:chExt cx="0" cy="0"/>
        </a:xfrm>
      </p:grpSpPr>
      <p:sp>
        <p:nvSpPr>
          <p:cNvPr id="84" name="Google Shape;84;p24"/>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85" name="Google Shape;85;p24"/>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bg>
      <p:bgPr>
        <a:solidFill>
          <a:srgbClr val="000000"/>
        </a:solidFill>
      </p:bgPr>
    </p:bg>
    <p:spTree>
      <p:nvGrpSpPr>
        <p:cNvPr id="86" name="Shape 86"/>
        <p:cNvGrpSpPr/>
        <p:nvPr/>
      </p:nvGrpSpPr>
      <p:grpSpPr>
        <a:xfrm>
          <a:off x="0" y="0"/>
          <a:ext cx="0" cy="0"/>
          <a:chOff x="0" y="0"/>
          <a:chExt cx="0" cy="0"/>
        </a:xfrm>
      </p:grpSpPr>
      <p:sp>
        <p:nvSpPr>
          <p:cNvPr id="87" name="Google Shape;87;p25"/>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88" name="Google Shape;88;p25"/>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89" name="Shape 89"/>
        <p:cNvGrpSpPr/>
        <p:nvPr/>
      </p:nvGrpSpPr>
      <p:grpSpPr>
        <a:xfrm>
          <a:off x="0" y="0"/>
          <a:ext cx="0" cy="0"/>
          <a:chOff x="0" y="0"/>
          <a:chExt cx="0" cy="0"/>
        </a:xfrm>
      </p:grpSpPr>
      <p:sp>
        <p:nvSpPr>
          <p:cNvPr id="90" name="Google Shape;90;p26"/>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1" name="Google Shape;91;p26"/>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92" name="Shape 92"/>
        <p:cNvGrpSpPr/>
        <p:nvPr/>
      </p:nvGrpSpPr>
      <p:grpSpPr>
        <a:xfrm>
          <a:off x="0" y="0"/>
          <a:ext cx="0" cy="0"/>
          <a:chOff x="0" y="0"/>
          <a:chExt cx="0" cy="0"/>
        </a:xfrm>
      </p:grpSpPr>
      <p:sp>
        <p:nvSpPr>
          <p:cNvPr id="93" name="Google Shape;93;p27"/>
          <p:cNvSpPr/>
          <p:nvPr/>
        </p:nvSpPr>
        <p:spPr>
          <a:xfrm>
            <a:off x="0" y="0"/>
            <a:ext cx="9144000" cy="5143500"/>
          </a:xfrm>
          <a:prstGeom prst="rect">
            <a:avLst/>
          </a:prstGeom>
          <a:solidFill>
            <a:srgbClr val="E6E2DB"/>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4" name="Google Shape;94;p27"/>
          <p:cNvSpPr/>
          <p:nvPr/>
        </p:nvSpPr>
        <p:spPr>
          <a:xfrm>
            <a:off x="0" y="0"/>
            <a:ext cx="9144000" cy="5143500"/>
          </a:xfrm>
          <a:prstGeom prst="rect">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6.gif"/><Relationship Id="rId4" Type="http://schemas.openxmlformats.org/officeDocument/2006/relationships/hyperlink" Target="https://github.com/alethicresearch/alethic-is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6.gif"/><Relationship Id="rId4" Type="http://schemas.openxmlformats.org/officeDocument/2006/relationships/hyperlink" Target="https://github.com/alethicresearch/alethic-ism" TargetMode="External"/><Relationship Id="rId5" Type="http://schemas.openxmlformats.org/officeDocument/2006/relationships/hyperlink" Target="https://github.com/alethicresearch/alethic-ism" TargetMode="External"/><Relationship Id="rId6"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8"/>
          <p:cNvSpPr/>
          <p:nvPr/>
        </p:nvSpPr>
        <p:spPr>
          <a:xfrm>
            <a:off x="496119" y="628501"/>
            <a:ext cx="6906900" cy="4431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61613"/>
              </a:buClr>
              <a:buSzPts val="2800"/>
              <a:buFont typeface="DM Sans"/>
              <a:buNone/>
            </a:pPr>
            <a:r>
              <a:rPr lang="en" sz="2800">
                <a:solidFill>
                  <a:srgbClr val="161613"/>
                </a:solidFill>
                <a:latin typeface="DM Sans"/>
                <a:ea typeface="DM Sans"/>
                <a:cs typeface="DM Sans"/>
                <a:sym typeface="DM Sans"/>
              </a:rPr>
              <a:t>Estimating</a:t>
            </a:r>
            <a:r>
              <a:rPr b="0" i="0" lang="en" sz="2800" u="none" cap="none" strike="noStrike">
                <a:solidFill>
                  <a:srgbClr val="161613"/>
                </a:solidFill>
                <a:latin typeface="DM Sans"/>
                <a:ea typeface="DM Sans"/>
                <a:cs typeface="DM Sans"/>
                <a:sym typeface="DM Sans"/>
              </a:rPr>
              <a:t> Willingness-to-Pay </a:t>
            </a:r>
            <a:r>
              <a:rPr lang="en" sz="2800">
                <a:solidFill>
                  <a:srgbClr val="161613"/>
                </a:solidFill>
                <a:latin typeface="DM Sans"/>
                <a:ea typeface="DM Sans"/>
                <a:cs typeface="DM Sans"/>
                <a:sym typeface="DM Sans"/>
              </a:rPr>
              <a:t>w</a:t>
            </a:r>
            <a:r>
              <a:rPr b="0" i="0" lang="en" sz="2800" u="none" cap="none" strike="noStrike">
                <a:solidFill>
                  <a:srgbClr val="161613"/>
                </a:solidFill>
                <a:latin typeface="DM Sans"/>
                <a:ea typeface="DM Sans"/>
                <a:cs typeface="DM Sans"/>
                <a:sym typeface="DM Sans"/>
              </a:rPr>
              <a:t>ith LLMs</a:t>
            </a:r>
            <a:endParaRPr b="0" i="0" sz="2800" u="none" cap="none" strike="noStrike"/>
          </a:p>
        </p:txBody>
      </p:sp>
      <p:sp>
        <p:nvSpPr>
          <p:cNvPr id="101" name="Google Shape;101;p28"/>
          <p:cNvSpPr/>
          <p:nvPr/>
        </p:nvSpPr>
        <p:spPr>
          <a:xfrm>
            <a:off x="496119" y="1226860"/>
            <a:ext cx="8151900" cy="2268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b="0" i="1" lang="en" sz="1300" u="none" cap="none" strike="noStrike">
                <a:solidFill>
                  <a:srgbClr val="161613"/>
                </a:solidFill>
                <a:latin typeface="Inter"/>
                <a:ea typeface="Inter"/>
                <a:cs typeface="Inter"/>
                <a:sym typeface="Inter"/>
              </a:rPr>
              <a:t>Bridging the Data Availability Gap with Synthetic Contingent Valuation</a:t>
            </a:r>
            <a:endParaRPr b="0" i="1" sz="1300" u="none" cap="none" strike="noStrike"/>
          </a:p>
        </p:txBody>
      </p:sp>
      <p:sp>
        <p:nvSpPr>
          <p:cNvPr id="102" name="Google Shape;102;p28"/>
          <p:cNvSpPr/>
          <p:nvPr/>
        </p:nvSpPr>
        <p:spPr>
          <a:xfrm>
            <a:off x="506621" y="1994125"/>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sz="1338"/>
          </a:p>
        </p:txBody>
      </p:sp>
      <p:sp>
        <p:nvSpPr>
          <p:cNvPr id="103" name="Google Shape;103;p28"/>
          <p:cNvSpPr/>
          <p:nvPr/>
        </p:nvSpPr>
        <p:spPr>
          <a:xfrm>
            <a:off x="496125" y="2098290"/>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Trevor Woolley</a:t>
            </a:r>
            <a:endParaRPr b="0" i="0" sz="1338" u="none" cap="none" strike="noStrike"/>
          </a:p>
        </p:txBody>
      </p:sp>
      <p:sp>
        <p:nvSpPr>
          <p:cNvPr id="104" name="Google Shape;104;p28"/>
          <p:cNvSpPr/>
          <p:nvPr/>
        </p:nvSpPr>
        <p:spPr>
          <a:xfrm>
            <a:off x="496125" y="2391364"/>
            <a:ext cx="25080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b="0" i="0" lang="en" sz="1051" u="none" cap="none" strike="noStrike">
                <a:solidFill>
                  <a:srgbClr val="161613"/>
                </a:solidFill>
                <a:latin typeface="Inter"/>
                <a:ea typeface="Inter"/>
                <a:cs typeface="Inter"/>
                <a:sym typeface="Inter"/>
              </a:rPr>
              <a:t>U</a:t>
            </a:r>
            <a:r>
              <a:rPr lang="en" sz="1051">
                <a:solidFill>
                  <a:srgbClr val="161613"/>
                </a:solidFill>
                <a:latin typeface="Inter"/>
                <a:ea typeface="Inter"/>
                <a:cs typeface="Inter"/>
                <a:sym typeface="Inter"/>
              </a:rPr>
              <a:t>niversity of California,</a:t>
            </a:r>
            <a:r>
              <a:rPr b="0" i="0" lang="en" sz="1051" u="none" cap="none" strike="noStrike">
                <a:solidFill>
                  <a:srgbClr val="161613"/>
                </a:solidFill>
                <a:latin typeface="Inter"/>
                <a:ea typeface="Inter"/>
                <a:cs typeface="Inter"/>
                <a:sym typeface="Inter"/>
              </a:rPr>
              <a:t> Berkeley</a:t>
            </a:r>
            <a:endParaRPr b="0" i="0" sz="1051" u="none" cap="none" strike="noStrike"/>
          </a:p>
        </p:txBody>
      </p:sp>
      <p:sp>
        <p:nvSpPr>
          <p:cNvPr id="105" name="Google Shape;105;p28"/>
          <p:cNvSpPr/>
          <p:nvPr/>
        </p:nvSpPr>
        <p:spPr>
          <a:xfrm>
            <a:off x="3139398" y="1994125"/>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a:p>
        </p:txBody>
      </p:sp>
      <p:sp>
        <p:nvSpPr>
          <p:cNvPr id="106" name="Google Shape;106;p28"/>
          <p:cNvSpPr/>
          <p:nvPr/>
        </p:nvSpPr>
        <p:spPr>
          <a:xfrm>
            <a:off x="3139398" y="2098290"/>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Sankalpa Ghose</a:t>
            </a:r>
            <a:endParaRPr b="0" i="0" sz="1338" u="none" cap="none" strike="noStrike"/>
          </a:p>
        </p:txBody>
      </p:sp>
      <p:sp>
        <p:nvSpPr>
          <p:cNvPr id="107" name="Google Shape;107;p28"/>
          <p:cNvSpPr/>
          <p:nvPr/>
        </p:nvSpPr>
        <p:spPr>
          <a:xfrm>
            <a:off x="3139398" y="2391364"/>
            <a:ext cx="25080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b="0" i="0" lang="en" sz="1051" u="none" cap="none" strike="noStrike">
                <a:solidFill>
                  <a:srgbClr val="161613"/>
                </a:solidFill>
                <a:latin typeface="Inter"/>
                <a:ea typeface="Inter"/>
                <a:cs typeface="Inter"/>
                <a:sym typeface="Inter"/>
              </a:rPr>
              <a:t>National University of Singapore</a:t>
            </a:r>
            <a:endParaRPr b="0" i="0" sz="1051" u="none" cap="none" strike="noStrike"/>
          </a:p>
        </p:txBody>
      </p:sp>
      <p:sp>
        <p:nvSpPr>
          <p:cNvPr id="108" name="Google Shape;108;p28"/>
          <p:cNvSpPr/>
          <p:nvPr/>
        </p:nvSpPr>
        <p:spPr>
          <a:xfrm>
            <a:off x="5782670" y="1994125"/>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a:p>
        </p:txBody>
      </p:sp>
      <p:sp>
        <p:nvSpPr>
          <p:cNvPr id="109" name="Google Shape;109;p28"/>
          <p:cNvSpPr/>
          <p:nvPr/>
        </p:nvSpPr>
        <p:spPr>
          <a:xfrm>
            <a:off x="5782670" y="2098290"/>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Alina Khindrova</a:t>
            </a:r>
            <a:endParaRPr b="0" i="0" sz="1338" u="none" cap="none" strike="noStrike"/>
          </a:p>
        </p:txBody>
      </p:sp>
      <p:sp>
        <p:nvSpPr>
          <p:cNvPr id="110" name="Google Shape;110;p28"/>
          <p:cNvSpPr/>
          <p:nvPr/>
        </p:nvSpPr>
        <p:spPr>
          <a:xfrm>
            <a:off x="5782670" y="2391364"/>
            <a:ext cx="25080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b="0" i="0" lang="en" sz="1051" u="none" cap="none" strike="noStrike">
                <a:solidFill>
                  <a:srgbClr val="161613"/>
                </a:solidFill>
                <a:latin typeface="Inter"/>
                <a:ea typeface="Inter"/>
                <a:cs typeface="Inter"/>
                <a:sym typeface="Inter"/>
              </a:rPr>
              <a:t>University of </a:t>
            </a:r>
            <a:r>
              <a:rPr lang="en" sz="1051">
                <a:solidFill>
                  <a:srgbClr val="161613"/>
                </a:solidFill>
                <a:latin typeface="Inter"/>
                <a:ea typeface="Inter"/>
                <a:cs typeface="Inter"/>
                <a:sym typeface="Inter"/>
              </a:rPr>
              <a:t>Texas at San Antonio</a:t>
            </a:r>
            <a:endParaRPr b="0" i="0" sz="1051" u="none" cap="none" strike="noStrike"/>
          </a:p>
        </p:txBody>
      </p:sp>
      <p:sp>
        <p:nvSpPr>
          <p:cNvPr id="111" name="Google Shape;111;p28"/>
          <p:cNvSpPr/>
          <p:nvPr/>
        </p:nvSpPr>
        <p:spPr>
          <a:xfrm>
            <a:off x="496125" y="3005508"/>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Kasra Rasaee</a:t>
            </a:r>
            <a:endParaRPr b="0" i="0" sz="1338" u="none" cap="none" strike="noStrike"/>
          </a:p>
        </p:txBody>
      </p:sp>
      <p:sp>
        <p:nvSpPr>
          <p:cNvPr id="112" name="Google Shape;112;p28"/>
          <p:cNvSpPr/>
          <p:nvPr/>
        </p:nvSpPr>
        <p:spPr>
          <a:xfrm>
            <a:off x="496126" y="3298569"/>
            <a:ext cx="25080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lang="en" sz="1051">
                <a:solidFill>
                  <a:srgbClr val="161613"/>
                </a:solidFill>
                <a:latin typeface="Inter"/>
                <a:ea typeface="Inter"/>
                <a:cs typeface="Inter"/>
                <a:sym typeface="Inter"/>
              </a:rPr>
              <a:t>Bloomberg</a:t>
            </a:r>
            <a:endParaRPr b="0" i="0" sz="1051" u="none" cap="none" strike="noStrike"/>
          </a:p>
        </p:txBody>
      </p:sp>
      <p:sp>
        <p:nvSpPr>
          <p:cNvPr id="113" name="Google Shape;113;p28"/>
          <p:cNvSpPr/>
          <p:nvPr/>
        </p:nvSpPr>
        <p:spPr>
          <a:xfrm>
            <a:off x="3143463" y="3005508"/>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Bob Fischer</a:t>
            </a:r>
            <a:endParaRPr b="0" i="0" sz="1338" u="none" cap="none" strike="noStrike"/>
          </a:p>
        </p:txBody>
      </p:sp>
      <p:sp>
        <p:nvSpPr>
          <p:cNvPr id="114" name="Google Shape;114;p28"/>
          <p:cNvSpPr/>
          <p:nvPr/>
        </p:nvSpPr>
        <p:spPr>
          <a:xfrm>
            <a:off x="3143463" y="3298581"/>
            <a:ext cx="38295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b="0" i="0" lang="en" sz="1051" u="none" cap="none" strike="noStrike">
                <a:solidFill>
                  <a:srgbClr val="161613"/>
                </a:solidFill>
                <a:latin typeface="Inter"/>
                <a:ea typeface="Inter"/>
                <a:cs typeface="Inter"/>
                <a:sym typeface="Inter"/>
              </a:rPr>
              <a:t>Texas State University</a:t>
            </a:r>
            <a:endParaRPr b="0" i="0" sz="1051" u="none" cap="none" strike="noStrike"/>
          </a:p>
        </p:txBody>
      </p:sp>
      <p:sp>
        <p:nvSpPr>
          <p:cNvPr id="115" name="Google Shape;115;p28"/>
          <p:cNvSpPr/>
          <p:nvPr/>
        </p:nvSpPr>
        <p:spPr>
          <a:xfrm>
            <a:off x="496119" y="4179053"/>
            <a:ext cx="8151900" cy="2268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161613"/>
              </a:buClr>
              <a:buSzPts val="1100"/>
              <a:buFont typeface="Inter"/>
              <a:buNone/>
            </a:pPr>
            <a:r>
              <a:rPr b="0" i="1" lang="en" sz="1200" u="none" cap="none" strike="noStrike">
                <a:solidFill>
                  <a:srgbClr val="161613"/>
                </a:solidFill>
                <a:latin typeface="Inter"/>
                <a:ea typeface="Inter"/>
                <a:cs typeface="Inter"/>
                <a:sym typeface="Inter"/>
              </a:rPr>
              <a:t>Society for Benefit-Cost Analysis Conference</a:t>
            </a:r>
            <a:br>
              <a:rPr i="1" lang="en" sz="1200">
                <a:solidFill>
                  <a:srgbClr val="161613"/>
                </a:solidFill>
                <a:latin typeface="Inter"/>
                <a:ea typeface="Inter"/>
                <a:cs typeface="Inter"/>
                <a:sym typeface="Inter"/>
              </a:rPr>
            </a:br>
            <a:r>
              <a:rPr b="0" i="1" lang="en" sz="1200" u="none" cap="none" strike="noStrike">
                <a:solidFill>
                  <a:srgbClr val="161613"/>
                </a:solidFill>
                <a:latin typeface="Inter"/>
                <a:ea typeface="Inter"/>
                <a:cs typeface="Inter"/>
                <a:sym typeface="Inter"/>
              </a:rPr>
              <a:t>March 12, 2026</a:t>
            </a:r>
            <a:endParaRPr b="0" i="1" sz="1200" u="none" cap="none" strike="noStrike"/>
          </a:p>
        </p:txBody>
      </p:sp>
      <p:sp>
        <p:nvSpPr>
          <p:cNvPr id="116" name="Google Shape;116;p28"/>
          <p:cNvSpPr/>
          <p:nvPr/>
        </p:nvSpPr>
        <p:spPr>
          <a:xfrm>
            <a:off x="496138" y="2905686"/>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sz="1338"/>
          </a:p>
        </p:txBody>
      </p:sp>
      <p:sp>
        <p:nvSpPr>
          <p:cNvPr id="117" name="Google Shape;117;p28"/>
          <p:cNvSpPr/>
          <p:nvPr/>
        </p:nvSpPr>
        <p:spPr>
          <a:xfrm>
            <a:off x="3143466" y="2905686"/>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sz="1338"/>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9"/>
          <p:cNvSpPr/>
          <p:nvPr/>
        </p:nvSpPr>
        <p:spPr>
          <a:xfrm>
            <a:off x="648525" y="587300"/>
            <a:ext cx="7830900" cy="3477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161613"/>
              </a:buClr>
              <a:buSzPts val="900"/>
              <a:buFont typeface="Inter"/>
              <a:buNone/>
            </a:pPr>
            <a:r>
              <a:rPr b="0" i="0" lang="en" sz="1300" u="none" cap="none" strike="noStrike">
                <a:solidFill>
                  <a:srgbClr val="161613"/>
                </a:solidFill>
                <a:latin typeface="Inter"/>
                <a:ea typeface="Inter"/>
                <a:cs typeface="Inter"/>
                <a:sym typeface="Inter"/>
              </a:rPr>
              <a:t>Benefit-cost analys</a:t>
            </a:r>
            <a:r>
              <a:rPr lang="en" sz="1300">
                <a:solidFill>
                  <a:srgbClr val="161613"/>
                </a:solidFill>
                <a:latin typeface="Inter"/>
                <a:ea typeface="Inter"/>
                <a:cs typeface="Inter"/>
                <a:sym typeface="Inter"/>
              </a:rPr>
              <a:t>e</a:t>
            </a:r>
            <a:r>
              <a:rPr b="0" i="0" lang="en" sz="1300" u="none" cap="none" strike="noStrike">
                <a:solidFill>
                  <a:srgbClr val="161613"/>
                </a:solidFill>
                <a:latin typeface="Inter"/>
                <a:ea typeface="Inter"/>
                <a:cs typeface="Inter"/>
                <a:sym typeface="Inter"/>
              </a:rPr>
              <a:t>s </a:t>
            </a:r>
            <a:r>
              <a:rPr lang="en" sz="1300">
                <a:solidFill>
                  <a:srgbClr val="161613"/>
                </a:solidFill>
                <a:latin typeface="Inter"/>
                <a:ea typeface="Inter"/>
                <a:cs typeface="Inter"/>
                <a:sym typeface="Inter"/>
              </a:rPr>
              <a:t>shouldn</a:t>
            </a:r>
            <a:r>
              <a:rPr lang="en" sz="1300">
                <a:solidFill>
                  <a:srgbClr val="161613"/>
                </a:solidFill>
                <a:latin typeface="Inter"/>
                <a:ea typeface="Inter"/>
                <a:cs typeface="Inter"/>
                <a:sym typeface="Inter"/>
              </a:rPr>
              <a:t>’</a:t>
            </a:r>
            <a:r>
              <a:rPr lang="en" sz="1300">
                <a:solidFill>
                  <a:srgbClr val="161613"/>
                </a:solidFill>
                <a:latin typeface="Inter"/>
                <a:ea typeface="Inter"/>
                <a:cs typeface="Inter"/>
                <a:sym typeface="Inter"/>
              </a:rPr>
              <a:t>t neglect non-market goods.</a:t>
            </a:r>
            <a:endParaRPr b="0" i="0" sz="1300" u="none" cap="none" strike="noStrike"/>
          </a:p>
        </p:txBody>
      </p:sp>
      <p:sp>
        <p:nvSpPr>
          <p:cNvPr id="124" name="Google Shape;124;p29"/>
          <p:cNvSpPr/>
          <p:nvPr/>
        </p:nvSpPr>
        <p:spPr>
          <a:xfrm>
            <a:off x="4091800" y="1292600"/>
            <a:ext cx="4047300" cy="34113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161613"/>
              </a:buClr>
              <a:buSzPts val="1150"/>
              <a:buFont typeface="Inter"/>
              <a:buNone/>
            </a:pPr>
            <a:r>
              <a:rPr lang="en" sz="1050">
                <a:solidFill>
                  <a:srgbClr val="161613"/>
                </a:solidFill>
                <a:latin typeface="Inter"/>
                <a:ea typeface="Inter"/>
                <a:cs typeface="Inter"/>
                <a:sym typeface="Inter"/>
              </a:rPr>
              <a:t>“</a:t>
            </a:r>
            <a:r>
              <a:rPr b="1" lang="en" sz="1050">
                <a:solidFill>
                  <a:srgbClr val="161613"/>
                </a:solidFill>
                <a:latin typeface="Inter"/>
                <a:ea typeface="Inter"/>
                <a:cs typeface="Inter"/>
                <a:sym typeface="Inter"/>
              </a:rPr>
              <a:t>When important benefits and costs cannot be expressed in monetary units, BCA is less useful, and it can even be misleading, because the calculation of net benefits in such cases does not provide a full evaluation of all relevant benefits and costs.</a:t>
            </a:r>
            <a:endParaRPr b="1" sz="1050">
              <a:solidFill>
                <a:srgbClr val="161613"/>
              </a:solidFill>
              <a:latin typeface="Inter"/>
              <a:ea typeface="Inter"/>
              <a:cs typeface="Inter"/>
              <a:sym typeface="Inter"/>
            </a:endParaRPr>
          </a:p>
          <a:p>
            <a:pPr indent="457200" lvl="0" marL="0" marR="0" rtl="0" algn="l">
              <a:lnSpc>
                <a:spcPct val="130434"/>
              </a:lnSpc>
              <a:spcBef>
                <a:spcPts val="0"/>
              </a:spcBef>
              <a:spcAft>
                <a:spcPts val="0"/>
              </a:spcAft>
              <a:buClr>
                <a:srgbClr val="161613"/>
              </a:buClr>
              <a:buSzPts val="1150"/>
              <a:buFont typeface="Inter"/>
              <a:buNone/>
            </a:pPr>
            <a:r>
              <a:rPr lang="en" sz="1050">
                <a:solidFill>
                  <a:srgbClr val="161613"/>
                </a:solidFill>
                <a:latin typeface="Inter"/>
                <a:ea typeface="Inter"/>
                <a:cs typeface="Inter"/>
                <a:sym typeface="Inter"/>
              </a:rPr>
              <a:t>You should exercise professional judgment in identifying the importance of non-quantified factors and assess as best you can how they might change the ranking of alternatives based on estimated net benefits. If the non-quantified benefits and costs are likely to be important, you should recommend which of the non-quantified factors are of sufficient importance to justify consideration in the regulatory decision… In this case, you should also consider conducting a threshold analysis to help decision makers and other users of the analysis to understand the potential significance of these factors to the overall analysis.”</a:t>
            </a:r>
            <a:endParaRPr sz="1050">
              <a:solidFill>
                <a:srgbClr val="161613"/>
              </a:solidFill>
              <a:latin typeface="Inter"/>
              <a:ea typeface="Inter"/>
              <a:cs typeface="Inter"/>
              <a:sym typeface="Inter"/>
            </a:endParaRPr>
          </a:p>
        </p:txBody>
      </p:sp>
      <p:sp>
        <p:nvSpPr>
          <p:cNvPr id="125" name="Google Shape;125;p29"/>
          <p:cNvSpPr/>
          <p:nvPr/>
        </p:nvSpPr>
        <p:spPr>
          <a:xfrm>
            <a:off x="693700" y="2081975"/>
            <a:ext cx="2814900" cy="252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76"/>
              <a:buFont typeface="DM Sans"/>
              <a:buNone/>
            </a:pPr>
            <a:r>
              <a:rPr i="1" lang="en" sz="1076">
                <a:solidFill>
                  <a:srgbClr val="161613"/>
                </a:solidFill>
                <a:latin typeface="DM Sans"/>
                <a:ea typeface="DM Sans"/>
                <a:cs typeface="DM Sans"/>
                <a:sym typeface="DM Sans"/>
              </a:rPr>
              <a:t>Circular A-4 (2023), p. 10:</a:t>
            </a:r>
            <a:endParaRPr b="0" i="1" sz="1076"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0"/>
          <p:cNvSpPr/>
          <p:nvPr/>
        </p:nvSpPr>
        <p:spPr>
          <a:xfrm>
            <a:off x="648525" y="587300"/>
            <a:ext cx="7830900" cy="3477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161613"/>
              </a:buClr>
              <a:buSzPts val="900"/>
              <a:buFont typeface="Inter"/>
              <a:buNone/>
            </a:pPr>
            <a:r>
              <a:rPr lang="en" sz="1300">
                <a:solidFill>
                  <a:srgbClr val="161613"/>
                </a:solidFill>
                <a:latin typeface="Inter"/>
                <a:ea typeface="Inter"/>
                <a:cs typeface="Inter"/>
                <a:sym typeface="Inter"/>
              </a:rPr>
              <a:t>To estimate the value of non-market goods, we often need to rely on </a:t>
            </a:r>
            <a:r>
              <a:rPr lang="en" sz="1300">
                <a:solidFill>
                  <a:srgbClr val="161613"/>
                </a:solidFill>
                <a:latin typeface="Inter"/>
                <a:ea typeface="Inter"/>
                <a:cs typeface="Inter"/>
                <a:sym typeface="Inter"/>
              </a:rPr>
              <a:t>contingent</a:t>
            </a:r>
            <a:r>
              <a:rPr lang="en" sz="1300">
                <a:solidFill>
                  <a:srgbClr val="161613"/>
                </a:solidFill>
                <a:latin typeface="Inter"/>
                <a:ea typeface="Inter"/>
                <a:cs typeface="Inter"/>
                <a:sym typeface="Inter"/>
              </a:rPr>
              <a:t> valuation. </a:t>
            </a:r>
            <a:endParaRPr sz="1300">
              <a:solidFill>
                <a:srgbClr val="161613"/>
              </a:solidFill>
              <a:latin typeface="Inter"/>
              <a:ea typeface="Inter"/>
              <a:cs typeface="Inter"/>
              <a:sym typeface="Inter"/>
            </a:endParaRPr>
          </a:p>
          <a:p>
            <a:pPr indent="0" lvl="0" marL="0" marR="0" rtl="0" algn="l">
              <a:lnSpc>
                <a:spcPct val="146666"/>
              </a:lnSpc>
              <a:spcBef>
                <a:spcPts val="0"/>
              </a:spcBef>
              <a:spcAft>
                <a:spcPts val="0"/>
              </a:spcAft>
              <a:buClr>
                <a:srgbClr val="161613"/>
              </a:buClr>
              <a:buSzPts val="900"/>
              <a:buFont typeface="Inter"/>
              <a:buNone/>
            </a:pPr>
            <a:r>
              <a:t/>
            </a:r>
            <a:endParaRPr sz="1300">
              <a:solidFill>
                <a:srgbClr val="161613"/>
              </a:solidFill>
              <a:latin typeface="Inter"/>
              <a:ea typeface="Inter"/>
              <a:cs typeface="Inter"/>
              <a:sym typeface="Inter"/>
            </a:endParaRPr>
          </a:p>
          <a:p>
            <a:pPr indent="0" lvl="0" marL="0" marR="0" rtl="0" algn="l">
              <a:lnSpc>
                <a:spcPct val="146666"/>
              </a:lnSpc>
              <a:spcBef>
                <a:spcPts val="0"/>
              </a:spcBef>
              <a:spcAft>
                <a:spcPts val="0"/>
              </a:spcAft>
              <a:buClr>
                <a:srgbClr val="161613"/>
              </a:buClr>
              <a:buSzPts val="900"/>
              <a:buFont typeface="Inter"/>
              <a:buNone/>
            </a:pPr>
            <a:r>
              <a:rPr lang="en" sz="1300">
                <a:solidFill>
                  <a:srgbClr val="161613"/>
                </a:solidFill>
                <a:latin typeface="Inter"/>
                <a:ea typeface="Inter"/>
                <a:cs typeface="Inter"/>
                <a:sym typeface="Inter"/>
              </a:rPr>
              <a:t>Unfortunately, CV studies are expensive and slow enough that regulatory economists can’t run them to inform their RIAs.</a:t>
            </a:r>
            <a:endParaRPr b="0" i="0" sz="1300" u="none" cap="none" strike="noStrike"/>
          </a:p>
        </p:txBody>
      </p:sp>
      <p:sp>
        <p:nvSpPr>
          <p:cNvPr id="132" name="Google Shape;132;p30"/>
          <p:cNvSpPr/>
          <p:nvPr/>
        </p:nvSpPr>
        <p:spPr>
          <a:xfrm>
            <a:off x="693700" y="2081975"/>
            <a:ext cx="2814900" cy="252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76"/>
              <a:buFont typeface="DM Sans"/>
              <a:buNone/>
            </a:pPr>
            <a:r>
              <a:rPr lang="en" sz="976">
                <a:solidFill>
                  <a:srgbClr val="161613"/>
                </a:solidFill>
                <a:latin typeface="DM Sans"/>
                <a:ea typeface="DM Sans"/>
                <a:cs typeface="DM Sans"/>
                <a:sym typeface="DM Sans"/>
              </a:rPr>
              <a:t>CV can help us value</a:t>
            </a:r>
            <a:endParaRPr b="0" i="0" sz="976" u="none" cap="none" strike="noStrike"/>
          </a:p>
        </p:txBody>
      </p:sp>
      <p:sp>
        <p:nvSpPr>
          <p:cNvPr id="133" name="Google Shape;133;p30"/>
          <p:cNvSpPr/>
          <p:nvPr/>
        </p:nvSpPr>
        <p:spPr>
          <a:xfrm>
            <a:off x="693700" y="2464815"/>
            <a:ext cx="2423100" cy="353700"/>
          </a:xfrm>
          <a:prstGeom prst="roundRect">
            <a:avLst>
              <a:gd fmla="val 4211" name="adj"/>
            </a:avLst>
          </a:prstGeom>
          <a:solidFill>
            <a:srgbClr val="EDEBE3"/>
          </a:solidFill>
          <a:ln>
            <a:noFill/>
          </a:ln>
        </p:spPr>
        <p:txBody>
          <a:bodyPr anchorCtr="0" anchor="ctr" bIns="61550" lIns="61550" spcFirstLastPara="1" rIns="61550" wrap="square" tIns="61550">
            <a:noAutofit/>
          </a:bodyPr>
          <a:lstStyle/>
          <a:p>
            <a:pPr indent="0" lvl="0" marL="0" rtl="0" algn="l">
              <a:spcBef>
                <a:spcPts val="0"/>
              </a:spcBef>
              <a:spcAft>
                <a:spcPts val="0"/>
              </a:spcAft>
              <a:buNone/>
            </a:pPr>
            <a:r>
              <a:t/>
            </a:r>
            <a:endParaRPr/>
          </a:p>
        </p:txBody>
      </p:sp>
      <p:sp>
        <p:nvSpPr>
          <p:cNvPr id="134" name="Google Shape;134;p30"/>
          <p:cNvSpPr/>
          <p:nvPr/>
        </p:nvSpPr>
        <p:spPr>
          <a:xfrm>
            <a:off x="792957" y="2564073"/>
            <a:ext cx="1331700" cy="1551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76"/>
              <a:buFont typeface="DM Sans"/>
              <a:buNone/>
            </a:pPr>
            <a:r>
              <a:rPr b="0" i="0" lang="en" sz="976" u="none" cap="none" strike="noStrike">
                <a:solidFill>
                  <a:srgbClr val="161613"/>
                </a:solidFill>
                <a:latin typeface="DM Sans"/>
                <a:ea typeface="DM Sans"/>
                <a:cs typeface="DM Sans"/>
                <a:sym typeface="DM Sans"/>
              </a:rPr>
              <a:t>Biodiversity Protection</a:t>
            </a:r>
            <a:endParaRPr b="0" i="0" sz="976" u="none" cap="none" strike="noStrike"/>
          </a:p>
        </p:txBody>
      </p:sp>
      <p:sp>
        <p:nvSpPr>
          <p:cNvPr id="135" name="Google Shape;135;p30"/>
          <p:cNvSpPr/>
          <p:nvPr/>
        </p:nvSpPr>
        <p:spPr>
          <a:xfrm>
            <a:off x="693700" y="2882932"/>
            <a:ext cx="2423100" cy="353700"/>
          </a:xfrm>
          <a:prstGeom prst="roundRect">
            <a:avLst>
              <a:gd fmla="val 4211" name="adj"/>
            </a:avLst>
          </a:prstGeom>
          <a:solidFill>
            <a:srgbClr val="EDEBE3"/>
          </a:solidFill>
          <a:ln>
            <a:noFill/>
          </a:ln>
        </p:spPr>
        <p:txBody>
          <a:bodyPr anchorCtr="0" anchor="ctr" bIns="61550" lIns="61550" spcFirstLastPara="1" rIns="61550" wrap="square" tIns="61550">
            <a:noAutofit/>
          </a:bodyPr>
          <a:lstStyle/>
          <a:p>
            <a:pPr indent="0" lvl="0" marL="0" rtl="0" algn="l">
              <a:spcBef>
                <a:spcPts val="0"/>
              </a:spcBef>
              <a:spcAft>
                <a:spcPts val="0"/>
              </a:spcAft>
              <a:buNone/>
            </a:pPr>
            <a:r>
              <a:t/>
            </a:r>
            <a:endParaRPr/>
          </a:p>
        </p:txBody>
      </p:sp>
      <p:sp>
        <p:nvSpPr>
          <p:cNvPr id="136" name="Google Shape;136;p30"/>
          <p:cNvSpPr/>
          <p:nvPr/>
        </p:nvSpPr>
        <p:spPr>
          <a:xfrm>
            <a:off x="792957" y="2982189"/>
            <a:ext cx="1404000" cy="1551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76"/>
              <a:buFont typeface="DM Sans"/>
              <a:buNone/>
            </a:pPr>
            <a:r>
              <a:rPr lang="en" sz="976">
                <a:solidFill>
                  <a:srgbClr val="161613"/>
                </a:solidFill>
                <a:latin typeface="DM Sans"/>
                <a:ea typeface="DM Sans"/>
                <a:cs typeface="DM Sans"/>
                <a:sym typeface="DM Sans"/>
              </a:rPr>
              <a:t>Water Quality</a:t>
            </a:r>
            <a:endParaRPr b="0" i="0" sz="976" u="none" cap="none" strike="noStrike"/>
          </a:p>
        </p:txBody>
      </p:sp>
      <p:sp>
        <p:nvSpPr>
          <p:cNvPr id="137" name="Google Shape;137;p30"/>
          <p:cNvSpPr/>
          <p:nvPr/>
        </p:nvSpPr>
        <p:spPr>
          <a:xfrm>
            <a:off x="693700" y="3301048"/>
            <a:ext cx="2423100" cy="353700"/>
          </a:xfrm>
          <a:prstGeom prst="roundRect">
            <a:avLst>
              <a:gd fmla="val 4211" name="adj"/>
            </a:avLst>
          </a:prstGeom>
          <a:solidFill>
            <a:srgbClr val="EDEBE3"/>
          </a:solidFill>
          <a:ln>
            <a:noFill/>
          </a:ln>
        </p:spPr>
        <p:txBody>
          <a:bodyPr anchorCtr="0" anchor="ctr" bIns="61550" lIns="61550" spcFirstLastPara="1" rIns="61550" wrap="square" tIns="61550">
            <a:noAutofit/>
          </a:bodyPr>
          <a:lstStyle/>
          <a:p>
            <a:pPr indent="0" lvl="0" marL="0" rtl="0" algn="l">
              <a:spcBef>
                <a:spcPts val="0"/>
              </a:spcBef>
              <a:spcAft>
                <a:spcPts val="0"/>
              </a:spcAft>
              <a:buNone/>
            </a:pPr>
            <a:r>
              <a:t/>
            </a:r>
            <a:endParaRPr/>
          </a:p>
        </p:txBody>
      </p:sp>
      <p:sp>
        <p:nvSpPr>
          <p:cNvPr id="138" name="Google Shape;138;p30"/>
          <p:cNvSpPr/>
          <p:nvPr/>
        </p:nvSpPr>
        <p:spPr>
          <a:xfrm>
            <a:off x="792957" y="3400306"/>
            <a:ext cx="1241100" cy="155100"/>
          </a:xfrm>
          <a:prstGeom prst="rect">
            <a:avLst/>
          </a:prstGeom>
          <a:noFill/>
          <a:ln>
            <a:noFill/>
          </a:ln>
        </p:spPr>
        <p:txBody>
          <a:bodyPr anchorCtr="0" anchor="t" bIns="0" lIns="0" spcFirstLastPara="1" rIns="0" wrap="square" tIns="0">
            <a:noAutofit/>
          </a:bodyPr>
          <a:lstStyle/>
          <a:p>
            <a:pPr indent="0" lvl="0" marL="0" rtl="0" algn="l">
              <a:lnSpc>
                <a:spcPct val="124137"/>
              </a:lnSpc>
              <a:spcBef>
                <a:spcPts val="0"/>
              </a:spcBef>
              <a:spcAft>
                <a:spcPts val="0"/>
              </a:spcAft>
              <a:buClr>
                <a:srgbClr val="161613"/>
              </a:buClr>
              <a:buSzPts val="976"/>
              <a:buFont typeface="DM Sans"/>
              <a:buNone/>
            </a:pPr>
            <a:r>
              <a:rPr lang="en" sz="976">
                <a:solidFill>
                  <a:srgbClr val="161613"/>
                </a:solidFill>
                <a:latin typeface="DM Sans"/>
                <a:ea typeface="DM Sans"/>
                <a:cs typeface="DM Sans"/>
                <a:sym typeface="DM Sans"/>
              </a:rPr>
              <a:t>Climate Action</a:t>
            </a:r>
            <a:endParaRPr sz="976">
              <a:solidFill>
                <a:schemeClr val="dk1"/>
              </a:solidFill>
            </a:endParaRPr>
          </a:p>
        </p:txBody>
      </p:sp>
      <p:sp>
        <p:nvSpPr>
          <p:cNvPr id="139" name="Google Shape;139;p30"/>
          <p:cNvSpPr/>
          <p:nvPr/>
        </p:nvSpPr>
        <p:spPr>
          <a:xfrm>
            <a:off x="693700" y="3719165"/>
            <a:ext cx="2423100" cy="353700"/>
          </a:xfrm>
          <a:prstGeom prst="roundRect">
            <a:avLst>
              <a:gd fmla="val 4211" name="adj"/>
            </a:avLst>
          </a:prstGeom>
          <a:solidFill>
            <a:srgbClr val="EDEBE3"/>
          </a:solidFill>
          <a:ln>
            <a:noFill/>
          </a:ln>
        </p:spPr>
        <p:txBody>
          <a:bodyPr anchorCtr="0" anchor="ctr" bIns="61550" lIns="61550" spcFirstLastPara="1" rIns="61550" wrap="square" tIns="61550">
            <a:noAutofit/>
          </a:bodyPr>
          <a:lstStyle/>
          <a:p>
            <a:pPr indent="0" lvl="0" marL="0" rtl="0" algn="l">
              <a:spcBef>
                <a:spcPts val="0"/>
              </a:spcBef>
              <a:spcAft>
                <a:spcPts val="0"/>
              </a:spcAft>
              <a:buNone/>
            </a:pPr>
            <a:r>
              <a:t/>
            </a:r>
            <a:endParaRPr/>
          </a:p>
        </p:txBody>
      </p:sp>
      <p:sp>
        <p:nvSpPr>
          <p:cNvPr id="140" name="Google Shape;140;p30"/>
          <p:cNvSpPr/>
          <p:nvPr/>
        </p:nvSpPr>
        <p:spPr>
          <a:xfrm>
            <a:off x="792957" y="3818422"/>
            <a:ext cx="1241100" cy="1551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76"/>
              <a:buFont typeface="DM Sans"/>
              <a:buNone/>
            </a:pPr>
            <a:r>
              <a:rPr lang="en" sz="976"/>
              <a:t>Animal Welfare</a:t>
            </a:r>
            <a:endParaRPr b="0" i="0" sz="976" u="none" cap="none" strike="noStrike"/>
          </a:p>
        </p:txBody>
      </p:sp>
      <p:sp>
        <p:nvSpPr>
          <p:cNvPr id="141" name="Google Shape;141;p30"/>
          <p:cNvSpPr/>
          <p:nvPr/>
        </p:nvSpPr>
        <p:spPr>
          <a:xfrm>
            <a:off x="4101956" y="2026950"/>
            <a:ext cx="3720300" cy="799500"/>
          </a:xfrm>
          <a:prstGeom prst="roundRect">
            <a:avLst>
              <a:gd fmla="val 6113" name="adj"/>
            </a:avLst>
          </a:prstGeom>
          <a:solidFill>
            <a:srgbClr val="F9F8F5"/>
          </a:solidFill>
          <a:ln cap="flat" cmpd="sng" w="10175">
            <a:solidFill>
              <a:srgbClr val="D3D1C9"/>
            </a:solidFill>
            <a:prstDash val="solid"/>
            <a:round/>
            <a:headEnd len="sm" w="sm" type="none"/>
            <a:tailEnd len="sm" w="sm" type="none"/>
          </a:ln>
        </p:spPr>
        <p:txBody>
          <a:bodyPr anchorCtr="0" anchor="ctr" bIns="61075" lIns="61075" spcFirstLastPara="1" rIns="61075" wrap="square" tIns="61075">
            <a:noAutofit/>
          </a:bodyPr>
          <a:lstStyle/>
          <a:p>
            <a:pPr indent="0" lvl="0" marL="0" rtl="0" algn="l">
              <a:spcBef>
                <a:spcPts val="0"/>
              </a:spcBef>
              <a:spcAft>
                <a:spcPts val="0"/>
              </a:spcAft>
              <a:buNone/>
            </a:pPr>
            <a:r>
              <a:t/>
            </a:r>
            <a:endParaRPr/>
          </a:p>
        </p:txBody>
      </p:sp>
      <p:sp>
        <p:nvSpPr>
          <p:cNvPr id="142" name="Google Shape;142;p30"/>
          <p:cNvSpPr/>
          <p:nvPr/>
        </p:nvSpPr>
        <p:spPr>
          <a:xfrm>
            <a:off x="4091800" y="2026950"/>
            <a:ext cx="40800" cy="799500"/>
          </a:xfrm>
          <a:prstGeom prst="roundRect">
            <a:avLst>
              <a:gd fmla="val 36279" name="adj"/>
            </a:avLst>
          </a:prstGeom>
          <a:solidFill>
            <a:srgbClr val="28282F"/>
          </a:solidFill>
          <a:ln>
            <a:noFill/>
          </a:ln>
        </p:spPr>
        <p:txBody>
          <a:bodyPr anchorCtr="0" anchor="ctr" bIns="61075" lIns="61075" spcFirstLastPara="1" rIns="61075" wrap="square" tIns="61075">
            <a:noAutofit/>
          </a:bodyPr>
          <a:lstStyle/>
          <a:p>
            <a:pPr indent="0" lvl="0" marL="0" rtl="0" algn="l">
              <a:spcBef>
                <a:spcPts val="0"/>
              </a:spcBef>
              <a:spcAft>
                <a:spcPts val="0"/>
              </a:spcAft>
              <a:buNone/>
            </a:pPr>
            <a:r>
              <a:t/>
            </a:r>
            <a:endParaRPr/>
          </a:p>
        </p:txBody>
      </p:sp>
      <p:sp>
        <p:nvSpPr>
          <p:cNvPr id="143" name="Google Shape;143;p30"/>
          <p:cNvSpPr/>
          <p:nvPr/>
        </p:nvSpPr>
        <p:spPr>
          <a:xfrm>
            <a:off x="4241184" y="2135607"/>
            <a:ext cx="1231200" cy="153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69"/>
              <a:buFont typeface="DM Sans"/>
              <a:buNone/>
            </a:pPr>
            <a:r>
              <a:rPr b="1" lang="en" sz="968">
                <a:solidFill>
                  <a:srgbClr val="161613"/>
                </a:solidFill>
                <a:latin typeface="DM Sans"/>
                <a:ea typeface="DM Sans"/>
                <a:cs typeface="DM Sans"/>
                <a:sym typeface="DM Sans"/>
              </a:rPr>
              <a:t>EXPENSIVE</a:t>
            </a:r>
            <a:endParaRPr b="1" i="0" sz="968" u="none" cap="none" strike="noStrike"/>
          </a:p>
        </p:txBody>
      </p:sp>
      <p:sp>
        <p:nvSpPr>
          <p:cNvPr id="144" name="Google Shape;144;p30"/>
          <p:cNvSpPr/>
          <p:nvPr/>
        </p:nvSpPr>
        <p:spPr>
          <a:xfrm>
            <a:off x="4241185" y="2352480"/>
            <a:ext cx="3440400" cy="3900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161613"/>
              </a:buClr>
              <a:buSzPts val="768"/>
              <a:buFont typeface="Inter"/>
              <a:buNone/>
            </a:pPr>
            <a:r>
              <a:rPr lang="en" sz="880">
                <a:solidFill>
                  <a:srgbClr val="161613"/>
                </a:solidFill>
                <a:latin typeface="Inter"/>
                <a:ea typeface="Inter"/>
                <a:cs typeface="Inter"/>
                <a:sym typeface="Inter"/>
              </a:rPr>
              <a:t>Large-scale CV surveys require substantial funding for design, sampling, and analysis. </a:t>
            </a:r>
            <a:endParaRPr b="0" i="0" sz="880" u="none" cap="none" strike="noStrike"/>
          </a:p>
        </p:txBody>
      </p:sp>
      <p:sp>
        <p:nvSpPr>
          <p:cNvPr id="145" name="Google Shape;145;p30"/>
          <p:cNvSpPr/>
          <p:nvPr/>
        </p:nvSpPr>
        <p:spPr>
          <a:xfrm>
            <a:off x="4106243" y="2891822"/>
            <a:ext cx="3720300" cy="799500"/>
          </a:xfrm>
          <a:prstGeom prst="roundRect">
            <a:avLst>
              <a:gd fmla="val 6113" name="adj"/>
            </a:avLst>
          </a:prstGeom>
          <a:solidFill>
            <a:srgbClr val="F9F8F5"/>
          </a:solidFill>
          <a:ln cap="flat" cmpd="sng" w="10175">
            <a:solidFill>
              <a:srgbClr val="D3D1C9"/>
            </a:solidFill>
            <a:prstDash val="solid"/>
            <a:round/>
            <a:headEnd len="sm" w="sm" type="none"/>
            <a:tailEnd len="sm" w="sm" type="none"/>
          </a:ln>
        </p:spPr>
        <p:txBody>
          <a:bodyPr anchorCtr="0" anchor="ctr" bIns="61075" lIns="61075" spcFirstLastPara="1" rIns="61075" wrap="square" tIns="61075">
            <a:noAutofit/>
          </a:bodyPr>
          <a:lstStyle/>
          <a:p>
            <a:pPr indent="0" lvl="0" marL="0" rtl="0" algn="l">
              <a:spcBef>
                <a:spcPts val="0"/>
              </a:spcBef>
              <a:spcAft>
                <a:spcPts val="0"/>
              </a:spcAft>
              <a:buNone/>
            </a:pPr>
            <a:r>
              <a:t/>
            </a:r>
            <a:endParaRPr/>
          </a:p>
        </p:txBody>
      </p:sp>
      <p:sp>
        <p:nvSpPr>
          <p:cNvPr id="146" name="Google Shape;146;p30"/>
          <p:cNvSpPr/>
          <p:nvPr/>
        </p:nvSpPr>
        <p:spPr>
          <a:xfrm>
            <a:off x="4096087" y="2891822"/>
            <a:ext cx="40800" cy="799500"/>
          </a:xfrm>
          <a:prstGeom prst="roundRect">
            <a:avLst>
              <a:gd fmla="val 36279" name="adj"/>
            </a:avLst>
          </a:prstGeom>
          <a:solidFill>
            <a:srgbClr val="28282F"/>
          </a:solidFill>
          <a:ln>
            <a:noFill/>
          </a:ln>
        </p:spPr>
        <p:txBody>
          <a:bodyPr anchorCtr="0" anchor="ctr" bIns="61075" lIns="61075" spcFirstLastPara="1" rIns="61075" wrap="square" tIns="61075">
            <a:noAutofit/>
          </a:bodyPr>
          <a:lstStyle/>
          <a:p>
            <a:pPr indent="0" lvl="0" marL="0" rtl="0" algn="l">
              <a:spcBef>
                <a:spcPts val="0"/>
              </a:spcBef>
              <a:spcAft>
                <a:spcPts val="0"/>
              </a:spcAft>
              <a:buNone/>
            </a:pPr>
            <a:r>
              <a:t/>
            </a:r>
            <a:endParaRPr/>
          </a:p>
        </p:txBody>
      </p:sp>
      <p:sp>
        <p:nvSpPr>
          <p:cNvPr id="147" name="Google Shape;147;p30"/>
          <p:cNvSpPr/>
          <p:nvPr/>
        </p:nvSpPr>
        <p:spPr>
          <a:xfrm>
            <a:off x="4245470" y="3000479"/>
            <a:ext cx="1231200" cy="153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69"/>
              <a:buFont typeface="DM Sans"/>
              <a:buNone/>
            </a:pPr>
            <a:r>
              <a:rPr b="1" lang="en" sz="968">
                <a:solidFill>
                  <a:srgbClr val="161613"/>
                </a:solidFill>
                <a:latin typeface="DM Sans"/>
                <a:ea typeface="DM Sans"/>
                <a:cs typeface="DM Sans"/>
                <a:sym typeface="DM Sans"/>
              </a:rPr>
              <a:t>SLOW</a:t>
            </a:r>
            <a:endParaRPr b="1" i="0" sz="968" u="none" cap="none" strike="noStrike"/>
          </a:p>
        </p:txBody>
      </p:sp>
      <p:sp>
        <p:nvSpPr>
          <p:cNvPr id="148" name="Google Shape;148;p30"/>
          <p:cNvSpPr/>
          <p:nvPr/>
        </p:nvSpPr>
        <p:spPr>
          <a:xfrm>
            <a:off x="4245472" y="3217351"/>
            <a:ext cx="3440400" cy="3900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161613"/>
              </a:buClr>
              <a:buSzPts val="768"/>
              <a:buFont typeface="Inter"/>
              <a:buNone/>
            </a:pPr>
            <a:r>
              <a:rPr lang="en" sz="880">
                <a:solidFill>
                  <a:srgbClr val="161613"/>
                </a:solidFill>
                <a:latin typeface="Inter"/>
                <a:ea typeface="Inter"/>
                <a:cs typeface="Inter"/>
                <a:sym typeface="Inter"/>
              </a:rPr>
              <a:t>M</a:t>
            </a:r>
            <a:r>
              <a:rPr lang="en" sz="880">
                <a:solidFill>
                  <a:srgbClr val="161613"/>
                </a:solidFill>
                <a:latin typeface="Inter"/>
                <a:ea typeface="Inter"/>
                <a:cs typeface="Inter"/>
                <a:sym typeface="Inter"/>
              </a:rPr>
              <a:t>onths or even years before data are available.</a:t>
            </a:r>
            <a:endParaRPr b="0" i="0" sz="880" u="none" cap="none" strike="noStrike"/>
          </a:p>
        </p:txBody>
      </p:sp>
      <p:sp>
        <p:nvSpPr>
          <p:cNvPr id="149" name="Google Shape;149;p30"/>
          <p:cNvSpPr/>
          <p:nvPr/>
        </p:nvSpPr>
        <p:spPr>
          <a:xfrm>
            <a:off x="4111314" y="3756694"/>
            <a:ext cx="3720300" cy="799500"/>
          </a:xfrm>
          <a:prstGeom prst="roundRect">
            <a:avLst>
              <a:gd fmla="val 6113" name="adj"/>
            </a:avLst>
          </a:prstGeom>
          <a:solidFill>
            <a:srgbClr val="F9F8F5"/>
          </a:solidFill>
          <a:ln cap="flat" cmpd="sng" w="10175">
            <a:solidFill>
              <a:srgbClr val="D3D1C9"/>
            </a:solidFill>
            <a:prstDash val="solid"/>
            <a:round/>
            <a:headEnd len="sm" w="sm" type="none"/>
            <a:tailEnd len="sm" w="sm" type="none"/>
          </a:ln>
        </p:spPr>
        <p:txBody>
          <a:bodyPr anchorCtr="0" anchor="ctr" bIns="61075" lIns="61075" spcFirstLastPara="1" rIns="61075" wrap="square" tIns="61075">
            <a:noAutofit/>
          </a:bodyPr>
          <a:lstStyle/>
          <a:p>
            <a:pPr indent="0" lvl="0" marL="0" rtl="0" algn="l">
              <a:spcBef>
                <a:spcPts val="0"/>
              </a:spcBef>
              <a:spcAft>
                <a:spcPts val="0"/>
              </a:spcAft>
              <a:buNone/>
            </a:pPr>
            <a:r>
              <a:t/>
            </a:r>
            <a:endParaRPr/>
          </a:p>
        </p:txBody>
      </p:sp>
      <p:sp>
        <p:nvSpPr>
          <p:cNvPr id="150" name="Google Shape;150;p30"/>
          <p:cNvSpPr/>
          <p:nvPr/>
        </p:nvSpPr>
        <p:spPr>
          <a:xfrm>
            <a:off x="4101158" y="3756694"/>
            <a:ext cx="40800" cy="799500"/>
          </a:xfrm>
          <a:prstGeom prst="roundRect">
            <a:avLst>
              <a:gd fmla="val 36279" name="adj"/>
            </a:avLst>
          </a:prstGeom>
          <a:solidFill>
            <a:srgbClr val="28282F"/>
          </a:solidFill>
          <a:ln>
            <a:noFill/>
          </a:ln>
        </p:spPr>
        <p:txBody>
          <a:bodyPr anchorCtr="0" anchor="ctr" bIns="61075" lIns="61075" spcFirstLastPara="1" rIns="61075" wrap="square" tIns="61075">
            <a:noAutofit/>
          </a:bodyPr>
          <a:lstStyle/>
          <a:p>
            <a:pPr indent="0" lvl="0" marL="0" rtl="0" algn="l">
              <a:spcBef>
                <a:spcPts val="0"/>
              </a:spcBef>
              <a:spcAft>
                <a:spcPts val="0"/>
              </a:spcAft>
              <a:buNone/>
            </a:pPr>
            <a:r>
              <a:t/>
            </a:r>
            <a:endParaRPr/>
          </a:p>
        </p:txBody>
      </p:sp>
      <p:sp>
        <p:nvSpPr>
          <p:cNvPr id="151" name="Google Shape;151;p30"/>
          <p:cNvSpPr/>
          <p:nvPr/>
        </p:nvSpPr>
        <p:spPr>
          <a:xfrm>
            <a:off x="4250541" y="3865351"/>
            <a:ext cx="1231200" cy="153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69"/>
              <a:buFont typeface="DM Sans"/>
              <a:buNone/>
            </a:pPr>
            <a:r>
              <a:rPr b="1" lang="en" sz="968">
                <a:solidFill>
                  <a:srgbClr val="161613"/>
                </a:solidFill>
                <a:latin typeface="DM Sans"/>
                <a:ea typeface="DM Sans"/>
                <a:cs typeface="DM Sans"/>
                <a:sym typeface="DM Sans"/>
              </a:rPr>
              <a:t>INFLEXIBLE</a:t>
            </a:r>
            <a:endParaRPr b="1" i="0" sz="968" u="none" cap="none" strike="noStrike"/>
          </a:p>
        </p:txBody>
      </p:sp>
      <p:sp>
        <p:nvSpPr>
          <p:cNvPr id="152" name="Google Shape;152;p30"/>
          <p:cNvSpPr/>
          <p:nvPr/>
        </p:nvSpPr>
        <p:spPr>
          <a:xfrm>
            <a:off x="4250543" y="4082223"/>
            <a:ext cx="3440400" cy="3900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161613"/>
              </a:buClr>
              <a:buSzPts val="768"/>
              <a:buFont typeface="Inter"/>
              <a:buNone/>
            </a:pPr>
            <a:r>
              <a:rPr lang="en" sz="880">
                <a:solidFill>
                  <a:srgbClr val="161613"/>
                </a:solidFill>
                <a:latin typeface="Inter"/>
                <a:ea typeface="Inter"/>
                <a:cs typeface="Inter"/>
                <a:sym typeface="Inter"/>
              </a:rPr>
              <a:t>The design gets locked in quickly: it’s costly </a:t>
            </a:r>
            <a:r>
              <a:rPr lang="en" sz="880">
                <a:solidFill>
                  <a:srgbClr val="161613"/>
                </a:solidFill>
                <a:latin typeface="Inter"/>
                <a:ea typeface="Inter"/>
                <a:cs typeface="Inter"/>
                <a:sym typeface="Inter"/>
              </a:rPr>
              <a:t>to iterate on survey design or test alternative framings. </a:t>
            </a:r>
            <a:endParaRPr b="0" i="0" sz="88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1"/>
          <p:cNvSpPr/>
          <p:nvPr/>
        </p:nvSpPr>
        <p:spPr>
          <a:xfrm>
            <a:off x="496125" y="981276"/>
            <a:ext cx="7840500" cy="5835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161613"/>
              </a:buClr>
              <a:buSzPts val="1150"/>
              <a:buFont typeface="Inter"/>
              <a:buNone/>
            </a:pPr>
            <a:r>
              <a:rPr b="1" lang="en" sz="1050">
                <a:solidFill>
                  <a:srgbClr val="161613"/>
                </a:solidFill>
                <a:latin typeface="Inter"/>
                <a:ea typeface="Inter"/>
                <a:cs typeface="Inter"/>
                <a:sym typeface="Inter"/>
              </a:rPr>
              <a:t>S</a:t>
            </a:r>
            <a:r>
              <a:rPr b="1" lang="en" sz="1050">
                <a:solidFill>
                  <a:srgbClr val="161613"/>
                </a:solidFill>
                <a:latin typeface="Inter"/>
                <a:ea typeface="Inter"/>
                <a:cs typeface="Inter"/>
                <a:sym typeface="Inter"/>
              </a:rPr>
              <a:t>ynthetic experiments</a:t>
            </a:r>
            <a:r>
              <a:rPr lang="en" sz="1050">
                <a:solidFill>
                  <a:srgbClr val="161613"/>
                </a:solidFill>
                <a:latin typeface="Inter"/>
                <a:ea typeface="Inter"/>
                <a:cs typeface="Inter"/>
                <a:sym typeface="Inter"/>
              </a:rPr>
              <a:t> could a</a:t>
            </a:r>
            <a:r>
              <a:rPr lang="en" sz="1050">
                <a:solidFill>
                  <a:srgbClr val="161613"/>
                </a:solidFill>
                <a:latin typeface="Inter"/>
                <a:ea typeface="Inter"/>
                <a:cs typeface="Inter"/>
                <a:sym typeface="Inter"/>
              </a:rPr>
              <a:t>llow us</a:t>
            </a:r>
            <a:r>
              <a:rPr lang="en" sz="1050">
                <a:solidFill>
                  <a:srgbClr val="161613"/>
                </a:solidFill>
                <a:latin typeface="Inter"/>
                <a:ea typeface="Inter"/>
                <a:cs typeface="Inter"/>
                <a:sym typeface="Inter"/>
              </a:rPr>
              <a:t> to approximate stakeholders’ WTP. In principle, this could be a powerful new tool for benefit-cost analysis.</a:t>
            </a:r>
            <a:endParaRPr sz="1050">
              <a:solidFill>
                <a:srgbClr val="161613"/>
              </a:solidFill>
              <a:latin typeface="Inter"/>
              <a:ea typeface="Inter"/>
              <a:cs typeface="Inter"/>
              <a:sym typeface="Inter"/>
            </a:endParaRPr>
          </a:p>
        </p:txBody>
      </p:sp>
      <p:sp>
        <p:nvSpPr>
          <p:cNvPr id="159" name="Google Shape;159;p31"/>
          <p:cNvSpPr/>
          <p:nvPr/>
        </p:nvSpPr>
        <p:spPr>
          <a:xfrm>
            <a:off x="496125" y="1636525"/>
            <a:ext cx="7913700" cy="8433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161613"/>
              </a:buClr>
              <a:buSzPts val="1035"/>
              <a:buFont typeface="Inter"/>
              <a:buNone/>
            </a:pPr>
            <a:r>
              <a:rPr lang="en" sz="1050">
                <a:solidFill>
                  <a:srgbClr val="161613"/>
                </a:solidFill>
                <a:latin typeface="Inter"/>
                <a:ea typeface="Inter"/>
                <a:cs typeface="Inter"/>
                <a:sym typeface="Inter"/>
              </a:rPr>
              <a:t>As a first step toward this goal</a:t>
            </a:r>
            <a:r>
              <a:rPr lang="en" sz="1050">
                <a:solidFill>
                  <a:srgbClr val="161613"/>
                </a:solidFill>
                <a:latin typeface="Inter"/>
                <a:ea typeface="Inter"/>
                <a:cs typeface="Inter"/>
                <a:sym typeface="Inter"/>
              </a:rPr>
              <a:t>, w</a:t>
            </a:r>
            <a:r>
              <a:rPr b="0" i="0" lang="en" sz="1050" u="none" cap="none" strike="noStrike">
                <a:solidFill>
                  <a:srgbClr val="161613"/>
                </a:solidFill>
                <a:latin typeface="Inter"/>
                <a:ea typeface="Inter"/>
                <a:cs typeface="Inter"/>
                <a:sym typeface="Inter"/>
              </a:rPr>
              <a:t>e conduct </a:t>
            </a:r>
            <a:r>
              <a:rPr i="1" lang="en" sz="1050" u="none" cap="none" strike="noStrike">
                <a:solidFill>
                  <a:srgbClr val="161613"/>
                </a:solidFill>
                <a:latin typeface="Inter"/>
                <a:ea typeface="Inter"/>
                <a:cs typeface="Inter"/>
                <a:sym typeface="Inter"/>
              </a:rPr>
              <a:t>synthetic replications </a:t>
            </a:r>
            <a:r>
              <a:rPr b="0" i="0" lang="en" sz="1050" u="none" cap="none" strike="noStrike">
                <a:solidFill>
                  <a:srgbClr val="161613"/>
                </a:solidFill>
                <a:latin typeface="Inter"/>
                <a:ea typeface="Inter"/>
                <a:cs typeface="Inter"/>
                <a:sym typeface="Inter"/>
              </a:rPr>
              <a:t>of existing contingent valuation stud</a:t>
            </a:r>
            <a:r>
              <a:rPr lang="en" sz="1050">
                <a:solidFill>
                  <a:srgbClr val="161613"/>
                </a:solidFill>
                <a:latin typeface="Inter"/>
                <a:ea typeface="Inter"/>
                <a:cs typeface="Inter"/>
                <a:sym typeface="Inter"/>
              </a:rPr>
              <a:t>ies</a:t>
            </a:r>
            <a:r>
              <a:rPr b="0" i="0" lang="en" sz="1050" u="none" cap="none" strike="noStrike">
                <a:solidFill>
                  <a:srgbClr val="161613"/>
                </a:solidFill>
                <a:latin typeface="Inter"/>
                <a:ea typeface="Inter"/>
                <a:cs typeface="Inter"/>
                <a:sym typeface="Inter"/>
              </a:rPr>
              <a:t> — substituting LLM-generated responses for human respon</a:t>
            </a:r>
            <a:r>
              <a:rPr lang="en" sz="1050">
                <a:solidFill>
                  <a:srgbClr val="161613"/>
                </a:solidFill>
                <a:latin typeface="Inter"/>
                <a:ea typeface="Inter"/>
                <a:cs typeface="Inter"/>
                <a:sym typeface="Inter"/>
              </a:rPr>
              <a:t>ses</a:t>
            </a:r>
            <a:r>
              <a:rPr b="0" i="0" lang="en" sz="1050" u="none" cap="none" strike="noStrike">
                <a:solidFill>
                  <a:srgbClr val="161613"/>
                </a:solidFill>
                <a:latin typeface="Inter"/>
                <a:ea typeface="Inter"/>
                <a:cs typeface="Inter"/>
                <a:sym typeface="Inter"/>
              </a:rPr>
              <a:t>, while preserving the original </a:t>
            </a:r>
            <a:r>
              <a:rPr lang="en" sz="1050">
                <a:solidFill>
                  <a:srgbClr val="161613"/>
                </a:solidFill>
                <a:latin typeface="Inter"/>
                <a:ea typeface="Inter"/>
                <a:cs typeface="Inter"/>
                <a:sym typeface="Inter"/>
              </a:rPr>
              <a:t>studies</a:t>
            </a:r>
            <a:r>
              <a:rPr lang="en" sz="1050">
                <a:solidFill>
                  <a:srgbClr val="161613"/>
                </a:solidFill>
                <a:latin typeface="Inter"/>
                <a:ea typeface="Inter"/>
                <a:cs typeface="Inter"/>
                <a:sym typeface="Inter"/>
              </a:rPr>
              <a:t>’</a:t>
            </a:r>
            <a:r>
              <a:rPr b="0" i="0" lang="en" sz="1050" u="none" cap="none" strike="noStrike">
                <a:solidFill>
                  <a:srgbClr val="161613"/>
                </a:solidFill>
                <a:latin typeface="Inter"/>
                <a:ea typeface="Inter"/>
                <a:cs typeface="Inter"/>
                <a:sym typeface="Inter"/>
              </a:rPr>
              <a:t> demographic and econometric structure</a:t>
            </a:r>
            <a:r>
              <a:rPr lang="en" sz="1050">
                <a:solidFill>
                  <a:srgbClr val="161613"/>
                </a:solidFill>
                <a:latin typeface="Inter"/>
                <a:ea typeface="Inter"/>
                <a:cs typeface="Inter"/>
                <a:sym typeface="Inter"/>
              </a:rPr>
              <a:t>:</a:t>
            </a:r>
            <a:endParaRPr b="0" i="0" sz="1050" u="none" cap="none" strike="noStrike"/>
          </a:p>
        </p:txBody>
      </p:sp>
      <p:pic>
        <p:nvPicPr>
          <p:cNvPr descr="preencoded.png" id="160" name="Google Shape;160;p31"/>
          <p:cNvPicPr preferRelativeResize="0"/>
          <p:nvPr/>
        </p:nvPicPr>
        <p:blipFill rotWithShape="1">
          <a:blip r:embed="rId3">
            <a:alphaModFix/>
          </a:blip>
          <a:srcRect b="0" l="0" r="0" t="0"/>
          <a:stretch/>
        </p:blipFill>
        <p:spPr>
          <a:xfrm>
            <a:off x="1515175" y="2571750"/>
            <a:ext cx="5098448" cy="2238024"/>
          </a:xfrm>
          <a:prstGeom prst="rect">
            <a:avLst/>
          </a:prstGeom>
          <a:noFill/>
          <a:ln>
            <a:noFill/>
          </a:ln>
        </p:spPr>
      </p:pic>
      <p:sp>
        <p:nvSpPr>
          <p:cNvPr id="161" name="Google Shape;161;p31"/>
          <p:cNvSpPr/>
          <p:nvPr/>
        </p:nvSpPr>
        <p:spPr>
          <a:xfrm>
            <a:off x="6613623" y="3074949"/>
            <a:ext cx="1015200" cy="2856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161613"/>
              </a:buClr>
              <a:buSzPts val="753"/>
              <a:buFont typeface="DM Sans"/>
              <a:buNone/>
            </a:pPr>
            <a:r>
              <a:rPr lang="en" sz="752">
                <a:solidFill>
                  <a:srgbClr val="161613"/>
                </a:solidFill>
                <a:latin typeface="Inter"/>
                <a:ea typeface="Inter"/>
                <a:cs typeface="Inter"/>
                <a:sym typeface="Inter"/>
              </a:rPr>
              <a:t>Compare synthetic WTP to original WTP</a:t>
            </a:r>
            <a:endParaRPr i="0" sz="752" u="none" cap="none" strike="noStrike">
              <a:latin typeface="Inter"/>
              <a:ea typeface="Inter"/>
              <a:cs typeface="Inter"/>
              <a:sym typeface="Inter"/>
            </a:endParaRPr>
          </a:p>
        </p:txBody>
      </p:sp>
      <p:sp>
        <p:nvSpPr>
          <p:cNvPr id="162" name="Google Shape;162;p31"/>
          <p:cNvSpPr/>
          <p:nvPr/>
        </p:nvSpPr>
        <p:spPr>
          <a:xfrm>
            <a:off x="4745425" y="4162825"/>
            <a:ext cx="1193100" cy="4176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161613"/>
              </a:buClr>
              <a:buSzPts val="753"/>
              <a:buFont typeface="DM Sans"/>
              <a:buNone/>
            </a:pPr>
            <a:r>
              <a:rPr lang="en" sz="752">
                <a:solidFill>
                  <a:srgbClr val="161613"/>
                </a:solidFill>
                <a:latin typeface="Inter"/>
                <a:ea typeface="Inter"/>
                <a:cs typeface="Inter"/>
                <a:sym typeface="Inter"/>
              </a:rPr>
              <a:t>Analyze WTP using the same econometric methods</a:t>
            </a:r>
            <a:endParaRPr i="0" sz="752" u="none" cap="none" strike="noStrike">
              <a:latin typeface="Inter"/>
              <a:ea typeface="Inter"/>
              <a:cs typeface="Inter"/>
              <a:sym typeface="Inter"/>
            </a:endParaRPr>
          </a:p>
        </p:txBody>
      </p:sp>
      <p:sp>
        <p:nvSpPr>
          <p:cNvPr id="163" name="Google Shape;163;p31"/>
          <p:cNvSpPr/>
          <p:nvPr/>
        </p:nvSpPr>
        <p:spPr>
          <a:xfrm>
            <a:off x="3552872" y="2789350"/>
            <a:ext cx="1015200" cy="285600"/>
          </a:xfrm>
          <a:prstGeom prst="rect">
            <a:avLst/>
          </a:prstGeom>
          <a:noFill/>
          <a:ln>
            <a:noFill/>
          </a:ln>
        </p:spPr>
        <p:txBody>
          <a:bodyPr anchorCtr="0" anchor="t" bIns="0" lIns="0" spcFirstLastPara="1" rIns="0" wrap="square" tIns="0">
            <a:noAutofit/>
          </a:bodyPr>
          <a:lstStyle/>
          <a:p>
            <a:pPr indent="0" lvl="0" marL="0" marR="0" rtl="0" algn="ctr">
              <a:lnSpc>
                <a:spcPct val="121052"/>
              </a:lnSpc>
              <a:spcBef>
                <a:spcPts val="0"/>
              </a:spcBef>
              <a:spcAft>
                <a:spcPts val="0"/>
              </a:spcAft>
              <a:buClr>
                <a:srgbClr val="161613"/>
              </a:buClr>
              <a:buSzPts val="596"/>
              <a:buFont typeface="Inter"/>
              <a:buNone/>
            </a:pPr>
            <a:r>
              <a:rPr lang="en" sz="796">
                <a:solidFill>
                  <a:srgbClr val="161613"/>
                </a:solidFill>
                <a:latin typeface="Inter"/>
                <a:ea typeface="Inter"/>
                <a:cs typeface="Inter"/>
                <a:sym typeface="Inter"/>
              </a:rPr>
              <a:t>Ask synthetic respondents about their willingness to pay</a:t>
            </a:r>
            <a:endParaRPr b="0" i="0" sz="796" u="none" cap="none" strike="noStrike"/>
          </a:p>
        </p:txBody>
      </p:sp>
      <p:sp>
        <p:nvSpPr>
          <p:cNvPr id="164" name="Google Shape;164;p31"/>
          <p:cNvSpPr/>
          <p:nvPr/>
        </p:nvSpPr>
        <p:spPr>
          <a:xfrm>
            <a:off x="2275231" y="3941697"/>
            <a:ext cx="1078200" cy="165900"/>
          </a:xfrm>
          <a:prstGeom prst="rect">
            <a:avLst/>
          </a:prstGeom>
          <a:noFill/>
          <a:ln>
            <a:noFill/>
          </a:ln>
        </p:spPr>
        <p:txBody>
          <a:bodyPr anchorCtr="0" anchor="t" bIns="0" lIns="0" spcFirstLastPara="1" rIns="0" wrap="square" tIns="0">
            <a:noAutofit/>
          </a:bodyPr>
          <a:lstStyle/>
          <a:p>
            <a:pPr indent="0" lvl="0" marL="0" marR="0" rtl="0" algn="ctr">
              <a:lnSpc>
                <a:spcPct val="121052"/>
              </a:lnSpc>
              <a:spcBef>
                <a:spcPts val="0"/>
              </a:spcBef>
              <a:spcAft>
                <a:spcPts val="0"/>
              </a:spcAft>
              <a:buClr>
                <a:srgbClr val="161613"/>
              </a:buClr>
              <a:buSzPts val="596"/>
              <a:buFont typeface="Inter"/>
              <a:buNone/>
            </a:pPr>
            <a:r>
              <a:rPr lang="en" sz="796">
                <a:solidFill>
                  <a:srgbClr val="161613"/>
                </a:solidFill>
                <a:latin typeface="Inter"/>
                <a:ea typeface="Inter"/>
                <a:cs typeface="Inter"/>
                <a:sym typeface="Inter"/>
              </a:rPr>
              <a:t>Construct synthetic personas with the original respondent data, </a:t>
            </a:r>
            <a:r>
              <a:rPr i="1" lang="en" sz="796">
                <a:solidFill>
                  <a:srgbClr val="161613"/>
                </a:solidFill>
                <a:latin typeface="Inter"/>
                <a:ea typeface="Inter"/>
                <a:cs typeface="Inter"/>
                <a:sym typeface="Inter"/>
              </a:rPr>
              <a:t>not including</a:t>
            </a:r>
            <a:r>
              <a:rPr lang="en" sz="796">
                <a:solidFill>
                  <a:srgbClr val="161613"/>
                </a:solidFill>
                <a:latin typeface="Inter"/>
                <a:ea typeface="Inter"/>
                <a:cs typeface="Inter"/>
                <a:sym typeface="Inter"/>
              </a:rPr>
              <a:t> WTP responses</a:t>
            </a:r>
            <a:endParaRPr b="0" i="0" sz="796" u="none" cap="none" strike="noStrike"/>
          </a:p>
        </p:txBody>
      </p:sp>
      <p:sp>
        <p:nvSpPr>
          <p:cNvPr id="165" name="Google Shape;165;p31"/>
          <p:cNvSpPr/>
          <p:nvPr/>
        </p:nvSpPr>
        <p:spPr>
          <a:xfrm>
            <a:off x="146350" y="312775"/>
            <a:ext cx="5183700" cy="3324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rgbClr val="161613"/>
              </a:buClr>
              <a:buSzPts val="2500"/>
              <a:buFont typeface="DM Sans"/>
              <a:buNone/>
            </a:pPr>
            <a:r>
              <a:rPr lang="en" sz="1600">
                <a:solidFill>
                  <a:srgbClr val="161613"/>
                </a:solidFill>
                <a:latin typeface="DM Sans"/>
                <a:ea typeface="DM Sans"/>
                <a:cs typeface="DM Sans"/>
                <a:sym typeface="DM Sans"/>
              </a:rPr>
              <a:t>Can LLMs Simulate Contingent Valuation?</a:t>
            </a:r>
            <a:endParaRPr sz="1600">
              <a:solidFill>
                <a:schemeClr val="dk1"/>
              </a:solidFill>
            </a:endParaRPr>
          </a:p>
          <a:p>
            <a:pPr indent="0" lvl="0" marL="0" marR="0" rtl="0" algn="l">
              <a:lnSpc>
                <a:spcPct val="125757"/>
              </a:lnSpc>
              <a:spcBef>
                <a:spcPts val="0"/>
              </a:spcBef>
              <a:spcAft>
                <a:spcPts val="0"/>
              </a:spcAft>
              <a:buClr>
                <a:srgbClr val="161613"/>
              </a:buClr>
              <a:buSzPts val="2100"/>
              <a:buFont typeface="DM Sans"/>
              <a:buNone/>
            </a:pPr>
            <a:r>
              <a:t/>
            </a:r>
            <a:endParaRPr sz="1600">
              <a:solidFill>
                <a:srgbClr val="161613"/>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p:nvPr/>
        </p:nvSpPr>
        <p:spPr>
          <a:xfrm>
            <a:off x="112050" y="1134350"/>
            <a:ext cx="8919900" cy="1979700"/>
          </a:xfrm>
          <a:prstGeom prst="roundRect">
            <a:avLst>
              <a:gd fmla="val 1175" name="adj"/>
            </a:avLst>
          </a:prstGeom>
          <a:solidFill>
            <a:srgbClr val="EDEBE3"/>
          </a:solidFill>
          <a:ln>
            <a:noFill/>
          </a:ln>
        </p:spPr>
        <p:txBody>
          <a:bodyPr anchorCtr="0" anchor="ctr" bIns="62525" lIns="62525" spcFirstLastPara="1" rIns="62525" wrap="square" tIns="62525">
            <a:noAutofit/>
          </a:bodyPr>
          <a:lstStyle/>
          <a:p>
            <a:pPr indent="0" lvl="0" marL="0" rtl="0" algn="l">
              <a:spcBef>
                <a:spcPts val="0"/>
              </a:spcBef>
              <a:spcAft>
                <a:spcPts val="0"/>
              </a:spcAft>
              <a:buNone/>
            </a:pPr>
            <a:r>
              <a:t/>
            </a:r>
            <a:endParaRPr/>
          </a:p>
        </p:txBody>
      </p:sp>
      <p:sp>
        <p:nvSpPr>
          <p:cNvPr id="172" name="Google Shape;172;p32"/>
          <p:cNvSpPr/>
          <p:nvPr/>
        </p:nvSpPr>
        <p:spPr>
          <a:xfrm>
            <a:off x="112050" y="1134350"/>
            <a:ext cx="2973300" cy="1979700"/>
          </a:xfrm>
          <a:prstGeom prst="roundRect">
            <a:avLst>
              <a:gd fmla="val 1175" name="adj"/>
            </a:avLst>
          </a:prstGeom>
          <a:solidFill>
            <a:srgbClr val="EDEBE3"/>
          </a:solidFill>
          <a:ln>
            <a:noFill/>
          </a:ln>
        </p:spPr>
        <p:txBody>
          <a:bodyPr anchorCtr="0" anchor="ctr" bIns="62525" lIns="62525" spcFirstLastPara="1" rIns="62525" wrap="square" tIns="62525">
            <a:noAutofit/>
          </a:bodyPr>
          <a:lstStyle/>
          <a:p>
            <a:pPr indent="0" lvl="0" marL="0" rtl="0" algn="l">
              <a:spcBef>
                <a:spcPts val="0"/>
              </a:spcBef>
              <a:spcAft>
                <a:spcPts val="0"/>
              </a:spcAft>
              <a:buNone/>
            </a:pPr>
            <a:r>
              <a:t/>
            </a:r>
            <a:endParaRPr/>
          </a:p>
        </p:txBody>
      </p:sp>
      <p:sp>
        <p:nvSpPr>
          <p:cNvPr id="173" name="Google Shape;173;p32"/>
          <p:cNvSpPr/>
          <p:nvPr/>
        </p:nvSpPr>
        <p:spPr>
          <a:xfrm>
            <a:off x="267166" y="1289466"/>
            <a:ext cx="1938900" cy="242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505"/>
              <a:buFont typeface="DM Sans"/>
              <a:buNone/>
            </a:pPr>
            <a:r>
              <a:rPr b="0" i="0" lang="en" sz="1504" u="none" cap="none" strike="noStrike">
                <a:solidFill>
                  <a:srgbClr val="161613"/>
                </a:solidFill>
                <a:latin typeface="DM Sans"/>
                <a:ea typeface="DM Sans"/>
                <a:cs typeface="DM Sans"/>
                <a:sym typeface="DM Sans"/>
              </a:rPr>
              <a:t>1</a:t>
            </a:r>
            <a:endParaRPr b="0" i="0" sz="1504" u="none" cap="none" strike="noStrike"/>
          </a:p>
        </p:txBody>
      </p:sp>
      <p:sp>
        <p:nvSpPr>
          <p:cNvPr id="174" name="Google Shape;174;p32"/>
          <p:cNvSpPr/>
          <p:nvPr/>
        </p:nvSpPr>
        <p:spPr>
          <a:xfrm>
            <a:off x="267166" y="1624861"/>
            <a:ext cx="2663100" cy="248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97"/>
              <a:buFont typeface="Inter"/>
              <a:buNone/>
            </a:pPr>
            <a:r>
              <a:rPr b="1" i="0" lang="en" sz="1196" u="none" cap="none" strike="noStrike">
                <a:solidFill>
                  <a:srgbClr val="161613"/>
                </a:solidFill>
                <a:latin typeface="Inter"/>
                <a:ea typeface="Inter"/>
                <a:cs typeface="Inter"/>
                <a:sym typeface="Inter"/>
              </a:rPr>
              <a:t>Demographics Only</a:t>
            </a:r>
            <a:endParaRPr b="0" i="0" sz="1196" u="none" cap="none" strike="noStrike"/>
          </a:p>
        </p:txBody>
      </p:sp>
      <p:sp>
        <p:nvSpPr>
          <p:cNvPr id="175" name="Google Shape;175;p32"/>
          <p:cNvSpPr/>
          <p:nvPr/>
        </p:nvSpPr>
        <p:spPr>
          <a:xfrm>
            <a:off x="267166" y="1966118"/>
            <a:ext cx="2663100" cy="992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97"/>
              <a:buFont typeface="Inter"/>
              <a:buNone/>
            </a:pPr>
            <a:r>
              <a:rPr b="0" i="0" lang="en" sz="1196" u="none" cap="none" strike="noStrike">
                <a:solidFill>
                  <a:srgbClr val="161613"/>
                </a:solidFill>
                <a:latin typeface="Inter"/>
                <a:ea typeface="Inter"/>
                <a:cs typeface="Inter"/>
                <a:sym typeface="Inter"/>
              </a:rPr>
              <a:t>Synthetic respondents </a:t>
            </a:r>
            <a:r>
              <a:rPr lang="en" sz="1196">
                <a:solidFill>
                  <a:srgbClr val="161613"/>
                </a:solidFill>
                <a:latin typeface="Inter"/>
                <a:ea typeface="Inter"/>
                <a:cs typeface="Inter"/>
                <a:sym typeface="Inter"/>
              </a:rPr>
              <a:t>are defined by</a:t>
            </a:r>
            <a:r>
              <a:rPr b="0" i="0" lang="en" sz="1196" u="none" cap="none" strike="noStrike">
                <a:solidFill>
                  <a:srgbClr val="161613"/>
                </a:solidFill>
                <a:latin typeface="Inter"/>
                <a:ea typeface="Inter"/>
                <a:cs typeface="Inter"/>
                <a:sym typeface="Inter"/>
              </a:rPr>
              <a:t> </a:t>
            </a:r>
            <a:r>
              <a:rPr lang="en" sz="1196">
                <a:solidFill>
                  <a:srgbClr val="161613"/>
                </a:solidFill>
                <a:latin typeface="Inter"/>
                <a:ea typeface="Inter"/>
                <a:cs typeface="Inter"/>
                <a:sym typeface="Inter"/>
              </a:rPr>
              <a:t>the original study’s</a:t>
            </a:r>
            <a:r>
              <a:rPr b="0" i="0" lang="en" sz="1196" u="none" cap="none" strike="noStrike">
                <a:solidFill>
                  <a:srgbClr val="161613"/>
                </a:solidFill>
                <a:latin typeface="Inter"/>
                <a:ea typeface="Inter"/>
                <a:cs typeface="Inter"/>
                <a:sym typeface="Inter"/>
              </a:rPr>
              <a:t> sociodemographic attributes</a:t>
            </a:r>
            <a:r>
              <a:rPr lang="en" sz="1196">
                <a:solidFill>
                  <a:srgbClr val="161613"/>
                </a:solidFill>
                <a:latin typeface="Inter"/>
                <a:ea typeface="Inter"/>
                <a:cs typeface="Inter"/>
                <a:sym typeface="Inter"/>
              </a:rPr>
              <a:t>.</a:t>
            </a:r>
            <a:endParaRPr b="0" i="0" sz="1196" u="none" cap="none" strike="noStrike"/>
          </a:p>
        </p:txBody>
      </p:sp>
      <p:sp>
        <p:nvSpPr>
          <p:cNvPr id="176" name="Google Shape;176;p32"/>
          <p:cNvSpPr/>
          <p:nvPr/>
        </p:nvSpPr>
        <p:spPr>
          <a:xfrm>
            <a:off x="3085317" y="1134350"/>
            <a:ext cx="2973300" cy="1979700"/>
          </a:xfrm>
          <a:prstGeom prst="rect">
            <a:avLst/>
          </a:prstGeom>
          <a:solidFill>
            <a:srgbClr val="EDEBE3"/>
          </a:solidFill>
          <a:ln>
            <a:noFill/>
          </a:ln>
        </p:spPr>
        <p:txBody>
          <a:bodyPr anchorCtr="0" anchor="ctr" bIns="62525" lIns="62525" spcFirstLastPara="1" rIns="62525" wrap="square" tIns="62525">
            <a:noAutofit/>
          </a:bodyPr>
          <a:lstStyle/>
          <a:p>
            <a:pPr indent="0" lvl="0" marL="0" rtl="0" algn="l">
              <a:spcBef>
                <a:spcPts val="0"/>
              </a:spcBef>
              <a:spcAft>
                <a:spcPts val="0"/>
              </a:spcAft>
              <a:buNone/>
            </a:pPr>
            <a:r>
              <a:t/>
            </a:r>
            <a:endParaRPr/>
          </a:p>
        </p:txBody>
      </p:sp>
      <p:sp>
        <p:nvSpPr>
          <p:cNvPr id="177" name="Google Shape;177;p32"/>
          <p:cNvSpPr/>
          <p:nvPr/>
        </p:nvSpPr>
        <p:spPr>
          <a:xfrm>
            <a:off x="3085317" y="1134350"/>
            <a:ext cx="20700" cy="1979700"/>
          </a:xfrm>
          <a:prstGeom prst="roundRect">
            <a:avLst>
              <a:gd fmla="val 111628" name="adj"/>
            </a:avLst>
          </a:prstGeom>
          <a:solidFill>
            <a:srgbClr val="D3D1C9"/>
          </a:solidFill>
          <a:ln>
            <a:noFill/>
          </a:ln>
        </p:spPr>
        <p:txBody>
          <a:bodyPr anchorCtr="0" anchor="ctr" bIns="62525" lIns="62525" spcFirstLastPara="1" rIns="62525" wrap="square" tIns="62525">
            <a:noAutofit/>
          </a:bodyPr>
          <a:lstStyle/>
          <a:p>
            <a:pPr indent="0" lvl="0" marL="0" rtl="0" algn="l">
              <a:spcBef>
                <a:spcPts val="0"/>
              </a:spcBef>
              <a:spcAft>
                <a:spcPts val="0"/>
              </a:spcAft>
              <a:buNone/>
            </a:pPr>
            <a:r>
              <a:t/>
            </a:r>
            <a:endParaRPr/>
          </a:p>
        </p:txBody>
      </p:sp>
      <p:sp>
        <p:nvSpPr>
          <p:cNvPr id="178" name="Google Shape;178;p32"/>
          <p:cNvSpPr/>
          <p:nvPr/>
        </p:nvSpPr>
        <p:spPr>
          <a:xfrm>
            <a:off x="3240434" y="1289466"/>
            <a:ext cx="1938900" cy="242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505"/>
              <a:buFont typeface="DM Sans"/>
              <a:buNone/>
            </a:pPr>
            <a:r>
              <a:rPr b="0" i="0" lang="en" sz="1504" u="none" cap="none" strike="noStrike">
                <a:solidFill>
                  <a:srgbClr val="161613"/>
                </a:solidFill>
                <a:latin typeface="DM Sans"/>
                <a:ea typeface="DM Sans"/>
                <a:cs typeface="DM Sans"/>
                <a:sym typeface="DM Sans"/>
              </a:rPr>
              <a:t>2</a:t>
            </a:r>
            <a:endParaRPr b="0" i="0" sz="1504" u="none" cap="none" strike="noStrike"/>
          </a:p>
        </p:txBody>
      </p:sp>
      <p:sp>
        <p:nvSpPr>
          <p:cNvPr id="179" name="Google Shape;179;p32"/>
          <p:cNvSpPr/>
          <p:nvPr/>
        </p:nvSpPr>
        <p:spPr>
          <a:xfrm>
            <a:off x="3240434" y="1624861"/>
            <a:ext cx="2663100" cy="248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97"/>
              <a:buFont typeface="Inter"/>
              <a:buNone/>
            </a:pPr>
            <a:r>
              <a:rPr b="1" i="0" lang="en" sz="1196" u="none" cap="none" strike="noStrike">
                <a:solidFill>
                  <a:srgbClr val="161613"/>
                </a:solidFill>
                <a:latin typeface="Inter"/>
                <a:ea typeface="Inter"/>
                <a:cs typeface="Inter"/>
                <a:sym typeface="Inter"/>
              </a:rPr>
              <a:t>Demographics + All Beliefs</a:t>
            </a:r>
            <a:endParaRPr b="0" i="0" sz="1196" u="none" cap="none" strike="noStrike"/>
          </a:p>
        </p:txBody>
      </p:sp>
      <p:sp>
        <p:nvSpPr>
          <p:cNvPr id="180" name="Google Shape;180;p32"/>
          <p:cNvSpPr/>
          <p:nvPr/>
        </p:nvSpPr>
        <p:spPr>
          <a:xfrm>
            <a:off x="3240434" y="1966118"/>
            <a:ext cx="2663100" cy="744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97"/>
              <a:buFont typeface="Inter"/>
              <a:buNone/>
            </a:pPr>
            <a:r>
              <a:rPr b="0" i="0" lang="en" sz="1196" u="none" cap="none" strike="noStrike">
                <a:solidFill>
                  <a:srgbClr val="161613"/>
                </a:solidFill>
                <a:latin typeface="Inter"/>
                <a:ea typeface="Inter"/>
                <a:cs typeface="Inter"/>
                <a:sym typeface="Inter"/>
              </a:rPr>
              <a:t>Full belief response set from the original survey is appended to each respondent's prompt.</a:t>
            </a:r>
            <a:endParaRPr b="0" i="0" sz="1196" u="none" cap="none" strike="noStrike"/>
          </a:p>
        </p:txBody>
      </p:sp>
      <p:sp>
        <p:nvSpPr>
          <p:cNvPr id="181" name="Google Shape;181;p32"/>
          <p:cNvSpPr/>
          <p:nvPr/>
        </p:nvSpPr>
        <p:spPr>
          <a:xfrm>
            <a:off x="6058585" y="1134350"/>
            <a:ext cx="2973300" cy="1979700"/>
          </a:xfrm>
          <a:prstGeom prst="rect">
            <a:avLst/>
          </a:prstGeom>
          <a:solidFill>
            <a:srgbClr val="EDEBE3"/>
          </a:solidFill>
          <a:ln>
            <a:noFill/>
          </a:ln>
        </p:spPr>
        <p:txBody>
          <a:bodyPr anchorCtr="0" anchor="ctr" bIns="62525" lIns="62525" spcFirstLastPara="1" rIns="62525" wrap="square" tIns="62525">
            <a:noAutofit/>
          </a:bodyPr>
          <a:lstStyle/>
          <a:p>
            <a:pPr indent="0" lvl="0" marL="0" rtl="0" algn="l">
              <a:spcBef>
                <a:spcPts val="0"/>
              </a:spcBef>
              <a:spcAft>
                <a:spcPts val="0"/>
              </a:spcAft>
              <a:buNone/>
            </a:pPr>
            <a:r>
              <a:t/>
            </a:r>
            <a:endParaRPr/>
          </a:p>
        </p:txBody>
      </p:sp>
      <p:sp>
        <p:nvSpPr>
          <p:cNvPr id="182" name="Google Shape;182;p32"/>
          <p:cNvSpPr/>
          <p:nvPr/>
        </p:nvSpPr>
        <p:spPr>
          <a:xfrm>
            <a:off x="6058585" y="1134350"/>
            <a:ext cx="20700" cy="1979700"/>
          </a:xfrm>
          <a:prstGeom prst="roundRect">
            <a:avLst>
              <a:gd fmla="val 111628" name="adj"/>
            </a:avLst>
          </a:prstGeom>
          <a:solidFill>
            <a:srgbClr val="D3D1C9"/>
          </a:solidFill>
          <a:ln>
            <a:noFill/>
          </a:ln>
        </p:spPr>
        <p:txBody>
          <a:bodyPr anchorCtr="0" anchor="ctr" bIns="62525" lIns="62525" spcFirstLastPara="1" rIns="62525" wrap="square" tIns="62525">
            <a:noAutofit/>
          </a:bodyPr>
          <a:lstStyle/>
          <a:p>
            <a:pPr indent="0" lvl="0" marL="0" rtl="0" algn="l">
              <a:spcBef>
                <a:spcPts val="0"/>
              </a:spcBef>
              <a:spcAft>
                <a:spcPts val="0"/>
              </a:spcAft>
              <a:buNone/>
            </a:pPr>
            <a:r>
              <a:t/>
            </a:r>
            <a:endParaRPr/>
          </a:p>
        </p:txBody>
      </p:sp>
      <p:sp>
        <p:nvSpPr>
          <p:cNvPr id="183" name="Google Shape;183;p32"/>
          <p:cNvSpPr/>
          <p:nvPr/>
        </p:nvSpPr>
        <p:spPr>
          <a:xfrm>
            <a:off x="6213701" y="1289466"/>
            <a:ext cx="1938900" cy="242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505"/>
              <a:buFont typeface="DM Sans"/>
              <a:buNone/>
            </a:pPr>
            <a:r>
              <a:rPr b="0" i="0" lang="en" sz="1504" u="none" cap="none" strike="noStrike">
                <a:solidFill>
                  <a:srgbClr val="161613"/>
                </a:solidFill>
                <a:latin typeface="DM Sans"/>
                <a:ea typeface="DM Sans"/>
                <a:cs typeface="DM Sans"/>
                <a:sym typeface="DM Sans"/>
              </a:rPr>
              <a:t>3</a:t>
            </a:r>
            <a:endParaRPr b="0" i="0" sz="1504" u="none" cap="none" strike="noStrike"/>
          </a:p>
        </p:txBody>
      </p:sp>
      <p:sp>
        <p:nvSpPr>
          <p:cNvPr id="184" name="Google Shape;184;p32"/>
          <p:cNvSpPr/>
          <p:nvPr/>
        </p:nvSpPr>
        <p:spPr>
          <a:xfrm>
            <a:off x="6213701" y="1624861"/>
            <a:ext cx="2663100" cy="248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97"/>
              <a:buFont typeface="Inter"/>
              <a:buNone/>
            </a:pPr>
            <a:r>
              <a:rPr b="1" i="0" lang="en" sz="1196" u="none" cap="none" strike="noStrike">
                <a:solidFill>
                  <a:srgbClr val="161613"/>
                </a:solidFill>
                <a:latin typeface="Inter"/>
                <a:ea typeface="Inter"/>
                <a:cs typeface="Inter"/>
                <a:sym typeface="Inter"/>
              </a:rPr>
              <a:t>Demographics + One Belief</a:t>
            </a:r>
            <a:endParaRPr b="0" i="0" sz="1196" u="none" cap="none" strike="noStrike"/>
          </a:p>
        </p:txBody>
      </p:sp>
      <p:sp>
        <p:nvSpPr>
          <p:cNvPr id="185" name="Google Shape;185;p32"/>
          <p:cNvSpPr/>
          <p:nvPr/>
        </p:nvSpPr>
        <p:spPr>
          <a:xfrm>
            <a:off x="6213701" y="1966118"/>
            <a:ext cx="2663100" cy="992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97"/>
              <a:buFont typeface="Inter"/>
              <a:buNone/>
            </a:pPr>
            <a:r>
              <a:rPr b="0" i="0" lang="en" sz="1196" u="none" cap="none" strike="noStrike">
                <a:solidFill>
                  <a:srgbClr val="161613"/>
                </a:solidFill>
                <a:latin typeface="Inter"/>
                <a:ea typeface="Inter"/>
                <a:cs typeface="Inter"/>
                <a:sym typeface="Inter"/>
              </a:rPr>
              <a:t>Each belief variable is added individually in separate runs, isolating the marginal contribution of each additional belief </a:t>
            </a:r>
            <a:r>
              <a:rPr b="0" i="0" lang="en" sz="1196" u="none" cap="none" strike="noStrike">
                <a:solidFill>
                  <a:srgbClr val="161613"/>
                </a:solidFill>
                <a:latin typeface="Inter"/>
                <a:ea typeface="Inter"/>
                <a:cs typeface="Inter"/>
                <a:sym typeface="Inter"/>
              </a:rPr>
              <a:t>question</a:t>
            </a:r>
            <a:r>
              <a:rPr b="0" i="0" lang="en" sz="1196" u="none" cap="none" strike="noStrike">
                <a:solidFill>
                  <a:srgbClr val="161613"/>
                </a:solidFill>
                <a:latin typeface="Inter"/>
                <a:ea typeface="Inter"/>
                <a:cs typeface="Inter"/>
                <a:sym typeface="Inter"/>
              </a:rPr>
              <a:t>.</a:t>
            </a:r>
            <a:endParaRPr b="0" i="0" sz="1196" u="none" cap="none" strike="noStrike"/>
          </a:p>
        </p:txBody>
      </p:sp>
      <p:sp>
        <p:nvSpPr>
          <p:cNvPr id="186" name="Google Shape;186;p32"/>
          <p:cNvSpPr/>
          <p:nvPr/>
        </p:nvSpPr>
        <p:spPr>
          <a:xfrm>
            <a:off x="577200" y="3755625"/>
            <a:ext cx="7989600" cy="556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97"/>
              <a:buFont typeface="Inter"/>
              <a:buNone/>
            </a:pPr>
            <a:r>
              <a:rPr lang="en" sz="1096">
                <a:solidFill>
                  <a:srgbClr val="161613"/>
                </a:solidFill>
                <a:latin typeface="Inter"/>
                <a:ea typeface="Inter"/>
                <a:cs typeface="Inter"/>
                <a:sym typeface="Inter"/>
              </a:rPr>
              <a:t>Note:</a:t>
            </a:r>
            <a:endParaRPr sz="1096">
              <a:solidFill>
                <a:srgbClr val="161613"/>
              </a:solidFill>
              <a:latin typeface="Inter"/>
              <a:ea typeface="Inter"/>
              <a:cs typeface="Inter"/>
              <a:sym typeface="Inter"/>
            </a:endParaRPr>
          </a:p>
          <a:p>
            <a:pPr indent="0" lvl="0" marL="457200" marR="0" rtl="0" algn="l">
              <a:lnSpc>
                <a:spcPct val="162857"/>
              </a:lnSpc>
              <a:spcBef>
                <a:spcPts val="0"/>
              </a:spcBef>
              <a:spcAft>
                <a:spcPts val="0"/>
              </a:spcAft>
              <a:buNone/>
            </a:pPr>
            <a:r>
              <a:rPr i="1" lang="en" sz="1096">
                <a:solidFill>
                  <a:srgbClr val="161613"/>
                </a:solidFill>
                <a:latin typeface="Inter"/>
                <a:ea typeface="Inter"/>
                <a:cs typeface="Inter"/>
                <a:sym typeface="Inter"/>
              </a:rPr>
              <a:t>We use the term “belief” to mean the respondent’s answer to non-demographic questions in the original study.</a:t>
            </a:r>
            <a:br>
              <a:rPr i="1" lang="en" sz="1096">
                <a:solidFill>
                  <a:srgbClr val="161613"/>
                </a:solidFill>
                <a:latin typeface="Inter"/>
                <a:ea typeface="Inter"/>
                <a:cs typeface="Inter"/>
                <a:sym typeface="Inter"/>
              </a:rPr>
            </a:br>
            <a:r>
              <a:rPr i="1" lang="en" sz="1096">
                <a:solidFill>
                  <a:srgbClr val="161613"/>
                </a:solidFill>
                <a:latin typeface="Inter"/>
                <a:ea typeface="Inter"/>
                <a:cs typeface="Inter"/>
                <a:sym typeface="Inter"/>
              </a:rPr>
              <a:t>These are generally their beliefs / attitudes about a topic</a:t>
            </a:r>
            <a:r>
              <a:rPr i="1" lang="en" sz="1096">
                <a:solidFill>
                  <a:srgbClr val="161613"/>
                </a:solidFill>
                <a:latin typeface="Inter"/>
                <a:ea typeface="Inter"/>
                <a:cs typeface="Inter"/>
                <a:sym typeface="Inter"/>
              </a:rPr>
              <a:t>,</a:t>
            </a:r>
            <a:r>
              <a:rPr i="1" lang="en" sz="1096">
                <a:solidFill>
                  <a:srgbClr val="161613"/>
                </a:solidFill>
                <a:latin typeface="Inter"/>
                <a:ea typeface="Inter"/>
                <a:cs typeface="Inter"/>
                <a:sym typeface="Inter"/>
              </a:rPr>
              <a:t> or related indicator of experience.</a:t>
            </a:r>
            <a:endParaRPr b="0" i="1" sz="1096" u="none" cap="none" strike="noStrike"/>
          </a:p>
        </p:txBody>
      </p:sp>
      <p:sp>
        <p:nvSpPr>
          <p:cNvPr id="187" name="Google Shape;187;p32"/>
          <p:cNvSpPr/>
          <p:nvPr/>
        </p:nvSpPr>
        <p:spPr>
          <a:xfrm>
            <a:off x="146350" y="312775"/>
            <a:ext cx="4093500" cy="332400"/>
          </a:xfrm>
          <a:prstGeom prst="rect">
            <a:avLst/>
          </a:prstGeom>
          <a:noFill/>
          <a:ln>
            <a:noFill/>
          </a:ln>
        </p:spPr>
        <p:txBody>
          <a:bodyPr anchorCtr="0" anchor="t" bIns="0" lIns="0" spcFirstLastPara="1" rIns="0" wrap="square" tIns="0">
            <a:noAutofit/>
          </a:bodyPr>
          <a:lstStyle/>
          <a:p>
            <a:pPr indent="0" lvl="0" marL="0" rtl="0" algn="l">
              <a:lnSpc>
                <a:spcPct val="124719"/>
              </a:lnSpc>
              <a:spcBef>
                <a:spcPts val="0"/>
              </a:spcBef>
              <a:spcAft>
                <a:spcPts val="0"/>
              </a:spcAft>
              <a:buClr>
                <a:srgbClr val="161613"/>
              </a:buClr>
              <a:buSzPts val="2800"/>
              <a:buFont typeface="DM Sans"/>
              <a:buNone/>
            </a:pPr>
            <a:r>
              <a:rPr lang="en" sz="1600">
                <a:solidFill>
                  <a:srgbClr val="161613"/>
                </a:solidFill>
                <a:latin typeface="DM Sans"/>
                <a:ea typeface="DM Sans"/>
                <a:cs typeface="DM Sans"/>
                <a:sym typeface="DM Sans"/>
              </a:rPr>
              <a:t>Synthetic Replication – Variations</a:t>
            </a:r>
            <a:endParaRPr sz="1600">
              <a:solidFill>
                <a:schemeClr val="dk1"/>
              </a:solidFill>
            </a:endParaRPr>
          </a:p>
          <a:p>
            <a:pPr indent="0" lvl="0" marL="0" marR="0" rtl="0" algn="l">
              <a:lnSpc>
                <a:spcPct val="125757"/>
              </a:lnSpc>
              <a:spcBef>
                <a:spcPts val="0"/>
              </a:spcBef>
              <a:spcAft>
                <a:spcPts val="0"/>
              </a:spcAft>
              <a:buClr>
                <a:srgbClr val="161613"/>
              </a:buClr>
              <a:buSzPts val="2100"/>
              <a:buFont typeface="DM Sans"/>
              <a:buNone/>
            </a:pPr>
            <a:r>
              <a:t/>
            </a:r>
            <a:endParaRPr sz="1700">
              <a:solidFill>
                <a:srgbClr val="161613"/>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p:nvPr/>
        </p:nvSpPr>
        <p:spPr>
          <a:xfrm>
            <a:off x="146344" y="312778"/>
            <a:ext cx="26580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Key</a:t>
            </a:r>
            <a:r>
              <a:rPr b="0" i="0" lang="en" sz="1600" u="none" cap="none" strike="noStrike">
                <a:solidFill>
                  <a:srgbClr val="161613"/>
                </a:solidFill>
                <a:latin typeface="DM Sans"/>
                <a:ea typeface="DM Sans"/>
                <a:cs typeface="DM Sans"/>
                <a:sym typeface="DM Sans"/>
              </a:rPr>
              <a:t> Questions</a:t>
            </a:r>
            <a:endParaRPr b="0" i="0" sz="1600" u="none" cap="none" strike="noStrike"/>
          </a:p>
        </p:txBody>
      </p:sp>
      <p:sp>
        <p:nvSpPr>
          <p:cNvPr id="194" name="Google Shape;194;p33"/>
          <p:cNvSpPr/>
          <p:nvPr/>
        </p:nvSpPr>
        <p:spPr>
          <a:xfrm>
            <a:off x="2210544" y="1004889"/>
            <a:ext cx="4722900" cy="749100"/>
          </a:xfrm>
          <a:prstGeom prst="roundRect">
            <a:avLst>
              <a:gd fmla="val 9156" name="adj"/>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95" name="Google Shape;195;p33"/>
          <p:cNvSpPr/>
          <p:nvPr/>
        </p:nvSpPr>
        <p:spPr>
          <a:xfrm>
            <a:off x="2210544" y="990602"/>
            <a:ext cx="4722900" cy="573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96" name="Google Shape;196;p33"/>
          <p:cNvSpPr/>
          <p:nvPr/>
        </p:nvSpPr>
        <p:spPr>
          <a:xfrm>
            <a:off x="4412456" y="845420"/>
            <a:ext cx="318900" cy="318900"/>
          </a:xfrm>
          <a:prstGeom prst="roundRect">
            <a:avLst>
              <a:gd fmla="val 179188"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97" name="Google Shape;197;p33"/>
          <p:cNvSpPr/>
          <p:nvPr/>
        </p:nvSpPr>
        <p:spPr>
          <a:xfrm>
            <a:off x="4508152" y="925117"/>
            <a:ext cx="127500" cy="159600"/>
          </a:xfrm>
          <a:prstGeom prst="rect">
            <a:avLst/>
          </a:prstGeom>
          <a:noFill/>
          <a:ln>
            <a:noFill/>
          </a:ln>
        </p:spPr>
        <p:txBody>
          <a:bodyPr anchorCtr="0" anchor="t" bIns="0" lIns="0" spcFirstLastPara="1" rIns="0" wrap="square" tIns="0">
            <a:noAutofit/>
          </a:bodyPr>
          <a:lstStyle/>
          <a:p>
            <a:pPr indent="0" lvl="0" marL="0" marR="0" rtl="0" algn="ctr">
              <a:lnSpc>
                <a:spcPct val="140625"/>
              </a:lnSpc>
              <a:spcBef>
                <a:spcPts val="0"/>
              </a:spcBef>
              <a:spcAft>
                <a:spcPts val="0"/>
              </a:spcAft>
              <a:buClr>
                <a:srgbClr val="FFFFFF"/>
              </a:buClr>
              <a:buSzPts val="1000"/>
              <a:buFont typeface="DM Sans"/>
              <a:buNone/>
            </a:pPr>
            <a:r>
              <a:rPr b="0" i="0" lang="en" sz="1000" u="none" cap="none" strike="noStrike">
                <a:solidFill>
                  <a:srgbClr val="FFFFFF"/>
                </a:solidFill>
                <a:latin typeface="DM Sans"/>
                <a:ea typeface="DM Sans"/>
                <a:cs typeface="DM Sans"/>
                <a:sym typeface="DM Sans"/>
              </a:rPr>
              <a:t>1</a:t>
            </a:r>
            <a:endParaRPr b="0" i="0" sz="1000" u="none" cap="none" strike="noStrike"/>
          </a:p>
        </p:txBody>
      </p:sp>
      <p:sp>
        <p:nvSpPr>
          <p:cNvPr id="198" name="Google Shape;198;p33"/>
          <p:cNvSpPr/>
          <p:nvPr/>
        </p:nvSpPr>
        <p:spPr>
          <a:xfrm>
            <a:off x="2331094" y="1270696"/>
            <a:ext cx="1578300" cy="1662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161613"/>
              </a:buClr>
              <a:buSzPts val="1000"/>
              <a:buFont typeface="DM Sans"/>
              <a:buNone/>
            </a:pPr>
            <a:r>
              <a:rPr b="0" i="0" lang="en" sz="1000" u="none" cap="none" strike="noStrike">
                <a:solidFill>
                  <a:srgbClr val="161613"/>
                </a:solidFill>
                <a:latin typeface="DM Sans"/>
                <a:ea typeface="DM Sans"/>
                <a:cs typeface="DM Sans"/>
                <a:sym typeface="DM Sans"/>
              </a:rPr>
              <a:t>Replicate CV Responses?</a:t>
            </a:r>
            <a:endParaRPr b="0" i="0" sz="1000" u="none" cap="none" strike="noStrike"/>
          </a:p>
        </p:txBody>
      </p:sp>
      <p:sp>
        <p:nvSpPr>
          <p:cNvPr id="199" name="Google Shape;199;p33"/>
          <p:cNvSpPr/>
          <p:nvPr/>
        </p:nvSpPr>
        <p:spPr>
          <a:xfrm>
            <a:off x="2331094" y="1484563"/>
            <a:ext cx="4481700" cy="1488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161613"/>
              </a:buClr>
              <a:buSzPts val="800"/>
              <a:buFont typeface="Inter"/>
              <a:buNone/>
            </a:pPr>
            <a:r>
              <a:rPr b="0" i="0" lang="en" sz="800" u="none" cap="none" strike="noStrike">
                <a:solidFill>
                  <a:srgbClr val="161613"/>
                </a:solidFill>
                <a:latin typeface="Inter"/>
                <a:ea typeface="Inter"/>
                <a:cs typeface="Inter"/>
                <a:sym typeface="Inter"/>
              </a:rPr>
              <a:t>Can LLMs reproduce referendum-style choices?</a:t>
            </a:r>
            <a:endParaRPr b="0" i="0" sz="800" u="none" cap="none" strike="noStrike"/>
          </a:p>
        </p:txBody>
      </p:sp>
      <p:sp>
        <p:nvSpPr>
          <p:cNvPr id="200" name="Google Shape;200;p33"/>
          <p:cNvSpPr/>
          <p:nvPr/>
        </p:nvSpPr>
        <p:spPr>
          <a:xfrm>
            <a:off x="2210544" y="1993108"/>
            <a:ext cx="4722900" cy="749100"/>
          </a:xfrm>
          <a:prstGeom prst="roundRect">
            <a:avLst>
              <a:gd fmla="val 9156" name="adj"/>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01" name="Google Shape;201;p33"/>
          <p:cNvSpPr/>
          <p:nvPr/>
        </p:nvSpPr>
        <p:spPr>
          <a:xfrm>
            <a:off x="2210544" y="1978821"/>
            <a:ext cx="4722900" cy="573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02" name="Google Shape;202;p33"/>
          <p:cNvSpPr/>
          <p:nvPr/>
        </p:nvSpPr>
        <p:spPr>
          <a:xfrm>
            <a:off x="4412456" y="1833639"/>
            <a:ext cx="318900" cy="318900"/>
          </a:xfrm>
          <a:prstGeom prst="roundRect">
            <a:avLst>
              <a:gd fmla="val 179188"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03" name="Google Shape;203;p33"/>
          <p:cNvSpPr/>
          <p:nvPr/>
        </p:nvSpPr>
        <p:spPr>
          <a:xfrm>
            <a:off x="4508152" y="1913336"/>
            <a:ext cx="127500" cy="159600"/>
          </a:xfrm>
          <a:prstGeom prst="rect">
            <a:avLst/>
          </a:prstGeom>
          <a:noFill/>
          <a:ln>
            <a:noFill/>
          </a:ln>
        </p:spPr>
        <p:txBody>
          <a:bodyPr anchorCtr="0" anchor="t" bIns="0" lIns="0" spcFirstLastPara="1" rIns="0" wrap="square" tIns="0">
            <a:noAutofit/>
          </a:bodyPr>
          <a:lstStyle/>
          <a:p>
            <a:pPr indent="0" lvl="0" marL="0" marR="0" rtl="0" algn="ctr">
              <a:lnSpc>
                <a:spcPct val="140625"/>
              </a:lnSpc>
              <a:spcBef>
                <a:spcPts val="0"/>
              </a:spcBef>
              <a:spcAft>
                <a:spcPts val="0"/>
              </a:spcAft>
              <a:buClr>
                <a:srgbClr val="FFFFFF"/>
              </a:buClr>
              <a:buSzPts val="1000"/>
              <a:buFont typeface="DM Sans"/>
              <a:buNone/>
            </a:pPr>
            <a:r>
              <a:rPr b="0" i="0" lang="en" sz="1000" u="none" cap="none" strike="noStrike">
                <a:solidFill>
                  <a:srgbClr val="FFFFFF"/>
                </a:solidFill>
                <a:latin typeface="DM Sans"/>
                <a:ea typeface="DM Sans"/>
                <a:cs typeface="DM Sans"/>
                <a:sym typeface="DM Sans"/>
              </a:rPr>
              <a:t>2</a:t>
            </a:r>
            <a:endParaRPr b="0" i="0" sz="1000" u="none" cap="none" strike="noStrike"/>
          </a:p>
        </p:txBody>
      </p:sp>
      <p:sp>
        <p:nvSpPr>
          <p:cNvPr id="204" name="Google Shape;204;p33"/>
          <p:cNvSpPr/>
          <p:nvPr/>
        </p:nvSpPr>
        <p:spPr>
          <a:xfrm>
            <a:off x="2331094" y="2258915"/>
            <a:ext cx="1329000" cy="1662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161613"/>
              </a:buClr>
              <a:buSzPts val="1000"/>
              <a:buFont typeface="DM Sans"/>
              <a:buNone/>
            </a:pPr>
            <a:r>
              <a:rPr b="0" i="0" lang="en" sz="1000" u="none" cap="none" strike="noStrike">
                <a:solidFill>
                  <a:srgbClr val="161613"/>
                </a:solidFill>
                <a:latin typeface="DM Sans"/>
                <a:ea typeface="DM Sans"/>
                <a:cs typeface="DM Sans"/>
                <a:sym typeface="DM Sans"/>
              </a:rPr>
              <a:t>Realistic WTP?</a:t>
            </a:r>
            <a:endParaRPr b="0" i="0" sz="1000" u="none" cap="none" strike="noStrike"/>
          </a:p>
        </p:txBody>
      </p:sp>
      <p:sp>
        <p:nvSpPr>
          <p:cNvPr id="205" name="Google Shape;205;p33"/>
          <p:cNvSpPr/>
          <p:nvPr/>
        </p:nvSpPr>
        <p:spPr>
          <a:xfrm>
            <a:off x="2331094" y="2472781"/>
            <a:ext cx="4481700" cy="1488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161613"/>
              </a:buClr>
              <a:buSzPts val="800"/>
              <a:buFont typeface="Inter"/>
              <a:buNone/>
            </a:pPr>
            <a:r>
              <a:rPr b="0" i="0" lang="en" sz="800" u="none" cap="none" strike="noStrike">
                <a:solidFill>
                  <a:srgbClr val="161613"/>
                </a:solidFill>
                <a:latin typeface="Inter"/>
                <a:ea typeface="Inter"/>
                <a:cs typeface="Inter"/>
                <a:sym typeface="Inter"/>
              </a:rPr>
              <a:t>Do synthetic respondents yield credible estimates?</a:t>
            </a:r>
            <a:endParaRPr b="0" i="0" sz="800" u="none" cap="none" strike="noStrike"/>
          </a:p>
        </p:txBody>
      </p:sp>
      <p:sp>
        <p:nvSpPr>
          <p:cNvPr id="206" name="Google Shape;206;p33"/>
          <p:cNvSpPr/>
          <p:nvPr/>
        </p:nvSpPr>
        <p:spPr>
          <a:xfrm>
            <a:off x="2210544" y="2981327"/>
            <a:ext cx="4722900" cy="749100"/>
          </a:xfrm>
          <a:prstGeom prst="roundRect">
            <a:avLst>
              <a:gd fmla="val 9156" name="adj"/>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07" name="Google Shape;207;p33"/>
          <p:cNvSpPr/>
          <p:nvPr/>
        </p:nvSpPr>
        <p:spPr>
          <a:xfrm>
            <a:off x="2210544" y="2967039"/>
            <a:ext cx="4722900" cy="573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08" name="Google Shape;208;p33"/>
          <p:cNvSpPr/>
          <p:nvPr/>
        </p:nvSpPr>
        <p:spPr>
          <a:xfrm>
            <a:off x="4412456" y="2821858"/>
            <a:ext cx="318900" cy="318900"/>
          </a:xfrm>
          <a:prstGeom prst="roundRect">
            <a:avLst>
              <a:gd fmla="val 179188"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09" name="Google Shape;209;p33"/>
          <p:cNvSpPr/>
          <p:nvPr/>
        </p:nvSpPr>
        <p:spPr>
          <a:xfrm>
            <a:off x="4508152" y="2901555"/>
            <a:ext cx="127500" cy="159600"/>
          </a:xfrm>
          <a:prstGeom prst="rect">
            <a:avLst/>
          </a:prstGeom>
          <a:noFill/>
          <a:ln>
            <a:noFill/>
          </a:ln>
        </p:spPr>
        <p:txBody>
          <a:bodyPr anchorCtr="0" anchor="t" bIns="0" lIns="0" spcFirstLastPara="1" rIns="0" wrap="square" tIns="0">
            <a:noAutofit/>
          </a:bodyPr>
          <a:lstStyle/>
          <a:p>
            <a:pPr indent="0" lvl="0" marL="0" marR="0" rtl="0" algn="ctr">
              <a:lnSpc>
                <a:spcPct val="140625"/>
              </a:lnSpc>
              <a:spcBef>
                <a:spcPts val="0"/>
              </a:spcBef>
              <a:spcAft>
                <a:spcPts val="0"/>
              </a:spcAft>
              <a:buClr>
                <a:srgbClr val="FFFFFF"/>
              </a:buClr>
              <a:buSzPts val="1000"/>
              <a:buFont typeface="DM Sans"/>
              <a:buNone/>
            </a:pPr>
            <a:r>
              <a:rPr b="0" i="0" lang="en" sz="1000" u="none" cap="none" strike="noStrike">
                <a:solidFill>
                  <a:srgbClr val="FFFFFF"/>
                </a:solidFill>
                <a:latin typeface="DM Sans"/>
                <a:ea typeface="DM Sans"/>
                <a:cs typeface="DM Sans"/>
                <a:sym typeface="DM Sans"/>
              </a:rPr>
              <a:t>3</a:t>
            </a:r>
            <a:endParaRPr b="0" i="0" sz="1000" u="none" cap="none" strike="noStrike"/>
          </a:p>
        </p:txBody>
      </p:sp>
      <p:sp>
        <p:nvSpPr>
          <p:cNvPr id="210" name="Google Shape;210;p33"/>
          <p:cNvSpPr/>
          <p:nvPr/>
        </p:nvSpPr>
        <p:spPr>
          <a:xfrm>
            <a:off x="2331094" y="3247134"/>
            <a:ext cx="1349700" cy="1662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161613"/>
              </a:buClr>
              <a:buSzPts val="1000"/>
              <a:buFont typeface="DM Sans"/>
              <a:buNone/>
            </a:pPr>
            <a:r>
              <a:rPr b="0" i="0" lang="en" sz="1000" u="none" cap="none" strike="noStrike">
                <a:solidFill>
                  <a:srgbClr val="161613"/>
                </a:solidFill>
                <a:latin typeface="DM Sans"/>
                <a:ea typeface="DM Sans"/>
                <a:cs typeface="DM Sans"/>
                <a:sym typeface="DM Sans"/>
              </a:rPr>
              <a:t>Which Inputs Matter?</a:t>
            </a:r>
            <a:endParaRPr b="0" i="0" sz="1000" u="none" cap="none" strike="noStrike"/>
          </a:p>
        </p:txBody>
      </p:sp>
      <p:sp>
        <p:nvSpPr>
          <p:cNvPr id="211" name="Google Shape;211;p33"/>
          <p:cNvSpPr/>
          <p:nvPr/>
        </p:nvSpPr>
        <p:spPr>
          <a:xfrm>
            <a:off x="2331094" y="3461000"/>
            <a:ext cx="4481700" cy="1488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161613"/>
              </a:buClr>
              <a:buSzPts val="800"/>
              <a:buFont typeface="Inter"/>
              <a:buNone/>
            </a:pPr>
            <a:r>
              <a:rPr b="0" i="0" lang="en" sz="800" u="none" cap="none" strike="noStrike">
                <a:solidFill>
                  <a:srgbClr val="161613"/>
                </a:solidFill>
                <a:latin typeface="Inter"/>
                <a:ea typeface="Inter"/>
                <a:cs typeface="Inter"/>
                <a:sym typeface="Inter"/>
              </a:rPr>
              <a:t>Role of belief variables in accuracy?</a:t>
            </a:r>
            <a:endParaRPr b="0" i="0" sz="800" u="none" cap="none" strike="noStrike"/>
          </a:p>
        </p:txBody>
      </p:sp>
      <p:sp>
        <p:nvSpPr>
          <p:cNvPr id="212" name="Google Shape;212;p33"/>
          <p:cNvSpPr/>
          <p:nvPr/>
        </p:nvSpPr>
        <p:spPr>
          <a:xfrm>
            <a:off x="2210544" y="3969546"/>
            <a:ext cx="4722900" cy="749100"/>
          </a:xfrm>
          <a:prstGeom prst="roundRect">
            <a:avLst>
              <a:gd fmla="val 9156" name="adj"/>
            </a:avLst>
          </a:prstGeom>
          <a:solidFill>
            <a:srgbClr val="F9F8F5"/>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13" name="Google Shape;213;p33"/>
          <p:cNvSpPr/>
          <p:nvPr/>
        </p:nvSpPr>
        <p:spPr>
          <a:xfrm>
            <a:off x="2210544" y="3955258"/>
            <a:ext cx="4722900" cy="573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14" name="Google Shape;214;p33"/>
          <p:cNvSpPr/>
          <p:nvPr/>
        </p:nvSpPr>
        <p:spPr>
          <a:xfrm>
            <a:off x="4412456" y="3810076"/>
            <a:ext cx="318900" cy="318900"/>
          </a:xfrm>
          <a:prstGeom prst="roundRect">
            <a:avLst>
              <a:gd fmla="val 179188"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15" name="Google Shape;215;p33"/>
          <p:cNvSpPr/>
          <p:nvPr/>
        </p:nvSpPr>
        <p:spPr>
          <a:xfrm>
            <a:off x="4508152" y="3889774"/>
            <a:ext cx="127500" cy="159600"/>
          </a:xfrm>
          <a:prstGeom prst="rect">
            <a:avLst/>
          </a:prstGeom>
          <a:noFill/>
          <a:ln>
            <a:noFill/>
          </a:ln>
        </p:spPr>
        <p:txBody>
          <a:bodyPr anchorCtr="0" anchor="t" bIns="0" lIns="0" spcFirstLastPara="1" rIns="0" wrap="square" tIns="0">
            <a:noAutofit/>
          </a:bodyPr>
          <a:lstStyle/>
          <a:p>
            <a:pPr indent="0" lvl="0" marL="0" marR="0" rtl="0" algn="ctr">
              <a:lnSpc>
                <a:spcPct val="140625"/>
              </a:lnSpc>
              <a:spcBef>
                <a:spcPts val="0"/>
              </a:spcBef>
              <a:spcAft>
                <a:spcPts val="0"/>
              </a:spcAft>
              <a:buClr>
                <a:srgbClr val="FFFFFF"/>
              </a:buClr>
              <a:buSzPts val="1000"/>
              <a:buFont typeface="DM Sans"/>
              <a:buNone/>
            </a:pPr>
            <a:r>
              <a:rPr b="0" i="0" lang="en" sz="1000" u="none" cap="none" strike="noStrike">
                <a:solidFill>
                  <a:srgbClr val="FFFFFF"/>
                </a:solidFill>
                <a:latin typeface="DM Sans"/>
                <a:ea typeface="DM Sans"/>
                <a:cs typeface="DM Sans"/>
                <a:sym typeface="DM Sans"/>
              </a:rPr>
              <a:t>4</a:t>
            </a:r>
            <a:endParaRPr b="0" i="0" sz="1000" u="none" cap="none" strike="noStrike"/>
          </a:p>
        </p:txBody>
      </p:sp>
      <p:sp>
        <p:nvSpPr>
          <p:cNvPr id="216" name="Google Shape;216;p33"/>
          <p:cNvSpPr/>
          <p:nvPr/>
        </p:nvSpPr>
        <p:spPr>
          <a:xfrm>
            <a:off x="2331094" y="4235353"/>
            <a:ext cx="1632300" cy="1662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161613"/>
              </a:buClr>
              <a:buSzPts val="1000"/>
              <a:buFont typeface="DM Sans"/>
              <a:buNone/>
            </a:pPr>
            <a:r>
              <a:rPr b="0" i="0" lang="en" sz="1000" u="none" cap="none" strike="noStrike">
                <a:solidFill>
                  <a:srgbClr val="161613"/>
                </a:solidFill>
                <a:latin typeface="DM Sans"/>
                <a:ea typeface="DM Sans"/>
                <a:cs typeface="DM Sans"/>
                <a:sym typeface="DM Sans"/>
              </a:rPr>
              <a:t>Robustness?</a:t>
            </a:r>
            <a:endParaRPr b="0" i="0" sz="1000" u="none" cap="none" strike="noStrike"/>
          </a:p>
        </p:txBody>
      </p:sp>
      <p:sp>
        <p:nvSpPr>
          <p:cNvPr id="217" name="Google Shape;217;p33"/>
          <p:cNvSpPr/>
          <p:nvPr/>
        </p:nvSpPr>
        <p:spPr>
          <a:xfrm>
            <a:off x="2331094" y="4449219"/>
            <a:ext cx="4481700" cy="1488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161613"/>
              </a:buClr>
              <a:buSzPts val="800"/>
              <a:buFont typeface="Inter"/>
              <a:buNone/>
            </a:pPr>
            <a:r>
              <a:rPr lang="en" sz="800">
                <a:solidFill>
                  <a:srgbClr val="161613"/>
                </a:solidFill>
                <a:latin typeface="Inter"/>
                <a:ea typeface="Inter"/>
                <a:cs typeface="Inter"/>
                <a:sym typeface="Inter"/>
              </a:rPr>
              <a:t>Are successes of the method one-offs or can they be repeated?</a:t>
            </a:r>
            <a:endParaRPr b="0" i="0" sz="8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p:nvPr/>
        </p:nvSpPr>
        <p:spPr>
          <a:xfrm>
            <a:off x="341850" y="781922"/>
            <a:ext cx="8602800" cy="12597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00"/>
              <a:buFont typeface="DM Sans"/>
              <a:buNone/>
            </a:pPr>
            <a:r>
              <a:rPr lang="en" sz="1200" u="sng">
                <a:solidFill>
                  <a:schemeClr val="dk1"/>
                </a:solidFill>
                <a:latin typeface="Inter"/>
                <a:ea typeface="Inter"/>
                <a:cs typeface="Inter"/>
                <a:sym typeface="Inter"/>
              </a:rPr>
              <a:t>AI Research Workbench</a:t>
            </a:r>
            <a:r>
              <a:rPr lang="en" sz="1200">
                <a:solidFill>
                  <a:schemeClr val="dk1"/>
                </a:solidFill>
                <a:latin typeface="Inter"/>
                <a:ea typeface="Inter"/>
                <a:cs typeface="Inter"/>
                <a:sym typeface="Inter"/>
              </a:rPr>
              <a:t> for composing and executing </a:t>
            </a:r>
            <a:r>
              <a:rPr i="1" lang="en" sz="1200">
                <a:solidFill>
                  <a:schemeClr val="dk1"/>
                </a:solidFill>
                <a:latin typeface="Inter"/>
                <a:ea typeface="Inter"/>
                <a:cs typeface="Inter"/>
                <a:sym typeface="Inter"/>
              </a:rPr>
              <a:t>computational graphs with instruction-based state transitions.</a:t>
            </a:r>
            <a:br>
              <a:rPr i="1" lang="en" sz="1200">
                <a:solidFill>
                  <a:schemeClr val="dk1"/>
                </a:solidFill>
                <a:latin typeface="Inter"/>
                <a:ea typeface="Inter"/>
                <a:cs typeface="Inter"/>
                <a:sym typeface="Inter"/>
              </a:rPr>
            </a:br>
            <a:endParaRPr i="1" sz="300">
              <a:solidFill>
                <a:schemeClr val="dk1"/>
              </a:solidFill>
              <a:latin typeface="Inter"/>
              <a:ea typeface="Inter"/>
              <a:cs typeface="Inter"/>
              <a:sym typeface="Inter"/>
            </a:endParaRPr>
          </a:p>
          <a:p>
            <a:pPr indent="-298450" lvl="0" marL="457200" rtl="0" algn="l">
              <a:lnSpc>
                <a:spcPct val="124137"/>
              </a:lnSpc>
              <a:spcBef>
                <a:spcPts val="0"/>
              </a:spcBef>
              <a:spcAft>
                <a:spcPts val="0"/>
              </a:spcAft>
              <a:buClr>
                <a:schemeClr val="dk1"/>
              </a:buClr>
              <a:buSzPts val="1100"/>
              <a:buFont typeface="Inter"/>
              <a:buChar char="●"/>
            </a:pPr>
            <a:r>
              <a:rPr b="1" lang="en" sz="1100">
                <a:solidFill>
                  <a:schemeClr val="dk1"/>
                </a:solidFill>
                <a:latin typeface="Inter"/>
                <a:ea typeface="Inter"/>
                <a:cs typeface="Inter"/>
                <a:sym typeface="Inter"/>
              </a:rPr>
              <a:t>E</a:t>
            </a:r>
            <a:r>
              <a:rPr b="1" lang="en" sz="1100">
                <a:solidFill>
                  <a:schemeClr val="dk1"/>
                </a:solidFill>
                <a:latin typeface="Inter"/>
                <a:ea typeface="Inter"/>
                <a:cs typeface="Inter"/>
                <a:sym typeface="Inter"/>
              </a:rPr>
              <a:t>nables structured workflows for modeling experimental designs, research pipelines, and analytic processes.</a:t>
            </a:r>
            <a:endParaRPr b="1" sz="1100">
              <a:solidFill>
                <a:schemeClr val="dk1"/>
              </a:solidFill>
              <a:latin typeface="Inter"/>
              <a:ea typeface="Inter"/>
              <a:cs typeface="Inter"/>
              <a:sym typeface="Inter"/>
            </a:endParaRPr>
          </a:p>
          <a:p>
            <a:pPr indent="-298450" lvl="0" marL="457200" marR="0" rtl="0" algn="l">
              <a:lnSpc>
                <a:spcPct val="124137"/>
              </a:lnSpc>
              <a:spcBef>
                <a:spcPts val="0"/>
              </a:spcBef>
              <a:spcAft>
                <a:spcPts val="0"/>
              </a:spcAft>
              <a:buClr>
                <a:schemeClr val="dk1"/>
              </a:buClr>
              <a:buSzPts val="1100"/>
              <a:buChar char="●"/>
            </a:pPr>
            <a:r>
              <a:rPr lang="en" sz="1100">
                <a:solidFill>
                  <a:schemeClr val="dk1"/>
                </a:solidFill>
                <a:latin typeface="Inter"/>
                <a:ea typeface="Inter"/>
                <a:cs typeface="Inter"/>
                <a:sym typeface="Inter"/>
              </a:rPr>
              <a:t>Modular architecture </a:t>
            </a:r>
            <a:r>
              <a:rPr b="1" lang="en" sz="1100">
                <a:solidFill>
                  <a:schemeClr val="dk1"/>
                </a:solidFill>
                <a:latin typeface="Inter"/>
                <a:ea typeface="Inter"/>
                <a:cs typeface="Inter"/>
                <a:sym typeface="Inter"/>
              </a:rPr>
              <a:t>allows instructions to invoke code, query data, or AI models </a:t>
            </a:r>
            <a:r>
              <a:rPr lang="en" sz="1100">
                <a:solidFill>
                  <a:schemeClr val="dk1"/>
                </a:solidFill>
                <a:latin typeface="Inter"/>
                <a:ea typeface="Inter"/>
                <a:cs typeface="Inter"/>
                <a:sym typeface="Inter"/>
              </a:rPr>
              <a:t>at scale</a:t>
            </a:r>
            <a:r>
              <a:rPr lang="en" sz="1100">
                <a:solidFill>
                  <a:schemeClr val="dk1"/>
                </a:solidFill>
                <a:latin typeface="Inter"/>
                <a:ea typeface="Inter"/>
                <a:cs typeface="Inter"/>
                <a:sym typeface="Inter"/>
              </a:rPr>
              <a:t>.</a:t>
            </a:r>
            <a:endParaRPr sz="1100">
              <a:solidFill>
                <a:schemeClr val="dk1"/>
              </a:solidFill>
              <a:latin typeface="Inter"/>
              <a:ea typeface="Inter"/>
              <a:cs typeface="Inter"/>
              <a:sym typeface="Inter"/>
            </a:endParaRPr>
          </a:p>
          <a:p>
            <a:pPr indent="-298450" lvl="0" marL="457200" marR="0" rtl="0" algn="l">
              <a:lnSpc>
                <a:spcPct val="124137"/>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Each graph node transforms an input state into a versioned, immutable output state, producing workflow graphs that </a:t>
            </a:r>
            <a:r>
              <a:rPr i="1" lang="en" sz="1100">
                <a:solidFill>
                  <a:schemeClr val="dk1"/>
                </a:solidFill>
                <a:latin typeface="Inter"/>
                <a:ea typeface="Inter"/>
                <a:cs typeface="Inter"/>
                <a:sym typeface="Inter"/>
              </a:rPr>
              <a:t>conceptually</a:t>
            </a:r>
            <a:r>
              <a:rPr lang="en" sz="1100">
                <a:solidFill>
                  <a:schemeClr val="dk1"/>
                </a:solidFill>
                <a:latin typeface="Inter"/>
                <a:ea typeface="Inter"/>
                <a:cs typeface="Inter"/>
                <a:sym typeface="Inter"/>
              </a:rPr>
              <a:t> </a:t>
            </a:r>
            <a:r>
              <a:rPr i="1" lang="en" sz="1100">
                <a:solidFill>
                  <a:schemeClr val="dk1"/>
                </a:solidFill>
                <a:latin typeface="Inter"/>
                <a:ea typeface="Inter"/>
                <a:cs typeface="Inter"/>
                <a:sym typeface="Inter"/>
              </a:rPr>
              <a:t>model</a:t>
            </a:r>
            <a:r>
              <a:rPr lang="en" sz="1100">
                <a:solidFill>
                  <a:schemeClr val="dk1"/>
                </a:solidFill>
                <a:latin typeface="Inter"/>
                <a:ea typeface="Inter"/>
                <a:cs typeface="Inter"/>
                <a:sym typeface="Inter"/>
              </a:rPr>
              <a:t> analytic processes and are </a:t>
            </a:r>
            <a:r>
              <a:rPr i="1" lang="en" sz="1100">
                <a:solidFill>
                  <a:schemeClr val="dk1"/>
                </a:solidFill>
                <a:latin typeface="Inter"/>
                <a:ea typeface="Inter"/>
                <a:cs typeface="Inter"/>
                <a:sym typeface="Inter"/>
              </a:rPr>
              <a:t>computationally</a:t>
            </a:r>
            <a:r>
              <a:rPr lang="en" sz="1100">
                <a:solidFill>
                  <a:schemeClr val="dk1"/>
                </a:solidFill>
                <a:latin typeface="Inter"/>
                <a:ea typeface="Inter"/>
                <a:cs typeface="Inter"/>
                <a:sym typeface="Inter"/>
              </a:rPr>
              <a:t> </a:t>
            </a:r>
            <a:r>
              <a:rPr i="1" lang="en" sz="1100">
                <a:solidFill>
                  <a:schemeClr val="dk1"/>
                </a:solidFill>
                <a:latin typeface="Inter"/>
                <a:ea typeface="Inter"/>
                <a:cs typeface="Inter"/>
                <a:sym typeface="Inter"/>
              </a:rPr>
              <a:t>executable</a:t>
            </a:r>
            <a:r>
              <a:rPr lang="en" sz="1100">
                <a:solidFill>
                  <a:schemeClr val="dk1"/>
                </a:solidFill>
                <a:latin typeface="Inter"/>
                <a:ea typeface="Inter"/>
                <a:cs typeface="Inter"/>
                <a:sym typeface="Inter"/>
              </a:rPr>
              <a:t>, traceable, and auditable.</a:t>
            </a:r>
            <a:endParaRPr sz="1000">
              <a:solidFill>
                <a:srgbClr val="0000FF"/>
              </a:solidFill>
              <a:latin typeface="Inter"/>
              <a:ea typeface="Inter"/>
              <a:cs typeface="Inter"/>
              <a:sym typeface="Inter"/>
            </a:endParaRPr>
          </a:p>
        </p:txBody>
      </p:sp>
      <p:sp>
        <p:nvSpPr>
          <p:cNvPr id="224" name="Google Shape;224;p34"/>
          <p:cNvSpPr/>
          <p:nvPr/>
        </p:nvSpPr>
        <p:spPr>
          <a:xfrm>
            <a:off x="146375" y="312775"/>
            <a:ext cx="8798400" cy="332400"/>
          </a:xfrm>
          <a:prstGeom prst="rect">
            <a:avLst/>
          </a:prstGeom>
          <a:noFill/>
          <a:ln>
            <a:noFill/>
          </a:ln>
        </p:spPr>
        <p:txBody>
          <a:bodyPr anchorCtr="0" anchor="t" bIns="0" lIns="0" spcFirstLastPara="1" rIns="0" wrap="square" tIns="0">
            <a:noAutofit/>
          </a:bodyPr>
          <a:lstStyle/>
          <a:p>
            <a:pPr indent="0" lvl="0" marL="0" rtl="0" algn="l">
              <a:lnSpc>
                <a:spcPct val="124137"/>
              </a:lnSpc>
              <a:spcBef>
                <a:spcPts val="0"/>
              </a:spcBef>
              <a:spcAft>
                <a:spcPts val="0"/>
              </a:spcAft>
              <a:buClr>
                <a:srgbClr val="161613"/>
              </a:buClr>
              <a:buSzPts val="1800"/>
              <a:buFont typeface="DM Sans"/>
              <a:buNone/>
            </a:pPr>
            <a:r>
              <a:rPr lang="en" sz="1600">
                <a:solidFill>
                  <a:srgbClr val="161613"/>
                </a:solidFill>
                <a:latin typeface="DM Sans"/>
                <a:ea typeface="DM Sans"/>
                <a:cs typeface="DM Sans"/>
                <a:sym typeface="DM Sans"/>
              </a:rPr>
              <a:t>Alethic-ISM as Platform for Constructing &amp; Executing Synthetic Experiments</a:t>
            </a:r>
            <a:endParaRPr sz="1600">
              <a:solidFill>
                <a:schemeClr val="dk1"/>
              </a:solidFill>
            </a:endParaRPr>
          </a:p>
          <a:p>
            <a:pPr indent="0" lvl="0" marL="0" marR="0" rtl="0" algn="l">
              <a:lnSpc>
                <a:spcPct val="125757"/>
              </a:lnSpc>
              <a:spcBef>
                <a:spcPts val="0"/>
              </a:spcBef>
              <a:spcAft>
                <a:spcPts val="0"/>
              </a:spcAft>
              <a:buClr>
                <a:srgbClr val="161613"/>
              </a:buClr>
              <a:buSzPts val="2100"/>
              <a:buFont typeface="DM Sans"/>
              <a:buNone/>
            </a:pPr>
            <a:r>
              <a:t/>
            </a:r>
            <a:endParaRPr sz="1600">
              <a:solidFill>
                <a:srgbClr val="161613"/>
              </a:solidFill>
              <a:latin typeface="DM Sans"/>
              <a:ea typeface="DM Sans"/>
              <a:cs typeface="DM Sans"/>
              <a:sym typeface="DM Sans"/>
            </a:endParaRPr>
          </a:p>
        </p:txBody>
      </p:sp>
      <p:pic>
        <p:nvPicPr>
          <p:cNvPr id="225" name="Google Shape;225;p34" title="sg.gif"/>
          <p:cNvPicPr preferRelativeResize="0"/>
          <p:nvPr/>
        </p:nvPicPr>
        <p:blipFill rotWithShape="1">
          <a:blip r:embed="rId3">
            <a:alphaModFix/>
          </a:blip>
          <a:srcRect b="0" l="3679" r="0" t="0"/>
          <a:stretch/>
        </p:blipFill>
        <p:spPr>
          <a:xfrm>
            <a:off x="341850" y="2076050"/>
            <a:ext cx="5112949" cy="2983675"/>
          </a:xfrm>
          <a:prstGeom prst="rect">
            <a:avLst/>
          </a:prstGeom>
          <a:noFill/>
          <a:ln>
            <a:noFill/>
          </a:ln>
        </p:spPr>
      </p:pic>
      <p:sp>
        <p:nvSpPr>
          <p:cNvPr id="226" name="Google Shape;226;p34"/>
          <p:cNvSpPr txBox="1"/>
          <p:nvPr/>
        </p:nvSpPr>
        <p:spPr>
          <a:xfrm>
            <a:off x="5708375" y="4567100"/>
            <a:ext cx="3477000" cy="546300"/>
          </a:xfrm>
          <a:prstGeom prst="rect">
            <a:avLst/>
          </a:prstGeom>
          <a:noFill/>
          <a:ln>
            <a:noFill/>
          </a:ln>
        </p:spPr>
        <p:txBody>
          <a:bodyPr anchorCtr="0" anchor="t" bIns="91425" lIns="91425" spcFirstLastPara="1" rIns="91425" wrap="square" tIns="91425">
            <a:spAutoFit/>
          </a:bodyPr>
          <a:lstStyle/>
          <a:p>
            <a:pPr indent="0" lvl="0" marL="0" rtl="0" algn="r">
              <a:lnSpc>
                <a:spcPct val="135000"/>
              </a:lnSpc>
              <a:spcBef>
                <a:spcPts val="0"/>
              </a:spcBef>
              <a:spcAft>
                <a:spcPts val="0"/>
              </a:spcAft>
              <a:buNone/>
            </a:pPr>
            <a:r>
              <a:rPr lang="en" sz="1000">
                <a:solidFill>
                  <a:srgbClr val="0000FF"/>
                </a:solidFill>
                <a:uFill>
                  <a:noFill/>
                </a:uFill>
                <a:latin typeface="Inter"/>
                <a:ea typeface="Inter"/>
                <a:cs typeface="Inter"/>
                <a:sym typeface="Inter"/>
                <a:hlinkClick r:id="rId4">
                  <a:extLst>
                    <a:ext uri="{A12FA001-AC4F-418D-AE19-62706E023703}">
                      <ahyp:hlinkClr val="tx"/>
                    </a:ext>
                  </a:extLst>
                </a:hlinkClick>
              </a:rPr>
              <a:t>github.com/alethicresearch/alethic-ism</a:t>
            </a:r>
            <a:br>
              <a:rPr lang="en" sz="950">
                <a:latin typeface="Inter"/>
                <a:ea typeface="Inter"/>
                <a:cs typeface="Inter"/>
                <a:sym typeface="Inter"/>
              </a:rPr>
            </a:br>
            <a:r>
              <a:rPr lang="en" sz="950">
                <a:latin typeface="Inter"/>
                <a:ea typeface="Inter"/>
                <a:cs typeface="Inter"/>
                <a:sym typeface="Inter"/>
              </a:rPr>
              <a:t> </a:t>
            </a:r>
            <a:r>
              <a:rPr lang="en" sz="850">
                <a:latin typeface="Inter"/>
                <a:ea typeface="Inter"/>
                <a:cs typeface="Inter"/>
                <a:sym typeface="Inter"/>
              </a:rPr>
              <a:t>→</a:t>
            </a:r>
            <a:r>
              <a:rPr lang="en" sz="950">
                <a:latin typeface="Inter"/>
                <a:ea typeface="Inter"/>
                <a:cs typeface="Inter"/>
                <a:sym typeface="Inter"/>
              </a:rPr>
              <a:t> </a:t>
            </a:r>
            <a:r>
              <a:rPr i="1" lang="en" sz="1000">
                <a:latin typeface="Inter"/>
                <a:ea typeface="Inter"/>
                <a:cs typeface="Inter"/>
                <a:sym typeface="Inter"/>
              </a:rPr>
              <a:t>research@alethic.ai</a:t>
            </a:r>
            <a:endParaRPr i="1" sz="1000">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p:nvPr/>
        </p:nvSpPr>
        <p:spPr>
          <a:xfrm>
            <a:off x="341850" y="781922"/>
            <a:ext cx="8602800" cy="12597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00"/>
              <a:buFont typeface="DM Sans"/>
              <a:buNone/>
            </a:pPr>
            <a:r>
              <a:rPr lang="en" sz="1200" u="sng">
                <a:solidFill>
                  <a:schemeClr val="dk1"/>
                </a:solidFill>
                <a:latin typeface="Inter"/>
                <a:ea typeface="Inter"/>
                <a:cs typeface="Inter"/>
                <a:sym typeface="Inter"/>
              </a:rPr>
              <a:t>AI Research Workbench</a:t>
            </a:r>
            <a:r>
              <a:rPr lang="en" sz="1200">
                <a:solidFill>
                  <a:schemeClr val="dk1"/>
                </a:solidFill>
                <a:latin typeface="Inter"/>
                <a:ea typeface="Inter"/>
                <a:cs typeface="Inter"/>
                <a:sym typeface="Inter"/>
              </a:rPr>
              <a:t> for composing and executing </a:t>
            </a:r>
            <a:r>
              <a:rPr i="1" lang="en" sz="1200">
                <a:solidFill>
                  <a:schemeClr val="dk1"/>
                </a:solidFill>
                <a:latin typeface="Inter"/>
                <a:ea typeface="Inter"/>
                <a:cs typeface="Inter"/>
                <a:sym typeface="Inter"/>
              </a:rPr>
              <a:t>computational graphs with instruction-based state transitions.</a:t>
            </a:r>
            <a:br>
              <a:rPr i="1" lang="en" sz="1200">
                <a:solidFill>
                  <a:schemeClr val="dk1"/>
                </a:solidFill>
                <a:latin typeface="Inter"/>
                <a:ea typeface="Inter"/>
                <a:cs typeface="Inter"/>
                <a:sym typeface="Inter"/>
              </a:rPr>
            </a:br>
            <a:endParaRPr i="1" sz="300">
              <a:solidFill>
                <a:schemeClr val="dk1"/>
              </a:solidFill>
              <a:latin typeface="Inter"/>
              <a:ea typeface="Inter"/>
              <a:cs typeface="Inter"/>
              <a:sym typeface="Inter"/>
            </a:endParaRPr>
          </a:p>
          <a:p>
            <a:pPr indent="-298450" lvl="0" marL="457200" rtl="0" algn="l">
              <a:lnSpc>
                <a:spcPct val="124137"/>
              </a:lnSpc>
              <a:spcBef>
                <a:spcPts val="0"/>
              </a:spcBef>
              <a:spcAft>
                <a:spcPts val="0"/>
              </a:spcAft>
              <a:buClr>
                <a:schemeClr val="dk1"/>
              </a:buClr>
              <a:buSzPts val="1100"/>
              <a:buFont typeface="Inter"/>
              <a:buChar char="●"/>
            </a:pPr>
            <a:r>
              <a:rPr b="1" lang="en" sz="1100">
                <a:solidFill>
                  <a:schemeClr val="dk1"/>
                </a:solidFill>
                <a:latin typeface="Inter"/>
                <a:ea typeface="Inter"/>
                <a:cs typeface="Inter"/>
                <a:sym typeface="Inter"/>
              </a:rPr>
              <a:t>Enables structured workflows for modeling experimental designs, research pipelines, and analytic processes.</a:t>
            </a:r>
            <a:endParaRPr b="1" sz="1100">
              <a:solidFill>
                <a:schemeClr val="dk1"/>
              </a:solidFill>
              <a:latin typeface="Inter"/>
              <a:ea typeface="Inter"/>
              <a:cs typeface="Inter"/>
              <a:sym typeface="Inter"/>
            </a:endParaRPr>
          </a:p>
          <a:p>
            <a:pPr indent="-298450" lvl="0" marL="457200" marR="0" rtl="0" algn="l">
              <a:lnSpc>
                <a:spcPct val="124137"/>
              </a:lnSpc>
              <a:spcBef>
                <a:spcPts val="0"/>
              </a:spcBef>
              <a:spcAft>
                <a:spcPts val="0"/>
              </a:spcAft>
              <a:buClr>
                <a:schemeClr val="dk1"/>
              </a:buClr>
              <a:buSzPts val="1100"/>
              <a:buChar char="●"/>
            </a:pPr>
            <a:r>
              <a:rPr lang="en" sz="1100">
                <a:solidFill>
                  <a:schemeClr val="dk1"/>
                </a:solidFill>
                <a:latin typeface="Inter"/>
                <a:ea typeface="Inter"/>
                <a:cs typeface="Inter"/>
                <a:sym typeface="Inter"/>
              </a:rPr>
              <a:t>Modular architecture </a:t>
            </a:r>
            <a:r>
              <a:rPr b="1" lang="en" sz="1100">
                <a:solidFill>
                  <a:schemeClr val="dk1"/>
                </a:solidFill>
                <a:latin typeface="Inter"/>
                <a:ea typeface="Inter"/>
                <a:cs typeface="Inter"/>
                <a:sym typeface="Inter"/>
              </a:rPr>
              <a:t>allows instructions to invoke code, query data, or AI models </a:t>
            </a:r>
            <a:r>
              <a:rPr lang="en" sz="1100">
                <a:solidFill>
                  <a:schemeClr val="dk1"/>
                </a:solidFill>
                <a:latin typeface="Inter"/>
                <a:ea typeface="Inter"/>
                <a:cs typeface="Inter"/>
                <a:sym typeface="Inter"/>
              </a:rPr>
              <a:t>at scale.</a:t>
            </a:r>
            <a:endParaRPr sz="1100">
              <a:solidFill>
                <a:schemeClr val="dk1"/>
              </a:solidFill>
              <a:latin typeface="Inter"/>
              <a:ea typeface="Inter"/>
              <a:cs typeface="Inter"/>
              <a:sym typeface="Inter"/>
            </a:endParaRPr>
          </a:p>
          <a:p>
            <a:pPr indent="-298450" lvl="0" marL="457200" marR="0" rtl="0" algn="l">
              <a:lnSpc>
                <a:spcPct val="124137"/>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Each graph node transforms an input state into a versioned, immutable output state, producing workflow graphs that </a:t>
            </a:r>
            <a:r>
              <a:rPr i="1" lang="en" sz="1100">
                <a:solidFill>
                  <a:schemeClr val="dk1"/>
                </a:solidFill>
                <a:latin typeface="Inter"/>
                <a:ea typeface="Inter"/>
                <a:cs typeface="Inter"/>
                <a:sym typeface="Inter"/>
              </a:rPr>
              <a:t>conceptually</a:t>
            </a:r>
            <a:r>
              <a:rPr lang="en" sz="1100">
                <a:solidFill>
                  <a:schemeClr val="dk1"/>
                </a:solidFill>
                <a:latin typeface="Inter"/>
                <a:ea typeface="Inter"/>
                <a:cs typeface="Inter"/>
                <a:sym typeface="Inter"/>
              </a:rPr>
              <a:t> </a:t>
            </a:r>
            <a:r>
              <a:rPr i="1" lang="en" sz="1100">
                <a:solidFill>
                  <a:schemeClr val="dk1"/>
                </a:solidFill>
                <a:latin typeface="Inter"/>
                <a:ea typeface="Inter"/>
                <a:cs typeface="Inter"/>
                <a:sym typeface="Inter"/>
              </a:rPr>
              <a:t>model</a:t>
            </a:r>
            <a:r>
              <a:rPr lang="en" sz="1100">
                <a:solidFill>
                  <a:schemeClr val="dk1"/>
                </a:solidFill>
                <a:latin typeface="Inter"/>
                <a:ea typeface="Inter"/>
                <a:cs typeface="Inter"/>
                <a:sym typeface="Inter"/>
              </a:rPr>
              <a:t> analytic processes and are </a:t>
            </a:r>
            <a:r>
              <a:rPr i="1" lang="en" sz="1100">
                <a:solidFill>
                  <a:schemeClr val="dk1"/>
                </a:solidFill>
                <a:latin typeface="Inter"/>
                <a:ea typeface="Inter"/>
                <a:cs typeface="Inter"/>
                <a:sym typeface="Inter"/>
              </a:rPr>
              <a:t>computationally</a:t>
            </a:r>
            <a:r>
              <a:rPr lang="en" sz="1100">
                <a:solidFill>
                  <a:schemeClr val="dk1"/>
                </a:solidFill>
                <a:latin typeface="Inter"/>
                <a:ea typeface="Inter"/>
                <a:cs typeface="Inter"/>
                <a:sym typeface="Inter"/>
              </a:rPr>
              <a:t> </a:t>
            </a:r>
            <a:r>
              <a:rPr i="1" lang="en" sz="1100">
                <a:solidFill>
                  <a:schemeClr val="dk1"/>
                </a:solidFill>
                <a:latin typeface="Inter"/>
                <a:ea typeface="Inter"/>
                <a:cs typeface="Inter"/>
                <a:sym typeface="Inter"/>
              </a:rPr>
              <a:t>executable</a:t>
            </a:r>
            <a:r>
              <a:rPr lang="en" sz="1100">
                <a:solidFill>
                  <a:schemeClr val="dk1"/>
                </a:solidFill>
                <a:latin typeface="Inter"/>
                <a:ea typeface="Inter"/>
                <a:cs typeface="Inter"/>
                <a:sym typeface="Inter"/>
              </a:rPr>
              <a:t>, traceable, and auditable.</a:t>
            </a:r>
            <a:endParaRPr sz="1000">
              <a:solidFill>
                <a:srgbClr val="0000FF"/>
              </a:solidFill>
              <a:latin typeface="Inter"/>
              <a:ea typeface="Inter"/>
              <a:cs typeface="Inter"/>
              <a:sym typeface="Inter"/>
            </a:endParaRPr>
          </a:p>
        </p:txBody>
      </p:sp>
      <p:sp>
        <p:nvSpPr>
          <p:cNvPr id="233" name="Google Shape;233;p35"/>
          <p:cNvSpPr/>
          <p:nvPr/>
        </p:nvSpPr>
        <p:spPr>
          <a:xfrm>
            <a:off x="146375" y="312775"/>
            <a:ext cx="8798400" cy="332400"/>
          </a:xfrm>
          <a:prstGeom prst="rect">
            <a:avLst/>
          </a:prstGeom>
          <a:noFill/>
          <a:ln>
            <a:noFill/>
          </a:ln>
        </p:spPr>
        <p:txBody>
          <a:bodyPr anchorCtr="0" anchor="t" bIns="0" lIns="0" spcFirstLastPara="1" rIns="0" wrap="square" tIns="0">
            <a:noAutofit/>
          </a:bodyPr>
          <a:lstStyle/>
          <a:p>
            <a:pPr indent="0" lvl="0" marL="0" rtl="0" algn="l">
              <a:lnSpc>
                <a:spcPct val="124137"/>
              </a:lnSpc>
              <a:spcBef>
                <a:spcPts val="0"/>
              </a:spcBef>
              <a:spcAft>
                <a:spcPts val="0"/>
              </a:spcAft>
              <a:buClr>
                <a:srgbClr val="161613"/>
              </a:buClr>
              <a:buSzPts val="1800"/>
              <a:buFont typeface="DM Sans"/>
              <a:buNone/>
            </a:pPr>
            <a:r>
              <a:rPr lang="en" sz="1600">
                <a:solidFill>
                  <a:srgbClr val="161613"/>
                </a:solidFill>
                <a:latin typeface="DM Sans"/>
                <a:ea typeface="DM Sans"/>
                <a:cs typeface="DM Sans"/>
                <a:sym typeface="DM Sans"/>
              </a:rPr>
              <a:t>Alethic-ISM as Platform for Constructing &amp; Executing Synthetic Experiments</a:t>
            </a:r>
            <a:endParaRPr sz="1600">
              <a:solidFill>
                <a:schemeClr val="dk1"/>
              </a:solidFill>
            </a:endParaRPr>
          </a:p>
          <a:p>
            <a:pPr indent="0" lvl="0" marL="0" marR="0" rtl="0" algn="l">
              <a:lnSpc>
                <a:spcPct val="125757"/>
              </a:lnSpc>
              <a:spcBef>
                <a:spcPts val="0"/>
              </a:spcBef>
              <a:spcAft>
                <a:spcPts val="0"/>
              </a:spcAft>
              <a:buClr>
                <a:srgbClr val="161613"/>
              </a:buClr>
              <a:buSzPts val="2100"/>
              <a:buFont typeface="DM Sans"/>
              <a:buNone/>
            </a:pPr>
            <a:r>
              <a:t/>
            </a:r>
            <a:endParaRPr sz="1600">
              <a:solidFill>
                <a:srgbClr val="161613"/>
              </a:solidFill>
              <a:latin typeface="DM Sans"/>
              <a:ea typeface="DM Sans"/>
              <a:cs typeface="DM Sans"/>
              <a:sym typeface="DM Sans"/>
            </a:endParaRPr>
          </a:p>
        </p:txBody>
      </p:sp>
      <p:pic>
        <p:nvPicPr>
          <p:cNvPr id="234" name="Google Shape;234;p35" title="sg.gif"/>
          <p:cNvPicPr preferRelativeResize="0"/>
          <p:nvPr/>
        </p:nvPicPr>
        <p:blipFill rotWithShape="1">
          <a:blip r:embed="rId3">
            <a:alphaModFix/>
          </a:blip>
          <a:srcRect b="0" l="3679" r="0" t="0"/>
          <a:stretch/>
        </p:blipFill>
        <p:spPr>
          <a:xfrm>
            <a:off x="341850" y="2076050"/>
            <a:ext cx="5112949" cy="2983675"/>
          </a:xfrm>
          <a:prstGeom prst="rect">
            <a:avLst/>
          </a:prstGeom>
          <a:noFill/>
          <a:ln>
            <a:noFill/>
          </a:ln>
        </p:spPr>
      </p:pic>
      <p:sp>
        <p:nvSpPr>
          <p:cNvPr id="235" name="Google Shape;235;p35"/>
          <p:cNvSpPr txBox="1"/>
          <p:nvPr/>
        </p:nvSpPr>
        <p:spPr>
          <a:xfrm>
            <a:off x="5708375" y="4567100"/>
            <a:ext cx="3477000" cy="546300"/>
          </a:xfrm>
          <a:prstGeom prst="rect">
            <a:avLst/>
          </a:prstGeom>
          <a:noFill/>
          <a:ln>
            <a:noFill/>
          </a:ln>
        </p:spPr>
        <p:txBody>
          <a:bodyPr anchorCtr="0" anchor="t" bIns="91425" lIns="91425" spcFirstLastPara="1" rIns="91425" wrap="square" tIns="91425">
            <a:spAutoFit/>
          </a:bodyPr>
          <a:lstStyle/>
          <a:p>
            <a:pPr indent="0" lvl="0" marL="0" rtl="0" algn="r">
              <a:lnSpc>
                <a:spcPct val="135000"/>
              </a:lnSpc>
              <a:spcBef>
                <a:spcPts val="0"/>
              </a:spcBef>
              <a:spcAft>
                <a:spcPts val="0"/>
              </a:spcAft>
              <a:buNone/>
            </a:pPr>
            <a:r>
              <a:rPr lang="en" sz="1000">
                <a:solidFill>
                  <a:srgbClr val="0000FF"/>
                </a:solidFill>
                <a:uFill>
                  <a:noFill/>
                </a:uFill>
                <a:latin typeface="Inter"/>
                <a:ea typeface="Inter"/>
                <a:cs typeface="Inter"/>
                <a:sym typeface="Inter"/>
                <a:hlinkClick r:id="rId4">
                  <a:extLst>
                    <a:ext uri="{A12FA001-AC4F-418D-AE19-62706E023703}">
                      <ahyp:hlinkClr val="tx"/>
                    </a:ext>
                  </a:extLst>
                </a:hlinkClick>
              </a:rPr>
              <a:t>g</a:t>
            </a:r>
            <a:r>
              <a:rPr lang="en" sz="1000">
                <a:solidFill>
                  <a:srgbClr val="0000FF"/>
                </a:solidFill>
                <a:uFill>
                  <a:noFill/>
                </a:uFill>
                <a:latin typeface="Inter"/>
                <a:ea typeface="Inter"/>
                <a:cs typeface="Inter"/>
                <a:sym typeface="Inter"/>
                <a:hlinkClick r:id="rId5">
                  <a:extLst>
                    <a:ext uri="{A12FA001-AC4F-418D-AE19-62706E023703}">
                      <ahyp:hlinkClr val="tx"/>
                    </a:ext>
                  </a:extLst>
                </a:hlinkClick>
              </a:rPr>
              <a:t>ithub.com/alethicresearch/alethic-ism</a:t>
            </a:r>
            <a:br>
              <a:rPr lang="en" sz="950">
                <a:latin typeface="Inter"/>
                <a:ea typeface="Inter"/>
                <a:cs typeface="Inter"/>
                <a:sym typeface="Inter"/>
              </a:rPr>
            </a:br>
            <a:r>
              <a:rPr lang="en" sz="950">
                <a:latin typeface="Inter"/>
                <a:ea typeface="Inter"/>
                <a:cs typeface="Inter"/>
                <a:sym typeface="Inter"/>
              </a:rPr>
              <a:t> </a:t>
            </a:r>
            <a:r>
              <a:rPr lang="en" sz="850">
                <a:latin typeface="Inter"/>
                <a:ea typeface="Inter"/>
                <a:cs typeface="Inter"/>
                <a:sym typeface="Inter"/>
              </a:rPr>
              <a:t>→</a:t>
            </a:r>
            <a:r>
              <a:rPr lang="en" sz="950">
                <a:latin typeface="Inter"/>
                <a:ea typeface="Inter"/>
                <a:cs typeface="Inter"/>
                <a:sym typeface="Inter"/>
              </a:rPr>
              <a:t> </a:t>
            </a:r>
            <a:r>
              <a:rPr i="1" lang="en" sz="1000">
                <a:latin typeface="Inter"/>
                <a:ea typeface="Inter"/>
                <a:cs typeface="Inter"/>
                <a:sym typeface="Inter"/>
              </a:rPr>
              <a:t>research@alethic.ai</a:t>
            </a:r>
            <a:endParaRPr i="1" sz="1000">
              <a:latin typeface="Inter"/>
              <a:ea typeface="Inter"/>
              <a:cs typeface="Inter"/>
              <a:sym typeface="Inter"/>
            </a:endParaRPr>
          </a:p>
        </p:txBody>
      </p:sp>
      <p:pic>
        <p:nvPicPr>
          <p:cNvPr id="236" name="Google Shape;236;p35" title="ism-studio-v8.png"/>
          <p:cNvPicPr preferRelativeResize="0"/>
          <p:nvPr/>
        </p:nvPicPr>
        <p:blipFill>
          <a:blip r:embed="rId6">
            <a:alphaModFix/>
          </a:blip>
          <a:stretch>
            <a:fillRect/>
          </a:stretch>
        </p:blipFill>
        <p:spPr>
          <a:xfrm>
            <a:off x="5607199" y="2076047"/>
            <a:ext cx="3384402" cy="21879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p:nvPr/>
        </p:nvSpPr>
        <p:spPr>
          <a:xfrm>
            <a:off x="496137" y="975071"/>
            <a:ext cx="21345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300" u="sng" cap="none" strike="noStrike">
                <a:solidFill>
                  <a:srgbClr val="161613"/>
                </a:solidFill>
                <a:latin typeface="DM Sans"/>
                <a:ea typeface="DM Sans"/>
                <a:cs typeface="DM Sans"/>
                <a:sym typeface="DM Sans"/>
              </a:rPr>
              <a:t>Study 1</a:t>
            </a:r>
            <a:endParaRPr b="0" i="0" sz="1300" u="sng" cap="none" strike="noStrike"/>
          </a:p>
        </p:txBody>
      </p:sp>
      <p:sp>
        <p:nvSpPr>
          <p:cNvPr id="243" name="Google Shape;243;p36"/>
          <p:cNvSpPr/>
          <p:nvPr/>
        </p:nvSpPr>
        <p:spPr>
          <a:xfrm>
            <a:off x="496125" y="1333846"/>
            <a:ext cx="3719100" cy="857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61613"/>
              </a:buClr>
              <a:buSzPts val="1100"/>
              <a:buFont typeface="Inter"/>
              <a:buNone/>
            </a:pPr>
            <a:r>
              <a:rPr lang="en" sz="1200">
                <a:solidFill>
                  <a:srgbClr val="161613"/>
                </a:solidFill>
                <a:latin typeface="Inter"/>
                <a:ea typeface="Inter"/>
                <a:cs typeface="Inter"/>
                <a:sym typeface="Inter"/>
              </a:rPr>
              <a:t>Aldy, J. E., Kotchen, M. J., &amp; Leiserowitz, A. A. (2012). </a:t>
            </a:r>
            <a:r>
              <a:rPr b="1" lang="en" sz="1200">
                <a:solidFill>
                  <a:srgbClr val="161613"/>
                </a:solidFill>
                <a:latin typeface="Inter"/>
                <a:ea typeface="Inter"/>
                <a:cs typeface="Inter"/>
                <a:sym typeface="Inter"/>
              </a:rPr>
              <a:t>Willingness to pay and political support for a US national clean energy standard.</a:t>
            </a:r>
            <a:br>
              <a:rPr lang="en" sz="1200">
                <a:solidFill>
                  <a:srgbClr val="161613"/>
                </a:solidFill>
                <a:latin typeface="Inter"/>
                <a:ea typeface="Inter"/>
                <a:cs typeface="Inter"/>
                <a:sym typeface="Inter"/>
              </a:rPr>
            </a:br>
            <a:r>
              <a:rPr i="1" lang="en" sz="1200">
                <a:solidFill>
                  <a:srgbClr val="161613"/>
                </a:solidFill>
                <a:latin typeface="Inter"/>
                <a:ea typeface="Inter"/>
                <a:cs typeface="Inter"/>
                <a:sym typeface="Inter"/>
              </a:rPr>
              <a:t>Nature Climate Change</a:t>
            </a:r>
            <a:r>
              <a:rPr lang="en" sz="1200">
                <a:solidFill>
                  <a:srgbClr val="161613"/>
                </a:solidFill>
                <a:latin typeface="Inter"/>
                <a:ea typeface="Inter"/>
                <a:cs typeface="Inter"/>
                <a:sym typeface="Inter"/>
              </a:rPr>
              <a:t>, 2(8), 596-599.</a:t>
            </a:r>
            <a:endParaRPr i="0" sz="1200" u="none" cap="none" strike="noStrike"/>
          </a:p>
        </p:txBody>
      </p:sp>
      <p:sp>
        <p:nvSpPr>
          <p:cNvPr id="244" name="Google Shape;244;p36"/>
          <p:cNvSpPr/>
          <p:nvPr/>
        </p:nvSpPr>
        <p:spPr>
          <a:xfrm>
            <a:off x="4870413" y="975071"/>
            <a:ext cx="21813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300" u="sng" cap="none" strike="noStrike">
                <a:solidFill>
                  <a:srgbClr val="161613"/>
                </a:solidFill>
                <a:latin typeface="DM Sans"/>
                <a:ea typeface="DM Sans"/>
                <a:cs typeface="DM Sans"/>
                <a:sym typeface="DM Sans"/>
              </a:rPr>
              <a:t>Study 2</a:t>
            </a:r>
            <a:endParaRPr b="0" i="0" sz="1300" u="sng" cap="none" strike="noStrike"/>
          </a:p>
        </p:txBody>
      </p:sp>
      <p:sp>
        <p:nvSpPr>
          <p:cNvPr id="245" name="Google Shape;245;p36"/>
          <p:cNvSpPr/>
          <p:nvPr/>
        </p:nvSpPr>
        <p:spPr>
          <a:xfrm>
            <a:off x="4870425" y="1338271"/>
            <a:ext cx="3936300" cy="85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Font typeface="Arial"/>
              <a:buNone/>
            </a:pPr>
            <a:r>
              <a:rPr lang="en" sz="1200">
                <a:solidFill>
                  <a:schemeClr val="dk1"/>
                </a:solidFill>
                <a:latin typeface="Inter"/>
                <a:ea typeface="Inter"/>
                <a:cs typeface="Inter"/>
                <a:sym typeface="Inter"/>
              </a:rPr>
              <a:t>Giguere, C., Moore, C., &amp; Whitehead, J. C. (2020). </a:t>
            </a:r>
            <a:r>
              <a:rPr b="1" lang="en" sz="1200">
                <a:solidFill>
                  <a:schemeClr val="dk1"/>
                </a:solidFill>
                <a:latin typeface="Inter"/>
                <a:ea typeface="Inter"/>
                <a:cs typeface="Inter"/>
                <a:sym typeface="Inter"/>
              </a:rPr>
              <a:t>Valuing hemlock woolly adelgid control in public forests: Scope effects with attribute nonattendance.</a:t>
            </a:r>
            <a:r>
              <a:rPr lang="en" sz="1200">
                <a:solidFill>
                  <a:schemeClr val="dk1"/>
                </a:solidFill>
                <a:latin typeface="Inter"/>
                <a:ea typeface="Inter"/>
                <a:cs typeface="Inter"/>
                <a:sym typeface="Inter"/>
              </a:rPr>
              <a:t> </a:t>
            </a:r>
            <a:r>
              <a:rPr i="1" lang="en" sz="1200">
                <a:solidFill>
                  <a:schemeClr val="dk1"/>
                </a:solidFill>
                <a:latin typeface="Inter"/>
                <a:ea typeface="Inter"/>
                <a:cs typeface="Inter"/>
                <a:sym typeface="Inter"/>
              </a:rPr>
              <a:t>Land Economics</a:t>
            </a:r>
            <a:r>
              <a:rPr lang="en" sz="1200">
                <a:solidFill>
                  <a:schemeClr val="dk1"/>
                </a:solidFill>
                <a:latin typeface="Inter"/>
                <a:ea typeface="Inter"/>
                <a:cs typeface="Inter"/>
                <a:sym typeface="Inter"/>
              </a:rPr>
              <a:t>, 96(1), 25-42.</a:t>
            </a:r>
            <a:endParaRPr i="0" sz="1200" u="none" cap="none" strike="noStrike">
              <a:latin typeface="Inter"/>
              <a:ea typeface="Inter"/>
              <a:cs typeface="Inter"/>
              <a:sym typeface="Inter"/>
            </a:endParaRPr>
          </a:p>
        </p:txBody>
      </p:sp>
      <p:sp>
        <p:nvSpPr>
          <p:cNvPr id="246" name="Google Shape;246;p36"/>
          <p:cNvSpPr/>
          <p:nvPr/>
        </p:nvSpPr>
        <p:spPr>
          <a:xfrm>
            <a:off x="496125" y="2644676"/>
            <a:ext cx="8310600" cy="2148000"/>
          </a:xfrm>
          <a:prstGeom prst="roundRect">
            <a:avLst>
              <a:gd fmla="val 2565" name="adj"/>
            </a:avLst>
          </a:prstGeom>
          <a:solidFill>
            <a:srgbClr val="D6D6DC"/>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47" name="Google Shape;247;p36"/>
          <p:cNvSpPr/>
          <p:nvPr/>
        </p:nvSpPr>
        <p:spPr>
          <a:xfrm>
            <a:off x="946950" y="2872219"/>
            <a:ext cx="7594800" cy="1692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Inter"/>
              <a:buNone/>
            </a:pPr>
            <a:r>
              <a:rPr b="1" i="0" lang="en" sz="1200" u="sng" cap="none" strike="noStrike">
                <a:solidFill>
                  <a:srgbClr val="000000"/>
                </a:solidFill>
                <a:latin typeface="Inter"/>
                <a:ea typeface="Inter"/>
                <a:cs typeface="Inter"/>
                <a:sym typeface="Inter"/>
              </a:rPr>
              <a:t>Goal</a:t>
            </a:r>
            <a:r>
              <a:rPr b="1" lang="en" sz="1200" u="sng">
                <a:latin typeface="Inter"/>
                <a:ea typeface="Inter"/>
                <a:cs typeface="Inter"/>
                <a:sym typeface="Inter"/>
              </a:rPr>
              <a:t>s</a:t>
            </a:r>
            <a:endParaRPr b="1" i="0" sz="1200" u="sng" cap="none" strike="noStrike">
              <a:solidFill>
                <a:srgbClr val="000000"/>
              </a:solidFill>
              <a:latin typeface="Inter"/>
              <a:ea typeface="Inter"/>
              <a:cs typeface="Inter"/>
              <a:sym typeface="Inter"/>
            </a:endParaRPr>
          </a:p>
          <a:p>
            <a:pPr indent="-301625" lvl="0" marL="457200" marR="0" rtl="0" algn="l">
              <a:lnSpc>
                <a:spcPct val="162857"/>
              </a:lnSpc>
              <a:spcBef>
                <a:spcPts val="0"/>
              </a:spcBef>
              <a:spcAft>
                <a:spcPts val="0"/>
              </a:spcAft>
              <a:buSzPts val="1150"/>
              <a:buFont typeface="Inter"/>
              <a:buChar char="●"/>
            </a:pPr>
            <a:r>
              <a:rPr b="0" i="0" lang="en" sz="1150" u="none" cap="none" strike="noStrike">
                <a:solidFill>
                  <a:srgbClr val="000000"/>
                </a:solidFill>
                <a:latin typeface="Inter"/>
                <a:ea typeface="Inter"/>
                <a:cs typeface="Inter"/>
                <a:sym typeface="Inter"/>
              </a:rPr>
              <a:t>Assess whether synthetic CV </a:t>
            </a:r>
            <a:r>
              <a:rPr lang="en" sz="1150">
                <a:latin typeface="Inter"/>
                <a:ea typeface="Inter"/>
                <a:cs typeface="Inter"/>
                <a:sym typeface="Inter"/>
              </a:rPr>
              <a:t>can be executed </a:t>
            </a:r>
            <a:r>
              <a:rPr b="0" i="0" lang="en" sz="1150" u="none" cap="none" strike="noStrike">
                <a:solidFill>
                  <a:srgbClr val="000000"/>
                </a:solidFill>
                <a:latin typeface="Inter"/>
                <a:ea typeface="Inter"/>
                <a:cs typeface="Inter"/>
                <a:sym typeface="Inter"/>
              </a:rPr>
              <a:t>across </a:t>
            </a:r>
            <a:r>
              <a:rPr lang="en" sz="1150">
                <a:latin typeface="Inter"/>
                <a:ea typeface="Inter"/>
                <a:cs typeface="Inter"/>
                <a:sym typeface="Inter"/>
              </a:rPr>
              <a:t>different</a:t>
            </a:r>
            <a:r>
              <a:rPr i="0" lang="en" sz="1150" u="none" cap="none" strike="noStrike">
                <a:solidFill>
                  <a:srgbClr val="000000"/>
                </a:solidFill>
                <a:latin typeface="Inter"/>
                <a:ea typeface="Inter"/>
                <a:cs typeface="Inter"/>
                <a:sym typeface="Inter"/>
              </a:rPr>
              <a:t> policy contexts and survey designs</a:t>
            </a:r>
            <a:r>
              <a:rPr lang="en" sz="1150">
                <a:latin typeface="Inter"/>
                <a:ea typeface="Inter"/>
                <a:cs typeface="Inter"/>
                <a:sym typeface="Inter"/>
              </a:rPr>
              <a:t>.</a:t>
            </a:r>
            <a:endParaRPr sz="1150">
              <a:latin typeface="Inter"/>
              <a:ea typeface="Inter"/>
              <a:cs typeface="Inter"/>
              <a:sym typeface="Inter"/>
            </a:endParaRPr>
          </a:p>
          <a:p>
            <a:pPr indent="-301625" lvl="0" marL="457200" marR="0" rtl="0" algn="l">
              <a:lnSpc>
                <a:spcPct val="162857"/>
              </a:lnSpc>
              <a:spcBef>
                <a:spcPts val="0"/>
              </a:spcBef>
              <a:spcAft>
                <a:spcPts val="0"/>
              </a:spcAft>
              <a:buSzPts val="1150"/>
              <a:buFont typeface="Inter"/>
              <a:buChar char="●"/>
            </a:pPr>
            <a:r>
              <a:rPr lang="en" sz="1150">
                <a:latin typeface="Inter"/>
                <a:ea typeface="Inter"/>
                <a:cs typeface="Inter"/>
                <a:sym typeface="Inter"/>
              </a:rPr>
              <a:t>Compare synthetic results to original results.</a:t>
            </a:r>
            <a:endParaRPr sz="1150">
              <a:latin typeface="Inter"/>
              <a:ea typeface="Inter"/>
              <a:cs typeface="Inter"/>
              <a:sym typeface="Inter"/>
            </a:endParaRPr>
          </a:p>
          <a:p>
            <a:pPr indent="-301625" lvl="2" marL="1371600" marR="0" rtl="0" algn="l">
              <a:lnSpc>
                <a:spcPct val="150000"/>
              </a:lnSpc>
              <a:spcBef>
                <a:spcPts val="0"/>
              </a:spcBef>
              <a:spcAft>
                <a:spcPts val="0"/>
              </a:spcAft>
              <a:buSzPts val="1150"/>
              <a:buFont typeface="Inter"/>
              <a:buChar char="■"/>
            </a:pPr>
            <a:r>
              <a:rPr lang="en" sz="1150">
                <a:latin typeface="Inter"/>
                <a:ea typeface="Inter"/>
                <a:cs typeface="Inter"/>
                <a:sym typeface="Inter"/>
              </a:rPr>
              <a:t>Across Variations of provided inputs: Demographic only, Demographic + All Beliefs, Demographic + One-Belief-at-a-time.</a:t>
            </a:r>
            <a:endParaRPr sz="1150">
              <a:latin typeface="Inter"/>
              <a:ea typeface="Inter"/>
              <a:cs typeface="Inter"/>
              <a:sym typeface="Inter"/>
            </a:endParaRPr>
          </a:p>
          <a:p>
            <a:pPr indent="-298450" lvl="2" marL="1371600" marR="0" rtl="0" algn="l">
              <a:lnSpc>
                <a:spcPct val="150000"/>
              </a:lnSpc>
              <a:spcBef>
                <a:spcPts val="0"/>
              </a:spcBef>
              <a:spcAft>
                <a:spcPts val="0"/>
              </a:spcAft>
              <a:buSzPts val="1100"/>
              <a:buFont typeface="Inter"/>
              <a:buChar char="■"/>
            </a:pPr>
            <a:r>
              <a:rPr lang="en" sz="1150">
                <a:latin typeface="Inter"/>
                <a:ea typeface="Inter"/>
                <a:cs typeface="Inter"/>
                <a:sym typeface="Inter"/>
              </a:rPr>
              <a:t>Across different LLM models. Across repeated synthetic </a:t>
            </a:r>
            <a:r>
              <a:rPr lang="en" sz="1150">
                <a:latin typeface="Inter"/>
                <a:ea typeface="Inter"/>
                <a:cs typeface="Inter"/>
                <a:sym typeface="Inter"/>
              </a:rPr>
              <a:t>simulation.</a:t>
            </a:r>
            <a:endParaRPr b="0" i="0" sz="1100" u="none" cap="none" strike="noStrike"/>
          </a:p>
        </p:txBody>
      </p:sp>
      <p:sp>
        <p:nvSpPr>
          <p:cNvPr id="248" name="Google Shape;248;p36"/>
          <p:cNvSpPr/>
          <p:nvPr/>
        </p:nvSpPr>
        <p:spPr>
          <a:xfrm>
            <a:off x="146350" y="312775"/>
            <a:ext cx="51837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Medium"/>
                <a:ea typeface="DM Sans Medium"/>
                <a:cs typeface="DM Sans Medium"/>
                <a:sym typeface="DM Sans Medium"/>
              </a:rPr>
              <a:t>Two WTP </a:t>
            </a:r>
            <a:r>
              <a:rPr lang="en" sz="1600">
                <a:solidFill>
                  <a:srgbClr val="161613"/>
                </a:solidFill>
                <a:latin typeface="DM Sans Medium"/>
                <a:ea typeface="DM Sans Medium"/>
                <a:cs typeface="DM Sans Medium"/>
                <a:sym typeface="DM Sans Medium"/>
              </a:rPr>
              <a:t>S</a:t>
            </a:r>
            <a:r>
              <a:rPr lang="en" sz="1600">
                <a:solidFill>
                  <a:srgbClr val="161613"/>
                </a:solidFill>
                <a:latin typeface="DM Sans Medium"/>
                <a:ea typeface="DM Sans Medium"/>
                <a:cs typeface="DM Sans Medium"/>
                <a:sym typeface="DM Sans Medium"/>
              </a:rPr>
              <a:t>tudies</a:t>
            </a:r>
            <a:r>
              <a:rPr lang="en" sz="1600">
                <a:solidFill>
                  <a:srgbClr val="161613"/>
                </a:solidFill>
                <a:latin typeface="DM Sans"/>
                <a:ea typeface="DM Sans"/>
                <a:cs typeface="DM Sans"/>
                <a:sym typeface="DM Sans"/>
              </a:rPr>
              <a:t> </a:t>
            </a:r>
            <a:r>
              <a:rPr lang="en" sz="1600">
                <a:solidFill>
                  <a:srgbClr val="161613"/>
                </a:solidFill>
                <a:latin typeface="DM Sans"/>
                <a:ea typeface="DM Sans"/>
                <a:cs typeface="DM Sans"/>
                <a:sym typeface="DM Sans"/>
              </a:rPr>
              <a:t>W</a:t>
            </a:r>
            <a:r>
              <a:rPr lang="en" sz="1600">
                <a:solidFill>
                  <a:srgbClr val="161613"/>
                </a:solidFill>
                <a:latin typeface="DM Sans"/>
                <a:ea typeface="DM Sans"/>
                <a:cs typeface="DM Sans"/>
                <a:sym typeface="DM Sans"/>
              </a:rPr>
              <a:t>e </a:t>
            </a:r>
            <a:r>
              <a:rPr i="1" lang="en" sz="1600">
                <a:solidFill>
                  <a:srgbClr val="161613"/>
                </a:solidFill>
                <a:latin typeface="DM Sans"/>
                <a:ea typeface="DM Sans"/>
                <a:cs typeface="DM Sans"/>
                <a:sym typeface="DM Sans"/>
              </a:rPr>
              <a:t>S</a:t>
            </a:r>
            <a:r>
              <a:rPr i="1" lang="en" sz="1600">
                <a:solidFill>
                  <a:srgbClr val="161613"/>
                </a:solidFill>
                <a:latin typeface="DM Sans"/>
                <a:ea typeface="DM Sans"/>
                <a:cs typeface="DM Sans"/>
                <a:sym typeface="DM Sans"/>
              </a:rPr>
              <a:t>ynthetically </a:t>
            </a:r>
            <a:r>
              <a:rPr i="1" lang="en" sz="1600">
                <a:solidFill>
                  <a:srgbClr val="161613"/>
                </a:solidFill>
                <a:latin typeface="DM Sans"/>
                <a:ea typeface="DM Sans"/>
                <a:cs typeface="DM Sans"/>
                <a:sym typeface="DM Sans"/>
              </a:rPr>
              <a:t>R</a:t>
            </a:r>
            <a:r>
              <a:rPr i="1" lang="en" sz="1600">
                <a:solidFill>
                  <a:srgbClr val="161613"/>
                </a:solidFill>
                <a:latin typeface="DM Sans"/>
                <a:ea typeface="DM Sans"/>
                <a:cs typeface="DM Sans"/>
                <a:sym typeface="DM Sans"/>
              </a:rPr>
              <a:t>eplicate</a:t>
            </a:r>
            <a:endParaRPr i="1" sz="1600">
              <a:solidFill>
                <a:srgbClr val="161613"/>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7"/>
          <p:cNvSpPr/>
          <p:nvPr/>
        </p:nvSpPr>
        <p:spPr>
          <a:xfrm>
            <a:off x="157851" y="312775"/>
            <a:ext cx="87984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We use the platform for</a:t>
            </a:r>
            <a:endParaRPr sz="1600">
              <a:solidFill>
                <a:srgbClr val="161613"/>
              </a:solidFill>
              <a:latin typeface="DM Sans"/>
              <a:ea typeface="DM Sans"/>
              <a:cs typeface="DM Sans"/>
              <a:sym typeface="DM Sans"/>
            </a:endParaRPr>
          </a:p>
        </p:txBody>
      </p:sp>
      <p:pic>
        <p:nvPicPr>
          <p:cNvPr id="255" name="Google Shape;255;p37" title="PHOTO-2026-03-09-17-55-32.jpg"/>
          <p:cNvPicPr preferRelativeResize="0"/>
          <p:nvPr/>
        </p:nvPicPr>
        <p:blipFill rotWithShape="1">
          <a:blip r:embed="rId3">
            <a:alphaModFix/>
          </a:blip>
          <a:srcRect b="0" l="0" r="0" t="3975"/>
          <a:stretch/>
        </p:blipFill>
        <p:spPr>
          <a:xfrm>
            <a:off x="1669288" y="1418796"/>
            <a:ext cx="5775524" cy="3585351"/>
          </a:xfrm>
          <a:prstGeom prst="rect">
            <a:avLst/>
          </a:prstGeom>
          <a:noFill/>
          <a:ln>
            <a:noFill/>
          </a:ln>
        </p:spPr>
      </p:pic>
      <p:pic>
        <p:nvPicPr>
          <p:cNvPr descr="preencoded.png" id="256" name="Google Shape;256;p37"/>
          <p:cNvPicPr preferRelativeResize="0"/>
          <p:nvPr/>
        </p:nvPicPr>
        <p:blipFill rotWithShape="1">
          <a:blip r:embed="rId4">
            <a:alphaModFix/>
          </a:blip>
          <a:srcRect b="0" l="0" r="0" t="0"/>
          <a:stretch/>
        </p:blipFill>
        <p:spPr>
          <a:xfrm>
            <a:off x="496134" y="781467"/>
            <a:ext cx="138187" cy="138187"/>
          </a:xfrm>
          <a:prstGeom prst="rect">
            <a:avLst/>
          </a:prstGeom>
          <a:noFill/>
          <a:ln>
            <a:noFill/>
          </a:ln>
        </p:spPr>
      </p:pic>
      <p:sp>
        <p:nvSpPr>
          <p:cNvPr id="257" name="Google Shape;257;p37"/>
          <p:cNvSpPr/>
          <p:nvPr/>
        </p:nvSpPr>
        <p:spPr>
          <a:xfrm>
            <a:off x="761051" y="752193"/>
            <a:ext cx="2577900" cy="1440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161613"/>
              </a:buClr>
              <a:buSzPts val="900"/>
              <a:buFont typeface="DM Sans"/>
              <a:buNone/>
            </a:pPr>
            <a:r>
              <a:rPr b="0" i="0" lang="en" sz="1300" u="none" cap="none" strike="noStrike">
                <a:solidFill>
                  <a:srgbClr val="161613"/>
                </a:solidFill>
                <a:latin typeface="DM Sans"/>
                <a:ea typeface="DM Sans"/>
                <a:cs typeface="DM Sans"/>
                <a:sym typeface="DM Sans"/>
              </a:rPr>
              <a:t>Executable Workflow Graph</a:t>
            </a:r>
            <a:endParaRPr b="0" i="0" sz="1300" u="none" cap="none" strike="noStrike"/>
          </a:p>
        </p:txBody>
      </p:sp>
      <p:sp>
        <p:nvSpPr>
          <p:cNvPr id="258" name="Google Shape;258;p37"/>
          <p:cNvSpPr/>
          <p:nvPr/>
        </p:nvSpPr>
        <p:spPr>
          <a:xfrm>
            <a:off x="761050" y="1052628"/>
            <a:ext cx="5486700" cy="1440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161613"/>
              </a:buClr>
              <a:buSzPts val="700"/>
              <a:buFont typeface="Inter"/>
              <a:buNone/>
            </a:pPr>
            <a:r>
              <a:rPr b="1" i="0" lang="en" sz="1100" u="none" cap="none" strike="noStrike">
                <a:solidFill>
                  <a:srgbClr val="161613"/>
                </a:solidFill>
                <a:latin typeface="Inter"/>
                <a:ea typeface="Inter"/>
                <a:cs typeface="Inter"/>
                <a:sym typeface="Inter"/>
              </a:rPr>
              <a:t>Encodes the complete survey protocol </a:t>
            </a:r>
            <a:r>
              <a:rPr b="0" i="0" lang="en" sz="1100" u="none" cap="none" strike="noStrike">
                <a:solidFill>
                  <a:srgbClr val="161613"/>
                </a:solidFill>
                <a:latin typeface="Inter"/>
                <a:ea typeface="Inter"/>
                <a:cs typeface="Inter"/>
                <a:sym typeface="Inter"/>
              </a:rPr>
              <a:t>as </a:t>
            </a:r>
            <a:r>
              <a:rPr lang="en" sz="1100">
                <a:solidFill>
                  <a:srgbClr val="161613"/>
                </a:solidFill>
                <a:latin typeface="Inter"/>
                <a:ea typeface="Inter"/>
                <a:cs typeface="Inter"/>
                <a:sym typeface="Inter"/>
              </a:rPr>
              <a:t>parameterized input-output graph</a:t>
            </a:r>
            <a:r>
              <a:rPr lang="en" sz="1100">
                <a:solidFill>
                  <a:srgbClr val="161613"/>
                </a:solidFill>
                <a:latin typeface="Inter"/>
                <a:ea typeface="Inter"/>
                <a:cs typeface="Inter"/>
                <a:sym typeface="Inter"/>
              </a:rPr>
              <a:t>.</a:t>
            </a:r>
            <a:endParaRPr b="0" i="0" sz="11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p:nvPr/>
        </p:nvSpPr>
        <p:spPr>
          <a:xfrm>
            <a:off x="157851" y="312775"/>
            <a:ext cx="87984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We use the platform for</a:t>
            </a:r>
            <a:endParaRPr sz="1600">
              <a:solidFill>
                <a:srgbClr val="161613"/>
              </a:solidFill>
              <a:latin typeface="DM Sans"/>
              <a:ea typeface="DM Sans"/>
              <a:cs typeface="DM Sans"/>
              <a:sym typeface="DM Sans"/>
            </a:endParaRPr>
          </a:p>
        </p:txBody>
      </p:sp>
      <p:pic>
        <p:nvPicPr>
          <p:cNvPr descr="preencoded.png" id="265" name="Google Shape;265;p38"/>
          <p:cNvPicPr preferRelativeResize="0"/>
          <p:nvPr/>
        </p:nvPicPr>
        <p:blipFill rotWithShape="1">
          <a:blip r:embed="rId3">
            <a:alphaModFix/>
          </a:blip>
          <a:srcRect b="0" l="0" r="0" t="0"/>
          <a:stretch/>
        </p:blipFill>
        <p:spPr>
          <a:xfrm>
            <a:off x="496134" y="781467"/>
            <a:ext cx="138187" cy="138187"/>
          </a:xfrm>
          <a:prstGeom prst="rect">
            <a:avLst/>
          </a:prstGeom>
          <a:noFill/>
          <a:ln>
            <a:noFill/>
          </a:ln>
        </p:spPr>
      </p:pic>
      <p:sp>
        <p:nvSpPr>
          <p:cNvPr id="266" name="Google Shape;266;p38"/>
          <p:cNvSpPr/>
          <p:nvPr/>
        </p:nvSpPr>
        <p:spPr>
          <a:xfrm>
            <a:off x="761051" y="752193"/>
            <a:ext cx="2577900" cy="144000"/>
          </a:xfrm>
          <a:prstGeom prst="rect">
            <a:avLst/>
          </a:prstGeom>
          <a:noFill/>
          <a:ln>
            <a:noFill/>
          </a:ln>
        </p:spPr>
        <p:txBody>
          <a:bodyPr anchorCtr="0" anchor="t" bIns="0" lIns="0" spcFirstLastPara="1" rIns="0" wrap="square" tIns="0">
            <a:noAutofit/>
          </a:bodyPr>
          <a:lstStyle/>
          <a:p>
            <a:pPr indent="0" lvl="0" marL="0" rtl="0" algn="l">
              <a:lnSpc>
                <a:spcPct val="124137"/>
              </a:lnSpc>
              <a:spcBef>
                <a:spcPts val="0"/>
              </a:spcBef>
              <a:spcAft>
                <a:spcPts val="0"/>
              </a:spcAft>
              <a:buClr>
                <a:srgbClr val="161613"/>
              </a:buClr>
              <a:buSzPts val="900"/>
              <a:buFont typeface="DM Sans"/>
              <a:buNone/>
            </a:pPr>
            <a:r>
              <a:rPr lang="en" sz="1300">
                <a:solidFill>
                  <a:srgbClr val="161613"/>
                </a:solidFill>
                <a:latin typeface="DM Sans"/>
                <a:ea typeface="DM Sans"/>
                <a:cs typeface="DM Sans"/>
                <a:sym typeface="DM Sans"/>
              </a:rPr>
              <a:t>Persona Generation</a:t>
            </a:r>
            <a:endParaRPr sz="1300">
              <a:solidFill>
                <a:schemeClr val="dk1"/>
              </a:solidFill>
            </a:endParaRPr>
          </a:p>
          <a:p>
            <a:pPr indent="0" lvl="0" marL="0" marR="0" rtl="0" algn="l">
              <a:lnSpc>
                <a:spcPct val="124137"/>
              </a:lnSpc>
              <a:spcBef>
                <a:spcPts val="0"/>
              </a:spcBef>
              <a:spcAft>
                <a:spcPts val="0"/>
              </a:spcAft>
              <a:buClr>
                <a:srgbClr val="161613"/>
              </a:buClr>
              <a:buSzPts val="900"/>
              <a:buFont typeface="DM Sans"/>
              <a:buNone/>
            </a:pPr>
            <a:r>
              <a:t/>
            </a:r>
            <a:endParaRPr sz="1300">
              <a:solidFill>
                <a:srgbClr val="161613"/>
              </a:solidFill>
              <a:latin typeface="DM Sans"/>
              <a:ea typeface="DM Sans"/>
              <a:cs typeface="DM Sans"/>
              <a:sym typeface="DM Sans"/>
            </a:endParaRPr>
          </a:p>
        </p:txBody>
      </p:sp>
      <p:sp>
        <p:nvSpPr>
          <p:cNvPr id="267" name="Google Shape;267;p38"/>
          <p:cNvSpPr/>
          <p:nvPr/>
        </p:nvSpPr>
        <p:spPr>
          <a:xfrm>
            <a:off x="761050" y="1052625"/>
            <a:ext cx="6406200" cy="144000"/>
          </a:xfrm>
          <a:prstGeom prst="rect">
            <a:avLst/>
          </a:prstGeom>
          <a:noFill/>
          <a:ln>
            <a:noFill/>
          </a:ln>
        </p:spPr>
        <p:txBody>
          <a:bodyPr anchorCtr="0" anchor="t" bIns="0" lIns="0" spcFirstLastPara="1" rIns="0" wrap="square" tIns="0">
            <a:noAutofit/>
          </a:bodyPr>
          <a:lstStyle/>
          <a:p>
            <a:pPr indent="0" lvl="0" marL="0" rtl="0" algn="l">
              <a:lnSpc>
                <a:spcPct val="130434"/>
              </a:lnSpc>
              <a:spcBef>
                <a:spcPts val="0"/>
              </a:spcBef>
              <a:spcAft>
                <a:spcPts val="0"/>
              </a:spcAft>
              <a:buClr>
                <a:srgbClr val="161613"/>
              </a:buClr>
              <a:buSzPts val="700"/>
              <a:buFont typeface="Inter"/>
              <a:buNone/>
            </a:pPr>
            <a:r>
              <a:rPr b="1" lang="en" sz="1100">
                <a:solidFill>
                  <a:srgbClr val="161613"/>
                </a:solidFill>
                <a:latin typeface="Inter"/>
                <a:ea typeface="Inter"/>
                <a:cs typeface="Inter"/>
                <a:sym typeface="Inter"/>
              </a:rPr>
              <a:t>Defines synthetic respondents</a:t>
            </a:r>
            <a:r>
              <a:rPr lang="en" sz="1100">
                <a:solidFill>
                  <a:srgbClr val="161613"/>
                </a:solidFill>
                <a:latin typeface="Inter"/>
                <a:ea typeface="Inter"/>
                <a:cs typeface="Inter"/>
                <a:sym typeface="Inter"/>
              </a:rPr>
              <a:t> incorporating original survey demographic and belief data.</a:t>
            </a:r>
            <a:endParaRPr b="1" sz="1100">
              <a:solidFill>
                <a:srgbClr val="161613"/>
              </a:solidFill>
              <a:latin typeface="Inter"/>
              <a:ea typeface="Inter"/>
              <a:cs typeface="Inter"/>
              <a:sym typeface="Inter"/>
            </a:endParaRPr>
          </a:p>
        </p:txBody>
      </p:sp>
      <p:pic>
        <p:nvPicPr>
          <p:cNvPr id="268" name="Google Shape;268;p38" title="WTP-E - Template Setup 01.png"/>
          <p:cNvPicPr preferRelativeResize="0"/>
          <p:nvPr/>
        </p:nvPicPr>
        <p:blipFill rotWithShape="1">
          <a:blip r:embed="rId4">
            <a:alphaModFix/>
          </a:blip>
          <a:srcRect b="6764" l="0" r="0" t="2442"/>
          <a:stretch/>
        </p:blipFill>
        <p:spPr>
          <a:xfrm>
            <a:off x="1603100" y="1482975"/>
            <a:ext cx="5937777" cy="34854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9"/>
          <p:cNvSpPr/>
          <p:nvPr/>
        </p:nvSpPr>
        <p:spPr>
          <a:xfrm>
            <a:off x="157851" y="312775"/>
            <a:ext cx="87984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We use the platform for</a:t>
            </a:r>
            <a:endParaRPr sz="1600">
              <a:solidFill>
                <a:srgbClr val="161613"/>
              </a:solidFill>
              <a:latin typeface="DM Sans"/>
              <a:ea typeface="DM Sans"/>
              <a:cs typeface="DM Sans"/>
              <a:sym typeface="DM Sans"/>
            </a:endParaRPr>
          </a:p>
        </p:txBody>
      </p:sp>
      <p:pic>
        <p:nvPicPr>
          <p:cNvPr descr="preencoded.png" id="275" name="Google Shape;275;p39"/>
          <p:cNvPicPr preferRelativeResize="0"/>
          <p:nvPr/>
        </p:nvPicPr>
        <p:blipFill rotWithShape="1">
          <a:blip r:embed="rId3">
            <a:alphaModFix/>
          </a:blip>
          <a:srcRect b="0" l="0" r="0" t="0"/>
          <a:stretch/>
        </p:blipFill>
        <p:spPr>
          <a:xfrm>
            <a:off x="496134" y="781467"/>
            <a:ext cx="138187" cy="138187"/>
          </a:xfrm>
          <a:prstGeom prst="rect">
            <a:avLst/>
          </a:prstGeom>
          <a:noFill/>
          <a:ln>
            <a:noFill/>
          </a:ln>
        </p:spPr>
      </p:pic>
      <p:sp>
        <p:nvSpPr>
          <p:cNvPr id="276" name="Google Shape;276;p39"/>
          <p:cNvSpPr/>
          <p:nvPr/>
        </p:nvSpPr>
        <p:spPr>
          <a:xfrm>
            <a:off x="761051" y="752193"/>
            <a:ext cx="2577900" cy="144000"/>
          </a:xfrm>
          <a:prstGeom prst="rect">
            <a:avLst/>
          </a:prstGeom>
          <a:noFill/>
          <a:ln>
            <a:noFill/>
          </a:ln>
        </p:spPr>
        <p:txBody>
          <a:bodyPr anchorCtr="0" anchor="t" bIns="0" lIns="0" spcFirstLastPara="1" rIns="0" wrap="square" tIns="0">
            <a:noAutofit/>
          </a:bodyPr>
          <a:lstStyle/>
          <a:p>
            <a:pPr indent="0" lvl="0" marL="0" rtl="0" algn="l">
              <a:lnSpc>
                <a:spcPct val="124137"/>
              </a:lnSpc>
              <a:spcBef>
                <a:spcPts val="0"/>
              </a:spcBef>
              <a:spcAft>
                <a:spcPts val="0"/>
              </a:spcAft>
              <a:buClr>
                <a:srgbClr val="161613"/>
              </a:buClr>
              <a:buSzPts val="900"/>
              <a:buFont typeface="DM Sans"/>
              <a:buNone/>
            </a:pPr>
            <a:r>
              <a:rPr lang="en" sz="1300">
                <a:solidFill>
                  <a:srgbClr val="161613"/>
                </a:solidFill>
                <a:latin typeface="DM Sans"/>
                <a:ea typeface="DM Sans"/>
                <a:cs typeface="DM Sans"/>
                <a:sym typeface="DM Sans"/>
              </a:rPr>
              <a:t>Parallel Simulation</a:t>
            </a:r>
            <a:endParaRPr sz="1300">
              <a:solidFill>
                <a:schemeClr val="dk1"/>
              </a:solidFill>
            </a:endParaRPr>
          </a:p>
          <a:p>
            <a:pPr indent="0" lvl="0" marL="0" marR="0" rtl="0" algn="l">
              <a:lnSpc>
                <a:spcPct val="124137"/>
              </a:lnSpc>
              <a:spcBef>
                <a:spcPts val="0"/>
              </a:spcBef>
              <a:spcAft>
                <a:spcPts val="0"/>
              </a:spcAft>
              <a:buClr>
                <a:srgbClr val="161613"/>
              </a:buClr>
              <a:buSzPts val="900"/>
              <a:buFont typeface="DM Sans"/>
              <a:buNone/>
            </a:pPr>
            <a:r>
              <a:t/>
            </a:r>
            <a:endParaRPr sz="1300">
              <a:solidFill>
                <a:srgbClr val="161613"/>
              </a:solidFill>
              <a:latin typeface="DM Sans"/>
              <a:ea typeface="DM Sans"/>
              <a:cs typeface="DM Sans"/>
              <a:sym typeface="DM Sans"/>
            </a:endParaRPr>
          </a:p>
        </p:txBody>
      </p:sp>
      <p:sp>
        <p:nvSpPr>
          <p:cNvPr id="277" name="Google Shape;277;p39"/>
          <p:cNvSpPr/>
          <p:nvPr/>
        </p:nvSpPr>
        <p:spPr>
          <a:xfrm>
            <a:off x="761050" y="1052625"/>
            <a:ext cx="7407000" cy="273300"/>
          </a:xfrm>
          <a:prstGeom prst="rect">
            <a:avLst/>
          </a:prstGeom>
          <a:noFill/>
          <a:ln>
            <a:noFill/>
          </a:ln>
        </p:spPr>
        <p:txBody>
          <a:bodyPr anchorCtr="0" anchor="t" bIns="0" lIns="0" spcFirstLastPara="1" rIns="0" wrap="square" tIns="0">
            <a:noAutofit/>
          </a:bodyPr>
          <a:lstStyle/>
          <a:p>
            <a:pPr indent="0" lvl="0" marL="0" rtl="0" algn="l">
              <a:lnSpc>
                <a:spcPct val="130434"/>
              </a:lnSpc>
              <a:spcBef>
                <a:spcPts val="0"/>
              </a:spcBef>
              <a:spcAft>
                <a:spcPts val="0"/>
              </a:spcAft>
              <a:buClr>
                <a:srgbClr val="161613"/>
              </a:buClr>
              <a:buSzPts val="700"/>
              <a:buFont typeface="Inter"/>
              <a:buNone/>
            </a:pPr>
            <a:r>
              <a:rPr b="1" lang="en" sz="1100">
                <a:solidFill>
                  <a:srgbClr val="161613"/>
                </a:solidFill>
                <a:latin typeface="Inter"/>
                <a:ea typeface="Inter"/>
                <a:cs typeface="Inter"/>
                <a:sym typeface="Inter"/>
              </a:rPr>
              <a:t>Runs controlled experiments across multiple LLMs</a:t>
            </a:r>
            <a:r>
              <a:rPr lang="en" sz="1100">
                <a:solidFill>
                  <a:srgbClr val="161613"/>
                </a:solidFill>
                <a:latin typeface="Inter"/>
                <a:ea typeface="Inter"/>
                <a:cs typeface="Inter"/>
                <a:sym typeface="Inter"/>
              </a:rPr>
              <a:t> and information conditions simultaneously, and repeatedly.</a:t>
            </a:r>
            <a:endParaRPr b="1" sz="1100">
              <a:solidFill>
                <a:srgbClr val="161613"/>
              </a:solidFill>
              <a:latin typeface="Inter"/>
              <a:ea typeface="Inter"/>
              <a:cs typeface="Inter"/>
              <a:sym typeface="Inter"/>
            </a:endParaRPr>
          </a:p>
        </p:txBody>
      </p:sp>
      <p:pic>
        <p:nvPicPr>
          <p:cNvPr id="278" name="Google Shape;278;p39" title="WTP-C - Assistant 01.png"/>
          <p:cNvPicPr preferRelativeResize="0"/>
          <p:nvPr/>
        </p:nvPicPr>
        <p:blipFill rotWithShape="1">
          <a:blip r:embed="rId4">
            <a:alphaModFix/>
          </a:blip>
          <a:srcRect b="4603" l="0" r="0" t="4603"/>
          <a:stretch/>
        </p:blipFill>
        <p:spPr>
          <a:xfrm>
            <a:off x="1603100" y="1482975"/>
            <a:ext cx="5937777" cy="34854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0"/>
          <p:cNvSpPr/>
          <p:nvPr/>
        </p:nvSpPr>
        <p:spPr>
          <a:xfrm>
            <a:off x="157851" y="312775"/>
            <a:ext cx="87984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We use the platform for</a:t>
            </a:r>
            <a:endParaRPr sz="1600">
              <a:solidFill>
                <a:srgbClr val="161613"/>
              </a:solidFill>
              <a:latin typeface="DM Sans"/>
              <a:ea typeface="DM Sans"/>
              <a:cs typeface="DM Sans"/>
              <a:sym typeface="DM Sans"/>
            </a:endParaRPr>
          </a:p>
        </p:txBody>
      </p:sp>
      <p:pic>
        <p:nvPicPr>
          <p:cNvPr descr="preencoded.png" id="285" name="Google Shape;285;p40"/>
          <p:cNvPicPr preferRelativeResize="0"/>
          <p:nvPr/>
        </p:nvPicPr>
        <p:blipFill rotWithShape="1">
          <a:blip r:embed="rId3">
            <a:alphaModFix/>
          </a:blip>
          <a:srcRect b="0" l="0" r="0" t="0"/>
          <a:stretch/>
        </p:blipFill>
        <p:spPr>
          <a:xfrm>
            <a:off x="496134" y="781467"/>
            <a:ext cx="138187" cy="138187"/>
          </a:xfrm>
          <a:prstGeom prst="rect">
            <a:avLst/>
          </a:prstGeom>
          <a:noFill/>
          <a:ln>
            <a:noFill/>
          </a:ln>
        </p:spPr>
      </p:pic>
      <p:sp>
        <p:nvSpPr>
          <p:cNvPr id="286" name="Google Shape;286;p40"/>
          <p:cNvSpPr/>
          <p:nvPr/>
        </p:nvSpPr>
        <p:spPr>
          <a:xfrm>
            <a:off x="761051" y="752193"/>
            <a:ext cx="2577900" cy="144000"/>
          </a:xfrm>
          <a:prstGeom prst="rect">
            <a:avLst/>
          </a:prstGeom>
          <a:noFill/>
          <a:ln>
            <a:noFill/>
          </a:ln>
        </p:spPr>
        <p:txBody>
          <a:bodyPr anchorCtr="0" anchor="t" bIns="0" lIns="0" spcFirstLastPara="1" rIns="0" wrap="square" tIns="0">
            <a:noAutofit/>
          </a:bodyPr>
          <a:lstStyle/>
          <a:p>
            <a:pPr indent="0" lvl="0" marL="0" rtl="0" algn="l">
              <a:lnSpc>
                <a:spcPct val="124137"/>
              </a:lnSpc>
              <a:spcBef>
                <a:spcPts val="0"/>
              </a:spcBef>
              <a:spcAft>
                <a:spcPts val="0"/>
              </a:spcAft>
              <a:buClr>
                <a:srgbClr val="161613"/>
              </a:buClr>
              <a:buSzPts val="900"/>
              <a:buFont typeface="DM Sans"/>
              <a:buNone/>
            </a:pPr>
            <a:r>
              <a:rPr lang="en" sz="1300">
                <a:solidFill>
                  <a:srgbClr val="161613"/>
                </a:solidFill>
                <a:latin typeface="DM Sans"/>
                <a:ea typeface="DM Sans"/>
                <a:cs typeface="DM Sans"/>
                <a:sym typeface="DM Sans"/>
              </a:rPr>
              <a:t>Structured Output</a:t>
            </a:r>
            <a:endParaRPr sz="1300">
              <a:solidFill>
                <a:schemeClr val="dk1"/>
              </a:solidFill>
            </a:endParaRPr>
          </a:p>
          <a:p>
            <a:pPr indent="0" lvl="0" marL="0" marR="0" rtl="0" algn="l">
              <a:lnSpc>
                <a:spcPct val="124137"/>
              </a:lnSpc>
              <a:spcBef>
                <a:spcPts val="0"/>
              </a:spcBef>
              <a:spcAft>
                <a:spcPts val="0"/>
              </a:spcAft>
              <a:buClr>
                <a:srgbClr val="161613"/>
              </a:buClr>
              <a:buSzPts val="900"/>
              <a:buFont typeface="DM Sans"/>
              <a:buNone/>
            </a:pPr>
            <a:r>
              <a:t/>
            </a:r>
            <a:endParaRPr sz="1300">
              <a:solidFill>
                <a:srgbClr val="161613"/>
              </a:solidFill>
              <a:latin typeface="DM Sans"/>
              <a:ea typeface="DM Sans"/>
              <a:cs typeface="DM Sans"/>
              <a:sym typeface="DM Sans"/>
            </a:endParaRPr>
          </a:p>
        </p:txBody>
      </p:sp>
      <p:sp>
        <p:nvSpPr>
          <p:cNvPr id="287" name="Google Shape;287;p40"/>
          <p:cNvSpPr/>
          <p:nvPr/>
        </p:nvSpPr>
        <p:spPr>
          <a:xfrm>
            <a:off x="761050" y="1052625"/>
            <a:ext cx="7407000" cy="273300"/>
          </a:xfrm>
          <a:prstGeom prst="rect">
            <a:avLst/>
          </a:prstGeom>
          <a:noFill/>
          <a:ln>
            <a:noFill/>
          </a:ln>
        </p:spPr>
        <p:txBody>
          <a:bodyPr anchorCtr="0" anchor="t" bIns="0" lIns="0" spcFirstLastPara="1" rIns="0" wrap="square" tIns="0">
            <a:noAutofit/>
          </a:bodyPr>
          <a:lstStyle/>
          <a:p>
            <a:pPr indent="0" lvl="0" marL="0" rtl="0" algn="l">
              <a:lnSpc>
                <a:spcPct val="130434"/>
              </a:lnSpc>
              <a:spcBef>
                <a:spcPts val="0"/>
              </a:spcBef>
              <a:spcAft>
                <a:spcPts val="0"/>
              </a:spcAft>
              <a:buClr>
                <a:srgbClr val="161613"/>
              </a:buClr>
              <a:buSzPts val="700"/>
              <a:buFont typeface="Inter"/>
              <a:buNone/>
            </a:pPr>
            <a:r>
              <a:rPr b="1" lang="en" sz="1100">
                <a:solidFill>
                  <a:srgbClr val="161613"/>
                </a:solidFill>
                <a:latin typeface="Inter"/>
                <a:ea typeface="Inter"/>
                <a:cs typeface="Inter"/>
                <a:sym typeface="Inter"/>
              </a:rPr>
              <a:t>Produces datasets formatted for logit estimation and WTP calculation</a:t>
            </a:r>
            <a:r>
              <a:rPr lang="en" sz="1100">
                <a:solidFill>
                  <a:srgbClr val="161613"/>
                </a:solidFill>
                <a:latin typeface="Inter"/>
                <a:ea typeface="Inter"/>
                <a:cs typeface="Inter"/>
                <a:sym typeface="Inter"/>
              </a:rPr>
              <a:t>.</a:t>
            </a:r>
            <a:endParaRPr b="1" sz="1100">
              <a:solidFill>
                <a:srgbClr val="161613"/>
              </a:solidFill>
              <a:latin typeface="Inter"/>
              <a:ea typeface="Inter"/>
              <a:cs typeface="Inter"/>
              <a:sym typeface="Inter"/>
            </a:endParaRPr>
          </a:p>
        </p:txBody>
      </p:sp>
      <p:pic>
        <p:nvPicPr>
          <p:cNvPr id="288" name="Google Shape;288;p40" title="WTP-E - Edge Function Setup 01.png"/>
          <p:cNvPicPr preferRelativeResize="0"/>
          <p:nvPr/>
        </p:nvPicPr>
        <p:blipFill rotWithShape="1">
          <a:blip r:embed="rId4">
            <a:alphaModFix/>
          </a:blip>
          <a:srcRect b="4603" l="0" r="0" t="4603"/>
          <a:stretch/>
        </p:blipFill>
        <p:spPr>
          <a:xfrm>
            <a:off x="1603100" y="1482975"/>
            <a:ext cx="5937777" cy="34854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1"/>
          <p:cNvSpPr/>
          <p:nvPr/>
        </p:nvSpPr>
        <p:spPr>
          <a:xfrm>
            <a:off x="496069" y="1269116"/>
            <a:ext cx="2622900" cy="1043700"/>
          </a:xfrm>
          <a:prstGeom prst="roundRect">
            <a:avLst>
              <a:gd fmla="val 2038" name="adj"/>
            </a:avLst>
          </a:prstGeom>
          <a:solidFill>
            <a:srgbClr val="EDEBE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95" name="Google Shape;295;p41"/>
          <p:cNvSpPr/>
          <p:nvPr/>
        </p:nvSpPr>
        <p:spPr>
          <a:xfrm>
            <a:off x="637828" y="1410874"/>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OpenAI</a:t>
            </a:r>
            <a:endParaRPr b="0" i="0" sz="1400" u="none" cap="none" strike="noStrike"/>
          </a:p>
        </p:txBody>
      </p:sp>
      <p:sp>
        <p:nvSpPr>
          <p:cNvPr id="296" name="Google Shape;296;p41"/>
          <p:cNvSpPr/>
          <p:nvPr/>
        </p:nvSpPr>
        <p:spPr>
          <a:xfrm>
            <a:off x="637828" y="1717386"/>
            <a:ext cx="2339400" cy="4536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GPT-5</a:t>
            </a:r>
            <a:endParaRPr sz="1100"/>
          </a:p>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GPT-5-mini</a:t>
            </a:r>
            <a:endParaRPr b="0" i="0" sz="1100" u="none" cap="none" strike="noStrike"/>
          </a:p>
        </p:txBody>
      </p:sp>
      <p:sp>
        <p:nvSpPr>
          <p:cNvPr id="297" name="Google Shape;297;p41"/>
          <p:cNvSpPr/>
          <p:nvPr/>
        </p:nvSpPr>
        <p:spPr>
          <a:xfrm>
            <a:off x="3260551" y="1269116"/>
            <a:ext cx="2622900" cy="1043700"/>
          </a:xfrm>
          <a:prstGeom prst="roundRect">
            <a:avLst>
              <a:gd fmla="val 2038" name="adj"/>
            </a:avLst>
          </a:prstGeom>
          <a:solidFill>
            <a:srgbClr val="EDEBE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298" name="Google Shape;298;p41"/>
          <p:cNvSpPr/>
          <p:nvPr/>
        </p:nvSpPr>
        <p:spPr>
          <a:xfrm>
            <a:off x="3402310" y="1410874"/>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Google</a:t>
            </a:r>
            <a:endParaRPr b="0" i="0" sz="1400" u="none" cap="none" strike="noStrike"/>
          </a:p>
        </p:txBody>
      </p:sp>
      <p:sp>
        <p:nvSpPr>
          <p:cNvPr id="299" name="Google Shape;299;p41"/>
          <p:cNvSpPr/>
          <p:nvPr/>
        </p:nvSpPr>
        <p:spPr>
          <a:xfrm>
            <a:off x="3402310" y="1717386"/>
            <a:ext cx="2339400" cy="4536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Gemini-2.5-Flash</a:t>
            </a:r>
            <a:endParaRPr sz="1100"/>
          </a:p>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Gemini-2.5-Flash-Lite</a:t>
            </a:r>
            <a:endParaRPr b="0" i="0" sz="1100" u="none" cap="none" strike="noStrike"/>
          </a:p>
        </p:txBody>
      </p:sp>
      <p:sp>
        <p:nvSpPr>
          <p:cNvPr id="300" name="Google Shape;300;p41"/>
          <p:cNvSpPr/>
          <p:nvPr/>
        </p:nvSpPr>
        <p:spPr>
          <a:xfrm>
            <a:off x="6025033" y="1269116"/>
            <a:ext cx="2622900" cy="1043700"/>
          </a:xfrm>
          <a:prstGeom prst="roundRect">
            <a:avLst>
              <a:gd fmla="val 2038" name="adj"/>
            </a:avLst>
          </a:prstGeom>
          <a:solidFill>
            <a:srgbClr val="EDEBE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301" name="Google Shape;301;p41"/>
          <p:cNvSpPr/>
          <p:nvPr/>
        </p:nvSpPr>
        <p:spPr>
          <a:xfrm>
            <a:off x="6166793" y="1410874"/>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DeepSeek</a:t>
            </a:r>
            <a:endParaRPr b="0" i="0" sz="1400" u="none" cap="none" strike="noStrike"/>
          </a:p>
        </p:txBody>
      </p:sp>
      <p:sp>
        <p:nvSpPr>
          <p:cNvPr id="302" name="Google Shape;302;p41"/>
          <p:cNvSpPr/>
          <p:nvPr/>
        </p:nvSpPr>
        <p:spPr>
          <a:xfrm>
            <a:off x="6166793" y="1717386"/>
            <a:ext cx="2339400" cy="4536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DeepSeek-V3</a:t>
            </a:r>
            <a:endParaRPr sz="1100"/>
          </a:p>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DeepSeek-R1</a:t>
            </a:r>
            <a:endParaRPr b="0" i="0" sz="1100" u="none" cap="none" strike="noStrike"/>
          </a:p>
        </p:txBody>
      </p:sp>
      <p:sp>
        <p:nvSpPr>
          <p:cNvPr id="303" name="Google Shape;303;p41"/>
          <p:cNvSpPr/>
          <p:nvPr/>
        </p:nvSpPr>
        <p:spPr>
          <a:xfrm>
            <a:off x="496069" y="2642607"/>
            <a:ext cx="4005000" cy="1043700"/>
          </a:xfrm>
          <a:prstGeom prst="roundRect">
            <a:avLst>
              <a:gd fmla="val 2038" name="adj"/>
            </a:avLst>
          </a:prstGeom>
          <a:solidFill>
            <a:srgbClr val="EDEBE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304" name="Google Shape;304;p41"/>
          <p:cNvSpPr/>
          <p:nvPr/>
        </p:nvSpPr>
        <p:spPr>
          <a:xfrm>
            <a:off x="637828" y="278436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Mistral</a:t>
            </a:r>
            <a:endParaRPr b="0" i="0" sz="1400" u="none" cap="none" strike="noStrike"/>
          </a:p>
        </p:txBody>
      </p:sp>
      <p:sp>
        <p:nvSpPr>
          <p:cNvPr id="305" name="Google Shape;305;p41"/>
          <p:cNvSpPr/>
          <p:nvPr/>
        </p:nvSpPr>
        <p:spPr>
          <a:xfrm>
            <a:off x="637828" y="3090877"/>
            <a:ext cx="3721500" cy="4536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Mistral-Medium</a:t>
            </a:r>
            <a:endParaRPr sz="1100"/>
          </a:p>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Mistral-Small</a:t>
            </a:r>
            <a:endParaRPr b="0" i="0" sz="1100" u="none" cap="none" strike="noStrike"/>
          </a:p>
        </p:txBody>
      </p:sp>
      <p:sp>
        <p:nvSpPr>
          <p:cNvPr id="306" name="Google Shape;306;p41"/>
          <p:cNvSpPr/>
          <p:nvPr/>
        </p:nvSpPr>
        <p:spPr>
          <a:xfrm>
            <a:off x="4642793" y="2642607"/>
            <a:ext cx="4005000" cy="1043700"/>
          </a:xfrm>
          <a:prstGeom prst="roundRect">
            <a:avLst>
              <a:gd fmla="val 2038" name="adj"/>
            </a:avLst>
          </a:prstGeom>
          <a:solidFill>
            <a:srgbClr val="EDEBE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307" name="Google Shape;307;p41"/>
          <p:cNvSpPr/>
          <p:nvPr/>
        </p:nvSpPr>
        <p:spPr>
          <a:xfrm>
            <a:off x="4784551" y="278436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Others</a:t>
            </a:r>
            <a:endParaRPr b="0" i="0" sz="1400" u="none" cap="none" strike="noStrike"/>
          </a:p>
        </p:txBody>
      </p:sp>
      <p:sp>
        <p:nvSpPr>
          <p:cNvPr id="308" name="Google Shape;308;p41"/>
          <p:cNvSpPr/>
          <p:nvPr/>
        </p:nvSpPr>
        <p:spPr>
          <a:xfrm>
            <a:off x="4784551" y="3090877"/>
            <a:ext cx="3721500" cy="4536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Kimi-K2</a:t>
            </a:r>
            <a:endParaRPr sz="1100"/>
          </a:p>
          <a:p>
            <a:pPr indent="-298450" lvl="0" marL="4572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Llama-4 (Scout)</a:t>
            </a:r>
            <a:endParaRPr b="0" i="0" sz="1100" u="none" cap="none" strike="noStrike"/>
          </a:p>
        </p:txBody>
      </p:sp>
      <p:sp>
        <p:nvSpPr>
          <p:cNvPr id="309" name="Google Shape;309;p41"/>
          <p:cNvSpPr/>
          <p:nvPr/>
        </p:nvSpPr>
        <p:spPr>
          <a:xfrm>
            <a:off x="146350" y="312775"/>
            <a:ext cx="51837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Models Evaluated</a:t>
            </a:r>
            <a:endParaRPr sz="1600">
              <a:solidFill>
                <a:srgbClr val="161613"/>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2"/>
          <p:cNvSpPr/>
          <p:nvPr/>
        </p:nvSpPr>
        <p:spPr>
          <a:xfrm>
            <a:off x="496137" y="975071"/>
            <a:ext cx="21345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300" u="sng" cap="none" strike="noStrike">
                <a:solidFill>
                  <a:srgbClr val="161613"/>
                </a:solidFill>
                <a:latin typeface="DM Sans"/>
                <a:ea typeface="DM Sans"/>
                <a:cs typeface="DM Sans"/>
                <a:sym typeface="DM Sans"/>
              </a:rPr>
              <a:t>Study 1</a:t>
            </a:r>
            <a:endParaRPr b="0" i="0" sz="1300" u="sng" cap="none" strike="noStrike"/>
          </a:p>
        </p:txBody>
      </p:sp>
      <p:sp>
        <p:nvSpPr>
          <p:cNvPr id="316" name="Google Shape;316;p42"/>
          <p:cNvSpPr/>
          <p:nvPr/>
        </p:nvSpPr>
        <p:spPr>
          <a:xfrm>
            <a:off x="496125" y="1333850"/>
            <a:ext cx="3936300" cy="857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61613"/>
              </a:buClr>
              <a:buSzPts val="1100"/>
              <a:buFont typeface="Inter"/>
              <a:buNone/>
            </a:pPr>
            <a:r>
              <a:rPr lang="en" sz="1200">
                <a:solidFill>
                  <a:srgbClr val="161613"/>
                </a:solidFill>
                <a:latin typeface="Inter"/>
                <a:ea typeface="Inter"/>
                <a:cs typeface="Inter"/>
                <a:sym typeface="Inter"/>
              </a:rPr>
              <a:t>Aldy, J. E., Kotchen, M. J., &amp; Leiserowitz, A. A. (2012). </a:t>
            </a:r>
            <a:r>
              <a:rPr b="1" lang="en" sz="1200">
                <a:solidFill>
                  <a:srgbClr val="161613"/>
                </a:solidFill>
                <a:latin typeface="Inter"/>
                <a:ea typeface="Inter"/>
                <a:cs typeface="Inter"/>
                <a:sym typeface="Inter"/>
              </a:rPr>
              <a:t>Willingness to pay and political support for a US national clean energy standard.</a:t>
            </a:r>
            <a:br>
              <a:rPr lang="en" sz="1200">
                <a:solidFill>
                  <a:srgbClr val="161613"/>
                </a:solidFill>
                <a:latin typeface="Inter"/>
                <a:ea typeface="Inter"/>
                <a:cs typeface="Inter"/>
                <a:sym typeface="Inter"/>
              </a:rPr>
            </a:br>
            <a:r>
              <a:rPr i="1" lang="en" sz="1200">
                <a:solidFill>
                  <a:srgbClr val="161613"/>
                </a:solidFill>
                <a:latin typeface="Inter"/>
                <a:ea typeface="Inter"/>
                <a:cs typeface="Inter"/>
                <a:sym typeface="Inter"/>
              </a:rPr>
              <a:t>Nature Climate Change</a:t>
            </a:r>
            <a:r>
              <a:rPr lang="en" sz="1200">
                <a:solidFill>
                  <a:srgbClr val="161613"/>
                </a:solidFill>
                <a:latin typeface="Inter"/>
                <a:ea typeface="Inter"/>
                <a:cs typeface="Inter"/>
                <a:sym typeface="Inter"/>
              </a:rPr>
              <a:t>, 2(8), 596-599.</a:t>
            </a:r>
            <a:endParaRPr i="0" sz="1200" u="none" cap="none" strike="noStrike"/>
          </a:p>
        </p:txBody>
      </p:sp>
      <p:sp>
        <p:nvSpPr>
          <p:cNvPr id="317" name="Google Shape;317;p42"/>
          <p:cNvSpPr/>
          <p:nvPr/>
        </p:nvSpPr>
        <p:spPr>
          <a:xfrm>
            <a:off x="4870413" y="975071"/>
            <a:ext cx="21813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300" u="sng" cap="none" strike="noStrike">
                <a:solidFill>
                  <a:srgbClr val="161613"/>
                </a:solidFill>
                <a:latin typeface="DM Sans"/>
                <a:ea typeface="DM Sans"/>
                <a:cs typeface="DM Sans"/>
                <a:sym typeface="DM Sans"/>
              </a:rPr>
              <a:t>Study 2</a:t>
            </a:r>
            <a:endParaRPr b="0" i="0" sz="1300" u="sng" cap="none" strike="noStrike"/>
          </a:p>
        </p:txBody>
      </p:sp>
      <p:sp>
        <p:nvSpPr>
          <p:cNvPr id="318" name="Google Shape;318;p42"/>
          <p:cNvSpPr/>
          <p:nvPr/>
        </p:nvSpPr>
        <p:spPr>
          <a:xfrm>
            <a:off x="4870425" y="1338271"/>
            <a:ext cx="3936300" cy="85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Font typeface="Arial"/>
              <a:buNone/>
            </a:pPr>
            <a:r>
              <a:rPr lang="en" sz="1200">
                <a:solidFill>
                  <a:schemeClr val="dk1"/>
                </a:solidFill>
                <a:latin typeface="Inter"/>
                <a:ea typeface="Inter"/>
                <a:cs typeface="Inter"/>
                <a:sym typeface="Inter"/>
              </a:rPr>
              <a:t>Giguere, C., Moore, C., &amp; Whitehead, J. C. (2020). </a:t>
            </a:r>
            <a:r>
              <a:rPr b="1" lang="en" sz="1200">
                <a:solidFill>
                  <a:schemeClr val="dk1"/>
                </a:solidFill>
                <a:latin typeface="Inter"/>
                <a:ea typeface="Inter"/>
                <a:cs typeface="Inter"/>
                <a:sym typeface="Inter"/>
              </a:rPr>
              <a:t>Valuing hemlock woolly adelgid control in public forests: Scope effects with attribute nonattendance.</a:t>
            </a:r>
            <a:r>
              <a:rPr lang="en" sz="1200">
                <a:solidFill>
                  <a:schemeClr val="dk1"/>
                </a:solidFill>
                <a:latin typeface="Inter"/>
                <a:ea typeface="Inter"/>
                <a:cs typeface="Inter"/>
                <a:sym typeface="Inter"/>
              </a:rPr>
              <a:t> </a:t>
            </a:r>
            <a:r>
              <a:rPr i="1" lang="en" sz="1200">
                <a:solidFill>
                  <a:schemeClr val="dk1"/>
                </a:solidFill>
                <a:latin typeface="Inter"/>
                <a:ea typeface="Inter"/>
                <a:cs typeface="Inter"/>
                <a:sym typeface="Inter"/>
              </a:rPr>
              <a:t>Land Economics</a:t>
            </a:r>
            <a:r>
              <a:rPr lang="en" sz="1200">
                <a:solidFill>
                  <a:schemeClr val="dk1"/>
                </a:solidFill>
                <a:latin typeface="Inter"/>
                <a:ea typeface="Inter"/>
                <a:cs typeface="Inter"/>
                <a:sym typeface="Inter"/>
              </a:rPr>
              <a:t>, 96(1), 25-42.</a:t>
            </a:r>
            <a:endParaRPr i="0" sz="1200" u="none" cap="none" strike="noStrike">
              <a:latin typeface="Inter"/>
              <a:ea typeface="Inter"/>
              <a:cs typeface="Inter"/>
              <a:sym typeface="Inter"/>
            </a:endParaRPr>
          </a:p>
        </p:txBody>
      </p:sp>
      <p:sp>
        <p:nvSpPr>
          <p:cNvPr id="319" name="Google Shape;319;p42"/>
          <p:cNvSpPr/>
          <p:nvPr/>
        </p:nvSpPr>
        <p:spPr>
          <a:xfrm>
            <a:off x="496125" y="2644676"/>
            <a:ext cx="8310600" cy="2148000"/>
          </a:xfrm>
          <a:prstGeom prst="roundRect">
            <a:avLst>
              <a:gd fmla="val 2565" name="adj"/>
            </a:avLst>
          </a:prstGeom>
          <a:solidFill>
            <a:srgbClr val="D6D6DC"/>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320" name="Google Shape;320;p42"/>
          <p:cNvSpPr/>
          <p:nvPr/>
        </p:nvSpPr>
        <p:spPr>
          <a:xfrm>
            <a:off x="946950" y="2872219"/>
            <a:ext cx="7594800" cy="1692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Inter"/>
              <a:buNone/>
            </a:pPr>
            <a:r>
              <a:rPr b="1" i="0" lang="en" sz="1200" u="sng" cap="none" strike="noStrike">
                <a:solidFill>
                  <a:srgbClr val="000000"/>
                </a:solidFill>
                <a:latin typeface="Inter"/>
                <a:ea typeface="Inter"/>
                <a:cs typeface="Inter"/>
                <a:sym typeface="Inter"/>
              </a:rPr>
              <a:t>Goal</a:t>
            </a:r>
            <a:r>
              <a:rPr b="1" lang="en" sz="1200" u="sng">
                <a:latin typeface="Inter"/>
                <a:ea typeface="Inter"/>
                <a:cs typeface="Inter"/>
                <a:sym typeface="Inter"/>
              </a:rPr>
              <a:t>s</a:t>
            </a:r>
            <a:endParaRPr b="1" i="0" sz="1200" u="sng" cap="none" strike="noStrike">
              <a:solidFill>
                <a:srgbClr val="000000"/>
              </a:solidFill>
              <a:latin typeface="Inter"/>
              <a:ea typeface="Inter"/>
              <a:cs typeface="Inter"/>
              <a:sym typeface="Inter"/>
            </a:endParaRPr>
          </a:p>
          <a:p>
            <a:pPr indent="-301625" lvl="0" marL="457200" marR="0" rtl="0" algn="l">
              <a:lnSpc>
                <a:spcPct val="162857"/>
              </a:lnSpc>
              <a:spcBef>
                <a:spcPts val="0"/>
              </a:spcBef>
              <a:spcAft>
                <a:spcPts val="0"/>
              </a:spcAft>
              <a:buSzPts val="1150"/>
              <a:buFont typeface="Inter"/>
              <a:buChar char="●"/>
            </a:pPr>
            <a:r>
              <a:rPr b="0" i="0" lang="en" sz="1150" u="none" cap="none" strike="noStrike">
                <a:solidFill>
                  <a:srgbClr val="000000"/>
                </a:solidFill>
                <a:latin typeface="Inter"/>
                <a:ea typeface="Inter"/>
                <a:cs typeface="Inter"/>
                <a:sym typeface="Inter"/>
              </a:rPr>
              <a:t>Assess whether synthetic CV </a:t>
            </a:r>
            <a:r>
              <a:rPr lang="en" sz="1150">
                <a:latin typeface="Inter"/>
                <a:ea typeface="Inter"/>
                <a:cs typeface="Inter"/>
                <a:sym typeface="Inter"/>
              </a:rPr>
              <a:t>can be executed </a:t>
            </a:r>
            <a:r>
              <a:rPr b="0" i="0" lang="en" sz="1150" u="none" cap="none" strike="noStrike">
                <a:solidFill>
                  <a:srgbClr val="000000"/>
                </a:solidFill>
                <a:latin typeface="Inter"/>
                <a:ea typeface="Inter"/>
                <a:cs typeface="Inter"/>
                <a:sym typeface="Inter"/>
              </a:rPr>
              <a:t>across </a:t>
            </a:r>
            <a:r>
              <a:rPr lang="en" sz="1150">
                <a:latin typeface="Inter"/>
                <a:ea typeface="Inter"/>
                <a:cs typeface="Inter"/>
                <a:sym typeface="Inter"/>
              </a:rPr>
              <a:t>different</a:t>
            </a:r>
            <a:r>
              <a:rPr i="0" lang="en" sz="1150" u="none" cap="none" strike="noStrike">
                <a:solidFill>
                  <a:srgbClr val="000000"/>
                </a:solidFill>
                <a:latin typeface="Inter"/>
                <a:ea typeface="Inter"/>
                <a:cs typeface="Inter"/>
                <a:sym typeface="Inter"/>
              </a:rPr>
              <a:t> policy contexts and survey designs</a:t>
            </a:r>
            <a:r>
              <a:rPr lang="en" sz="1150">
                <a:latin typeface="Inter"/>
                <a:ea typeface="Inter"/>
                <a:cs typeface="Inter"/>
                <a:sym typeface="Inter"/>
              </a:rPr>
              <a:t>.</a:t>
            </a:r>
            <a:endParaRPr sz="1150">
              <a:latin typeface="Inter"/>
              <a:ea typeface="Inter"/>
              <a:cs typeface="Inter"/>
              <a:sym typeface="Inter"/>
            </a:endParaRPr>
          </a:p>
          <a:p>
            <a:pPr indent="-301625" lvl="0" marL="457200" marR="0" rtl="0" algn="l">
              <a:lnSpc>
                <a:spcPct val="162857"/>
              </a:lnSpc>
              <a:spcBef>
                <a:spcPts val="0"/>
              </a:spcBef>
              <a:spcAft>
                <a:spcPts val="0"/>
              </a:spcAft>
              <a:buSzPts val="1150"/>
              <a:buFont typeface="Inter"/>
              <a:buChar char="●"/>
            </a:pPr>
            <a:r>
              <a:rPr lang="en" sz="1150">
                <a:latin typeface="Inter"/>
                <a:ea typeface="Inter"/>
                <a:cs typeface="Inter"/>
                <a:sym typeface="Inter"/>
              </a:rPr>
              <a:t>Compare synthetic results to original results.</a:t>
            </a:r>
            <a:endParaRPr sz="1150">
              <a:latin typeface="Inter"/>
              <a:ea typeface="Inter"/>
              <a:cs typeface="Inter"/>
              <a:sym typeface="Inter"/>
            </a:endParaRPr>
          </a:p>
          <a:p>
            <a:pPr indent="-301625" lvl="2" marL="1371600" marR="0" rtl="0" algn="l">
              <a:lnSpc>
                <a:spcPct val="150000"/>
              </a:lnSpc>
              <a:spcBef>
                <a:spcPts val="0"/>
              </a:spcBef>
              <a:spcAft>
                <a:spcPts val="0"/>
              </a:spcAft>
              <a:buSzPts val="1150"/>
              <a:buFont typeface="Inter"/>
              <a:buChar char="■"/>
            </a:pPr>
            <a:r>
              <a:rPr lang="en" sz="1150">
                <a:latin typeface="Inter"/>
                <a:ea typeface="Inter"/>
                <a:cs typeface="Inter"/>
                <a:sym typeface="Inter"/>
              </a:rPr>
              <a:t>Across Variations of provided inputs: Demographic only, Demographic + All Beliefs, Demographic + One-Belief-at-a-time.</a:t>
            </a:r>
            <a:endParaRPr sz="1150">
              <a:latin typeface="Inter"/>
              <a:ea typeface="Inter"/>
              <a:cs typeface="Inter"/>
              <a:sym typeface="Inter"/>
            </a:endParaRPr>
          </a:p>
          <a:p>
            <a:pPr indent="-298450" lvl="2" marL="1371600" marR="0" rtl="0" algn="l">
              <a:lnSpc>
                <a:spcPct val="150000"/>
              </a:lnSpc>
              <a:spcBef>
                <a:spcPts val="0"/>
              </a:spcBef>
              <a:spcAft>
                <a:spcPts val="0"/>
              </a:spcAft>
              <a:buSzPts val="1100"/>
              <a:buFont typeface="Inter"/>
              <a:buChar char="■"/>
            </a:pPr>
            <a:r>
              <a:rPr lang="en" sz="1150">
                <a:latin typeface="Inter"/>
                <a:ea typeface="Inter"/>
                <a:cs typeface="Inter"/>
                <a:sym typeface="Inter"/>
              </a:rPr>
              <a:t>Across different LLM models. Across repeated synthetic simulation.</a:t>
            </a:r>
            <a:endParaRPr b="0" i="0" sz="1100" u="none" cap="none" strike="noStrike"/>
          </a:p>
        </p:txBody>
      </p:sp>
      <p:sp>
        <p:nvSpPr>
          <p:cNvPr id="321" name="Google Shape;321;p42"/>
          <p:cNvSpPr/>
          <p:nvPr/>
        </p:nvSpPr>
        <p:spPr>
          <a:xfrm>
            <a:off x="146350" y="312775"/>
            <a:ext cx="5183700" cy="332400"/>
          </a:xfrm>
          <a:prstGeom prst="rect">
            <a:avLst/>
          </a:prstGeom>
          <a:noFill/>
          <a:ln>
            <a:noFill/>
          </a:ln>
        </p:spPr>
        <p:txBody>
          <a:bodyPr anchorCtr="0" anchor="t" bIns="0" lIns="0" spcFirstLastPara="1" rIns="0" wrap="square" tIns="0">
            <a:noAutofit/>
          </a:bodyPr>
          <a:lstStyle/>
          <a:p>
            <a:pPr indent="0" lvl="0" marL="0" rtl="0" algn="l">
              <a:lnSpc>
                <a:spcPct val="125757"/>
              </a:lnSpc>
              <a:spcBef>
                <a:spcPts val="0"/>
              </a:spcBef>
              <a:spcAft>
                <a:spcPts val="0"/>
              </a:spcAft>
              <a:buClr>
                <a:srgbClr val="161613"/>
              </a:buClr>
              <a:buSzPts val="2100"/>
              <a:buFont typeface="DM Sans"/>
              <a:buNone/>
            </a:pPr>
            <a:r>
              <a:rPr lang="en" sz="1600">
                <a:solidFill>
                  <a:srgbClr val="161613"/>
                </a:solidFill>
                <a:latin typeface="DM Sans Medium"/>
                <a:ea typeface="DM Sans Medium"/>
                <a:cs typeface="DM Sans Medium"/>
                <a:sym typeface="DM Sans Medium"/>
              </a:rPr>
              <a:t>Two WTP Studies</a:t>
            </a:r>
            <a:r>
              <a:rPr lang="en" sz="1600">
                <a:solidFill>
                  <a:srgbClr val="161613"/>
                </a:solidFill>
                <a:latin typeface="DM Sans"/>
                <a:ea typeface="DM Sans"/>
                <a:cs typeface="DM Sans"/>
                <a:sym typeface="DM Sans"/>
              </a:rPr>
              <a:t> We </a:t>
            </a:r>
            <a:r>
              <a:rPr i="1" lang="en" sz="1600">
                <a:solidFill>
                  <a:srgbClr val="161613"/>
                </a:solidFill>
                <a:latin typeface="DM Sans"/>
                <a:ea typeface="DM Sans"/>
                <a:cs typeface="DM Sans"/>
                <a:sym typeface="DM Sans"/>
              </a:rPr>
              <a:t>Synthetically Replicate</a:t>
            </a:r>
            <a:endParaRPr i="1" sz="1600">
              <a:solidFill>
                <a:srgbClr val="161613"/>
              </a:solidFill>
              <a:latin typeface="DM Sans"/>
              <a:ea typeface="DM Sans"/>
              <a:cs typeface="DM Sans"/>
              <a:sym typeface="DM Sans"/>
            </a:endParaRPr>
          </a:p>
          <a:p>
            <a:pPr indent="0" lvl="0" marL="0" marR="0" rtl="0" algn="l">
              <a:lnSpc>
                <a:spcPct val="125757"/>
              </a:lnSpc>
              <a:spcBef>
                <a:spcPts val="0"/>
              </a:spcBef>
              <a:spcAft>
                <a:spcPts val="0"/>
              </a:spcAft>
              <a:buClr>
                <a:srgbClr val="161613"/>
              </a:buClr>
              <a:buSzPts val="2100"/>
              <a:buFont typeface="DM Sans"/>
              <a:buNone/>
            </a:pPr>
            <a:r>
              <a:t/>
            </a:r>
            <a:endParaRPr sz="1600">
              <a:solidFill>
                <a:srgbClr val="161613"/>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3"/>
          <p:cNvSpPr/>
          <p:nvPr/>
        </p:nvSpPr>
        <p:spPr>
          <a:xfrm>
            <a:off x="496119" y="1529110"/>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Policy</a:t>
            </a:r>
            <a:endParaRPr b="0" i="0" sz="1400" u="none" cap="none" strike="noStrike"/>
          </a:p>
        </p:txBody>
      </p:sp>
      <p:sp>
        <p:nvSpPr>
          <p:cNvPr id="328" name="Google Shape;328;p43"/>
          <p:cNvSpPr/>
          <p:nvPr/>
        </p:nvSpPr>
        <p:spPr>
          <a:xfrm>
            <a:off x="496119" y="1892275"/>
            <a:ext cx="39030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b="0" i="0" lang="en" sz="1100" u="none" cap="none" strike="noStrike">
                <a:solidFill>
                  <a:srgbClr val="161613"/>
                </a:solidFill>
                <a:latin typeface="Inter"/>
                <a:ea typeface="Inter"/>
                <a:cs typeface="Inter"/>
                <a:sym typeface="Inter"/>
              </a:rPr>
              <a:t>US National Clean Energy Standard — 80% clean electricity by 2035</a:t>
            </a:r>
            <a:endParaRPr b="0" i="0" sz="1100" u="none" cap="none" strike="noStrike"/>
          </a:p>
        </p:txBody>
      </p:sp>
      <p:sp>
        <p:nvSpPr>
          <p:cNvPr id="329" name="Google Shape;329;p43"/>
          <p:cNvSpPr/>
          <p:nvPr/>
        </p:nvSpPr>
        <p:spPr>
          <a:xfrm>
            <a:off x="496119" y="2487662"/>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Design</a:t>
            </a:r>
            <a:endParaRPr b="0" i="0" sz="1400" u="none" cap="none" strike="noStrike"/>
          </a:p>
        </p:txBody>
      </p:sp>
      <p:sp>
        <p:nvSpPr>
          <p:cNvPr id="330" name="Google Shape;330;p43"/>
          <p:cNvSpPr/>
          <p:nvPr/>
        </p:nvSpPr>
        <p:spPr>
          <a:xfrm>
            <a:off x="496119" y="2850877"/>
            <a:ext cx="3903000" cy="503400"/>
          </a:xfrm>
          <a:prstGeom prst="rect">
            <a:avLst/>
          </a:prstGeom>
          <a:noFill/>
          <a:ln>
            <a:noFill/>
          </a:ln>
        </p:spPr>
        <p:txBody>
          <a:bodyPr anchorCtr="0" anchor="t" bIns="0" lIns="0" spcFirstLastPara="1" rIns="0" wrap="square" tIns="0">
            <a:noAutofit/>
          </a:bodyPr>
          <a:lstStyle/>
          <a:p>
            <a:pPr indent="-222250" lvl="0" marL="2159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Referendum-style support question</a:t>
            </a:r>
            <a:endParaRPr b="0" i="0" sz="1100" u="none" cap="none" strike="noStrike"/>
          </a:p>
          <a:p>
            <a:pPr indent="-222250" lvl="0" marL="2159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Randomized annual electricity bill increase (bid)</a:t>
            </a:r>
            <a:endParaRPr b="0" i="0" sz="1100" u="none" cap="none" strike="noStrike"/>
          </a:p>
        </p:txBody>
      </p:sp>
      <p:sp>
        <p:nvSpPr>
          <p:cNvPr id="331" name="Google Shape;331;p43"/>
          <p:cNvSpPr/>
          <p:nvPr/>
        </p:nvSpPr>
        <p:spPr>
          <a:xfrm>
            <a:off x="496119" y="3495824"/>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Benchmark Outputs</a:t>
            </a:r>
            <a:endParaRPr b="0" i="0" sz="1400" u="none" cap="none" strike="noStrike"/>
          </a:p>
        </p:txBody>
      </p:sp>
      <p:sp>
        <p:nvSpPr>
          <p:cNvPr id="332" name="Google Shape;332;p43"/>
          <p:cNvSpPr/>
          <p:nvPr/>
        </p:nvSpPr>
        <p:spPr>
          <a:xfrm>
            <a:off x="496119" y="3859039"/>
            <a:ext cx="3903000" cy="503400"/>
          </a:xfrm>
          <a:prstGeom prst="rect">
            <a:avLst/>
          </a:prstGeom>
          <a:noFill/>
          <a:ln>
            <a:noFill/>
          </a:ln>
        </p:spPr>
        <p:txBody>
          <a:bodyPr anchorCtr="0" anchor="t" bIns="0" lIns="0" spcFirstLastPara="1" rIns="0" wrap="square" tIns="0">
            <a:noAutofit/>
          </a:bodyPr>
          <a:lstStyle/>
          <a:p>
            <a:pPr indent="-222250" lvl="0" marL="2159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Approval probability vs. bid curve</a:t>
            </a:r>
            <a:endParaRPr b="0" i="0" sz="1100" u="none" cap="none" strike="noStrike"/>
          </a:p>
          <a:p>
            <a:pPr indent="-222250" lvl="0" marL="2159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Logit-based mean WTP with CI</a:t>
            </a:r>
            <a:endParaRPr b="0" i="0" sz="1100" u="none" cap="none" strike="noStrike"/>
          </a:p>
        </p:txBody>
      </p:sp>
      <p:pic>
        <p:nvPicPr>
          <p:cNvPr descr="preencoded.png" id="333" name="Google Shape;333;p43"/>
          <p:cNvPicPr preferRelativeResize="0"/>
          <p:nvPr/>
        </p:nvPicPr>
        <p:blipFill rotWithShape="1">
          <a:blip r:embed="rId3">
            <a:alphaModFix/>
          </a:blip>
          <a:srcRect b="0" l="0" r="0" t="0"/>
          <a:stretch/>
        </p:blipFill>
        <p:spPr>
          <a:xfrm>
            <a:off x="4891459" y="1761828"/>
            <a:ext cx="177180" cy="141759"/>
          </a:xfrm>
          <a:prstGeom prst="rect">
            <a:avLst/>
          </a:prstGeom>
          <a:noFill/>
          <a:ln>
            <a:noFill/>
          </a:ln>
        </p:spPr>
      </p:pic>
      <p:sp>
        <p:nvSpPr>
          <p:cNvPr id="334" name="Google Shape;334;p43"/>
          <p:cNvSpPr/>
          <p:nvPr/>
        </p:nvSpPr>
        <p:spPr>
          <a:xfrm>
            <a:off x="4631400" y="4152375"/>
            <a:ext cx="4111800" cy="634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lang="en" sz="1000">
                <a:solidFill>
                  <a:srgbClr val="161613"/>
                </a:solidFill>
                <a:latin typeface="DM Sans"/>
                <a:ea typeface="DM Sans"/>
                <a:cs typeface="DM Sans"/>
                <a:sym typeface="DM Sans"/>
              </a:rPr>
              <a:t>Figure</a:t>
            </a:r>
            <a:r>
              <a:rPr lang="en" sz="1000">
                <a:solidFill>
                  <a:srgbClr val="161613"/>
                </a:solidFill>
                <a:latin typeface="DM Sans"/>
                <a:ea typeface="DM Sans"/>
                <a:cs typeface="DM Sans"/>
                <a:sym typeface="DM Sans"/>
              </a:rPr>
              <a:t> 1: Distribution of ‘support’ responses at each bid amount in Aldy et al. (2012).</a:t>
            </a:r>
            <a:endParaRPr b="0" i="0" sz="1000" u="none" cap="none" strike="noStrike"/>
          </a:p>
        </p:txBody>
      </p:sp>
      <p:pic>
        <p:nvPicPr>
          <p:cNvPr id="335" name="Google Shape;335;p43" title="Graphbidss.jpg"/>
          <p:cNvPicPr preferRelativeResize="0"/>
          <p:nvPr/>
        </p:nvPicPr>
        <p:blipFill>
          <a:blip r:embed="rId4">
            <a:alphaModFix/>
          </a:blip>
          <a:stretch>
            <a:fillRect/>
          </a:stretch>
        </p:blipFill>
        <p:spPr>
          <a:xfrm>
            <a:off x="4631400" y="1529050"/>
            <a:ext cx="4111726" cy="2467026"/>
          </a:xfrm>
          <a:prstGeom prst="rect">
            <a:avLst/>
          </a:prstGeom>
          <a:noFill/>
          <a:ln>
            <a:noFill/>
          </a:ln>
        </p:spPr>
      </p:pic>
      <p:sp>
        <p:nvSpPr>
          <p:cNvPr id="336" name="Google Shape;336;p43"/>
          <p:cNvSpPr/>
          <p:nvPr/>
        </p:nvSpPr>
        <p:spPr>
          <a:xfrm>
            <a:off x="146350" y="312775"/>
            <a:ext cx="51837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Study 1: Clean Energy Standard (NCES) </a:t>
            </a:r>
            <a:endParaRPr sz="1600">
              <a:solidFill>
                <a:srgbClr val="161613"/>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p:nvPr/>
        </p:nvSpPr>
        <p:spPr>
          <a:xfrm>
            <a:off x="146350" y="312775"/>
            <a:ext cx="74985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Study 1: Clean Energy Standard (NCES) - original data and results </a:t>
            </a:r>
            <a:endParaRPr sz="1600">
              <a:solidFill>
                <a:srgbClr val="161613"/>
              </a:solidFill>
              <a:latin typeface="DM Sans"/>
              <a:ea typeface="DM Sans"/>
              <a:cs typeface="DM Sans"/>
              <a:sym typeface="DM Sans"/>
            </a:endParaRPr>
          </a:p>
        </p:txBody>
      </p:sp>
      <p:sp>
        <p:nvSpPr>
          <p:cNvPr id="342" name="Google Shape;342;p44"/>
          <p:cNvSpPr/>
          <p:nvPr/>
        </p:nvSpPr>
        <p:spPr>
          <a:xfrm>
            <a:off x="496125" y="1656250"/>
            <a:ext cx="2991600" cy="30879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Clr>
                <a:srgbClr val="161613"/>
              </a:buClr>
              <a:buSzPts val="1100"/>
              <a:buFont typeface="Inter"/>
              <a:buChar char="●"/>
            </a:pPr>
            <a:r>
              <a:rPr b="1" lang="en" sz="1100">
                <a:solidFill>
                  <a:srgbClr val="161613"/>
                </a:solidFill>
                <a:latin typeface="Inter"/>
                <a:ea typeface="Inter"/>
                <a:cs typeface="Inter"/>
                <a:sym typeface="Inter"/>
              </a:rPr>
              <a:t>Data:</a:t>
            </a:r>
            <a:r>
              <a:rPr lang="en" sz="1100">
                <a:solidFill>
                  <a:srgbClr val="161613"/>
                </a:solidFill>
                <a:latin typeface="Inter"/>
                <a:ea typeface="Inter"/>
                <a:cs typeface="Inter"/>
                <a:sym typeface="Inter"/>
              </a:rPr>
              <a:t> nationally representative survey of 1,010 adults</a:t>
            </a:r>
            <a:endParaRPr sz="1100">
              <a:solidFill>
                <a:srgbClr val="161613"/>
              </a:solidFill>
              <a:latin typeface="Inter"/>
              <a:ea typeface="Inter"/>
              <a:cs typeface="Inter"/>
              <a:sym typeface="Inter"/>
            </a:endParaRPr>
          </a:p>
          <a:p>
            <a:pPr indent="-298450" lvl="0" marL="457200" marR="0" rtl="0" algn="l">
              <a:lnSpc>
                <a:spcPct val="162857"/>
              </a:lnSpc>
              <a:spcBef>
                <a:spcPts val="0"/>
              </a:spcBef>
              <a:spcAft>
                <a:spcPts val="0"/>
              </a:spcAft>
              <a:buClr>
                <a:srgbClr val="161613"/>
              </a:buClr>
              <a:buSzPts val="1100"/>
              <a:buFont typeface="Inter"/>
              <a:buChar char="●"/>
            </a:pPr>
            <a:r>
              <a:rPr lang="en" sz="1100">
                <a:solidFill>
                  <a:srgbClr val="161613"/>
                </a:solidFill>
                <a:latin typeface="Inter"/>
                <a:ea typeface="Inter"/>
                <a:cs typeface="Inter"/>
                <a:sym typeface="Inter"/>
              </a:rPr>
              <a:t>Respondents asked if they support NCES (80% clean electricity by 2035)</a:t>
            </a:r>
            <a:endParaRPr sz="1100">
              <a:solidFill>
                <a:srgbClr val="161613"/>
              </a:solidFill>
              <a:latin typeface="Inter"/>
              <a:ea typeface="Inter"/>
              <a:cs typeface="Inter"/>
              <a:sym typeface="Inter"/>
            </a:endParaRPr>
          </a:p>
          <a:p>
            <a:pPr indent="-298450" lvl="0" marL="457200" marR="0" rtl="0" algn="l">
              <a:lnSpc>
                <a:spcPct val="162857"/>
              </a:lnSpc>
              <a:spcBef>
                <a:spcPts val="0"/>
              </a:spcBef>
              <a:spcAft>
                <a:spcPts val="0"/>
              </a:spcAft>
              <a:buClr>
                <a:srgbClr val="161613"/>
              </a:buClr>
              <a:buSzPts val="1100"/>
              <a:buFont typeface="Inter"/>
              <a:buChar char="●"/>
            </a:pPr>
            <a:r>
              <a:rPr b="1" lang="en" sz="1100">
                <a:solidFill>
                  <a:srgbClr val="161613"/>
                </a:solidFill>
                <a:latin typeface="Inter"/>
                <a:ea typeface="Inter"/>
                <a:cs typeface="Inter"/>
                <a:sym typeface="Inter"/>
              </a:rPr>
              <a:t>Randomized treatments</a:t>
            </a:r>
            <a:r>
              <a:rPr lang="en" sz="1100">
                <a:solidFill>
                  <a:srgbClr val="161613"/>
                </a:solidFill>
                <a:latin typeface="Inter"/>
                <a:ea typeface="Inter"/>
                <a:cs typeface="Inter"/>
                <a:sym typeface="Inter"/>
              </a:rPr>
              <a:t>:  </a:t>
            </a:r>
            <a:endParaRPr sz="1100">
              <a:solidFill>
                <a:srgbClr val="161613"/>
              </a:solidFill>
              <a:latin typeface="Inter"/>
              <a:ea typeface="Inter"/>
              <a:cs typeface="Inter"/>
              <a:sym typeface="Inter"/>
            </a:endParaRPr>
          </a:p>
          <a:p>
            <a:pPr indent="-298450" lvl="0" marL="457200" marR="0" rtl="0" algn="l">
              <a:lnSpc>
                <a:spcPct val="162857"/>
              </a:lnSpc>
              <a:spcBef>
                <a:spcPts val="0"/>
              </a:spcBef>
              <a:spcAft>
                <a:spcPts val="0"/>
              </a:spcAft>
              <a:buClr>
                <a:srgbClr val="161613"/>
              </a:buClr>
              <a:buSzPts val="1100"/>
              <a:buFont typeface="Inter"/>
              <a:buChar char="-"/>
            </a:pPr>
            <a:r>
              <a:rPr lang="en" sz="1100">
                <a:solidFill>
                  <a:srgbClr val="161613"/>
                </a:solidFill>
                <a:latin typeface="Inter"/>
                <a:ea typeface="Inter"/>
                <a:cs typeface="Inter"/>
                <a:sym typeface="Inter"/>
              </a:rPr>
              <a:t>Cost of policy (“bid”): </a:t>
            </a:r>
            <a:r>
              <a:rPr i="1" lang="en" sz="1100">
                <a:solidFill>
                  <a:srgbClr val="161613"/>
                </a:solidFill>
                <a:latin typeface="Inter"/>
                <a:ea typeface="Inter"/>
                <a:cs typeface="Inter"/>
                <a:sym typeface="Inter"/>
              </a:rPr>
              <a:t>$5-$135</a:t>
            </a:r>
            <a:endParaRPr sz="1100">
              <a:solidFill>
                <a:srgbClr val="161613"/>
              </a:solidFill>
              <a:latin typeface="Inter"/>
              <a:ea typeface="Inter"/>
              <a:cs typeface="Inter"/>
              <a:sym typeface="Inter"/>
            </a:endParaRPr>
          </a:p>
          <a:p>
            <a:pPr indent="-298450" lvl="0" marL="457200" marR="0" rtl="0" algn="l">
              <a:lnSpc>
                <a:spcPct val="162857"/>
              </a:lnSpc>
              <a:spcBef>
                <a:spcPts val="0"/>
              </a:spcBef>
              <a:spcAft>
                <a:spcPts val="0"/>
              </a:spcAft>
              <a:buClr>
                <a:srgbClr val="161613"/>
              </a:buClr>
              <a:buSzPts val="1100"/>
              <a:buFont typeface="Inter"/>
              <a:buChar char="-"/>
            </a:pPr>
            <a:r>
              <a:rPr lang="en" sz="1100">
                <a:solidFill>
                  <a:srgbClr val="161613"/>
                </a:solidFill>
                <a:latin typeface="Inter"/>
                <a:ea typeface="Inter"/>
                <a:cs typeface="Inter"/>
                <a:sym typeface="Inter"/>
              </a:rPr>
              <a:t>definition of clean energy (</a:t>
            </a:r>
            <a:r>
              <a:rPr i="1" lang="en" sz="1100">
                <a:solidFill>
                  <a:srgbClr val="161613"/>
                </a:solidFill>
                <a:latin typeface="Inter"/>
                <a:ea typeface="Inter"/>
                <a:cs typeface="Inter"/>
                <a:sym typeface="Inter"/>
              </a:rPr>
              <a:t>Renewables only, Renewables + natural gas, Renewables + nuclear</a:t>
            </a:r>
            <a:r>
              <a:rPr lang="en" sz="1100">
                <a:solidFill>
                  <a:srgbClr val="161613"/>
                </a:solidFill>
                <a:latin typeface="Inter"/>
                <a:ea typeface="Inter"/>
                <a:cs typeface="Inter"/>
                <a:sym typeface="Inter"/>
              </a:rPr>
              <a:t>)</a:t>
            </a:r>
            <a:endParaRPr sz="1100">
              <a:solidFill>
                <a:srgbClr val="161613"/>
              </a:solidFill>
              <a:latin typeface="Inter"/>
              <a:ea typeface="Inter"/>
              <a:cs typeface="Inter"/>
              <a:sym typeface="Inter"/>
            </a:endParaRPr>
          </a:p>
          <a:p>
            <a:pPr indent="-298450" lvl="0" marL="457200" marR="0" rtl="0" algn="l">
              <a:lnSpc>
                <a:spcPct val="162857"/>
              </a:lnSpc>
              <a:spcBef>
                <a:spcPts val="0"/>
              </a:spcBef>
              <a:spcAft>
                <a:spcPts val="0"/>
              </a:spcAft>
              <a:buClr>
                <a:srgbClr val="161613"/>
              </a:buClr>
              <a:buSzPts val="1100"/>
              <a:buFont typeface="Inter"/>
              <a:buChar char="●"/>
            </a:pPr>
            <a:r>
              <a:rPr b="1" lang="en" sz="1100">
                <a:solidFill>
                  <a:srgbClr val="161613"/>
                </a:solidFill>
                <a:latin typeface="Inter"/>
                <a:ea typeface="Inter"/>
                <a:cs typeface="Inter"/>
                <a:sym typeface="Inter"/>
              </a:rPr>
              <a:t>Estimation:</a:t>
            </a:r>
            <a:r>
              <a:rPr lang="en" sz="1100">
                <a:solidFill>
                  <a:srgbClr val="161613"/>
                </a:solidFill>
                <a:latin typeface="Inter"/>
                <a:ea typeface="Inter"/>
                <a:cs typeface="Inter"/>
                <a:sym typeface="Inter"/>
              </a:rPr>
              <a:t> Logit model (pooled across treatments) </a:t>
            </a:r>
            <a:endParaRPr sz="1100">
              <a:solidFill>
                <a:srgbClr val="161613"/>
              </a:solidFill>
              <a:latin typeface="Inter"/>
              <a:ea typeface="Inter"/>
              <a:cs typeface="Inter"/>
              <a:sym typeface="Inter"/>
            </a:endParaRPr>
          </a:p>
          <a:p>
            <a:pPr indent="0" lvl="0" marL="0" marR="0" rtl="0" algn="l">
              <a:lnSpc>
                <a:spcPct val="162857"/>
              </a:lnSpc>
              <a:spcBef>
                <a:spcPts val="0"/>
              </a:spcBef>
              <a:spcAft>
                <a:spcPts val="0"/>
              </a:spcAft>
              <a:buClr>
                <a:srgbClr val="161613"/>
              </a:buClr>
              <a:buSzPts val="1100"/>
              <a:buFont typeface="Inter"/>
              <a:buNone/>
            </a:pPr>
            <a:r>
              <a:t/>
            </a:r>
            <a:endParaRPr sz="1100">
              <a:solidFill>
                <a:srgbClr val="161613"/>
              </a:solidFill>
              <a:latin typeface="Inter"/>
              <a:ea typeface="Inter"/>
              <a:cs typeface="Inter"/>
              <a:sym typeface="Inter"/>
            </a:endParaRPr>
          </a:p>
          <a:p>
            <a:pPr indent="0" lvl="0" marL="0" marR="0" rtl="0" algn="l">
              <a:lnSpc>
                <a:spcPct val="162857"/>
              </a:lnSpc>
              <a:spcBef>
                <a:spcPts val="0"/>
              </a:spcBef>
              <a:spcAft>
                <a:spcPts val="0"/>
              </a:spcAft>
              <a:buClr>
                <a:srgbClr val="161613"/>
              </a:buClr>
              <a:buSzPts val="1100"/>
              <a:buFont typeface="Inter"/>
              <a:buNone/>
            </a:pPr>
            <a:r>
              <a:t/>
            </a:r>
            <a:endParaRPr sz="1100">
              <a:solidFill>
                <a:srgbClr val="161613"/>
              </a:solidFill>
              <a:latin typeface="Inter"/>
              <a:ea typeface="Inter"/>
              <a:cs typeface="Inter"/>
              <a:sym typeface="Inter"/>
            </a:endParaRPr>
          </a:p>
        </p:txBody>
      </p:sp>
      <p:sp>
        <p:nvSpPr>
          <p:cNvPr id="343" name="Google Shape;343;p44"/>
          <p:cNvSpPr/>
          <p:nvPr/>
        </p:nvSpPr>
        <p:spPr>
          <a:xfrm>
            <a:off x="496119" y="1158035"/>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lang="en">
                <a:solidFill>
                  <a:srgbClr val="161613"/>
                </a:solidFill>
                <a:latin typeface="DM Sans"/>
                <a:ea typeface="DM Sans"/>
                <a:cs typeface="DM Sans"/>
                <a:sym typeface="DM Sans"/>
              </a:rPr>
              <a:t>Data &amp; Methods</a:t>
            </a:r>
            <a:endParaRPr b="0" i="0" sz="1400" u="none" cap="none" strike="noStrike"/>
          </a:p>
        </p:txBody>
      </p:sp>
      <p:sp>
        <p:nvSpPr>
          <p:cNvPr id="344" name="Google Shape;344;p44"/>
          <p:cNvSpPr/>
          <p:nvPr/>
        </p:nvSpPr>
        <p:spPr>
          <a:xfrm>
            <a:off x="4864329" y="1158025"/>
            <a:ext cx="27804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lang="en">
                <a:solidFill>
                  <a:srgbClr val="161613"/>
                </a:solidFill>
                <a:latin typeface="DM Sans"/>
                <a:ea typeface="DM Sans"/>
                <a:cs typeface="DM Sans"/>
                <a:sym typeface="DM Sans"/>
              </a:rPr>
              <a:t>Results from the paper</a:t>
            </a:r>
            <a:endParaRPr b="0" i="0" sz="1400" u="none" cap="none" strike="noStrike"/>
          </a:p>
        </p:txBody>
      </p:sp>
      <p:sp>
        <p:nvSpPr>
          <p:cNvPr id="345" name="Google Shape;345;p44"/>
          <p:cNvSpPr/>
          <p:nvPr/>
        </p:nvSpPr>
        <p:spPr>
          <a:xfrm>
            <a:off x="4864325" y="1609275"/>
            <a:ext cx="3109200" cy="17724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Clr>
                <a:srgbClr val="161613"/>
              </a:buClr>
              <a:buSzPts val="1100"/>
              <a:buFont typeface="Inter"/>
              <a:buChar char="●"/>
            </a:pPr>
            <a:r>
              <a:rPr b="1" lang="en" sz="1100">
                <a:solidFill>
                  <a:srgbClr val="161613"/>
                </a:solidFill>
                <a:latin typeface="Inter"/>
                <a:ea typeface="Inter"/>
                <a:cs typeface="Inter"/>
                <a:sym typeface="Inter"/>
              </a:rPr>
              <a:t>Mean WTP for policy:</a:t>
            </a:r>
            <a:r>
              <a:rPr lang="en" sz="1100">
                <a:solidFill>
                  <a:srgbClr val="161613"/>
                </a:solidFill>
                <a:latin typeface="Inter"/>
                <a:ea typeface="Inter"/>
                <a:cs typeface="Inter"/>
                <a:sym typeface="Inter"/>
              </a:rPr>
              <a:t> $162 per household/year (95% CI: $128-$260) </a:t>
            </a:r>
            <a:endParaRPr sz="1100">
              <a:solidFill>
                <a:srgbClr val="161613"/>
              </a:solidFill>
              <a:latin typeface="Inter"/>
              <a:ea typeface="Inter"/>
              <a:cs typeface="Inter"/>
              <a:sym typeface="Inter"/>
            </a:endParaRPr>
          </a:p>
          <a:p>
            <a:pPr indent="-298450" lvl="0" marL="457200" marR="0" rtl="0" algn="l">
              <a:lnSpc>
                <a:spcPct val="162857"/>
              </a:lnSpc>
              <a:spcBef>
                <a:spcPts val="0"/>
              </a:spcBef>
              <a:spcAft>
                <a:spcPts val="0"/>
              </a:spcAft>
              <a:buClr>
                <a:srgbClr val="161613"/>
              </a:buClr>
              <a:buSzPts val="1100"/>
              <a:buFont typeface="Inter"/>
              <a:buChar char="●"/>
            </a:pPr>
            <a:r>
              <a:rPr lang="en" sz="1100">
                <a:solidFill>
                  <a:srgbClr val="161613"/>
                </a:solidFill>
                <a:latin typeface="Inter"/>
                <a:ea typeface="Inter"/>
                <a:cs typeface="Inter"/>
                <a:sym typeface="Inter"/>
              </a:rPr>
              <a:t>Significant negative effect of the  bid amount on the probability to support</a:t>
            </a:r>
            <a:endParaRPr sz="1100">
              <a:solidFill>
                <a:srgbClr val="161613"/>
              </a:solidFill>
              <a:latin typeface="Inter"/>
              <a:ea typeface="Inter"/>
              <a:cs typeface="Inter"/>
              <a:sym typeface="Inter"/>
            </a:endParaRPr>
          </a:p>
          <a:p>
            <a:pPr indent="0" lvl="0" marL="0" marR="0" rtl="0" algn="l">
              <a:lnSpc>
                <a:spcPct val="162857"/>
              </a:lnSpc>
              <a:spcBef>
                <a:spcPts val="0"/>
              </a:spcBef>
              <a:spcAft>
                <a:spcPts val="0"/>
              </a:spcAft>
              <a:buClr>
                <a:srgbClr val="161613"/>
              </a:buClr>
              <a:buSzPts val="1100"/>
              <a:buFont typeface="Inter"/>
              <a:buNone/>
            </a:pPr>
            <a:r>
              <a:t/>
            </a:r>
            <a:endParaRPr sz="1100">
              <a:solidFill>
                <a:srgbClr val="161613"/>
              </a:solidFill>
              <a:latin typeface="Inter"/>
              <a:ea typeface="Inter"/>
              <a:cs typeface="Inter"/>
              <a:sym typeface="Inter"/>
            </a:endParaRPr>
          </a:p>
          <a:p>
            <a:pPr indent="0" lvl="0" marL="0" marR="0" rtl="0" algn="l">
              <a:lnSpc>
                <a:spcPct val="162857"/>
              </a:lnSpc>
              <a:spcBef>
                <a:spcPts val="0"/>
              </a:spcBef>
              <a:spcAft>
                <a:spcPts val="0"/>
              </a:spcAft>
              <a:buClr>
                <a:srgbClr val="161613"/>
              </a:buClr>
              <a:buSzPts val="1100"/>
              <a:buFont typeface="Inter"/>
              <a:buNone/>
            </a:pPr>
            <a:r>
              <a:t/>
            </a:r>
            <a:endParaRPr sz="1100">
              <a:solidFill>
                <a:srgbClr val="161613"/>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5"/>
          <p:cNvSpPr/>
          <p:nvPr/>
        </p:nvSpPr>
        <p:spPr>
          <a:xfrm>
            <a:off x="146351" y="303329"/>
            <a:ext cx="7265400" cy="4431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61613"/>
              </a:buClr>
              <a:buSzPts val="2800"/>
              <a:buFont typeface="DM Sans"/>
              <a:buNone/>
            </a:pPr>
            <a:r>
              <a:rPr lang="en" sz="1600">
                <a:solidFill>
                  <a:srgbClr val="161613"/>
                </a:solidFill>
                <a:latin typeface="DM Sans"/>
                <a:ea typeface="DM Sans"/>
                <a:cs typeface="DM Sans"/>
                <a:sym typeface="DM Sans"/>
              </a:rPr>
              <a:t>Study 1 Synthetic Replication – </a:t>
            </a:r>
            <a:r>
              <a:rPr lang="en" sz="1600">
                <a:solidFill>
                  <a:srgbClr val="161613"/>
                </a:solidFill>
                <a:latin typeface="DM Sans"/>
                <a:ea typeface="DM Sans"/>
                <a:cs typeface="DM Sans"/>
                <a:sym typeface="DM Sans"/>
              </a:rPr>
              <a:t>Results</a:t>
            </a:r>
            <a:endParaRPr b="0" i="0" sz="1600" u="none" cap="none" strike="noStrike"/>
          </a:p>
        </p:txBody>
      </p:sp>
      <p:pic>
        <p:nvPicPr>
          <p:cNvPr id="351" name="Google Shape;351;p45" title="bid_amount_actual_v_withoutbeliefs.png"/>
          <p:cNvPicPr preferRelativeResize="0"/>
          <p:nvPr/>
        </p:nvPicPr>
        <p:blipFill>
          <a:blip r:embed="rId3">
            <a:alphaModFix/>
          </a:blip>
          <a:stretch>
            <a:fillRect/>
          </a:stretch>
        </p:blipFill>
        <p:spPr>
          <a:xfrm>
            <a:off x="431688" y="1471200"/>
            <a:ext cx="4570974" cy="2742575"/>
          </a:xfrm>
          <a:prstGeom prst="rect">
            <a:avLst/>
          </a:prstGeom>
          <a:noFill/>
          <a:ln>
            <a:noFill/>
          </a:ln>
        </p:spPr>
      </p:pic>
      <p:sp>
        <p:nvSpPr>
          <p:cNvPr id="352" name="Google Shape;352;p45"/>
          <p:cNvSpPr/>
          <p:nvPr/>
        </p:nvSpPr>
        <p:spPr>
          <a:xfrm>
            <a:off x="492387" y="4356500"/>
            <a:ext cx="44496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lang="en" sz="1100">
                <a:solidFill>
                  <a:srgbClr val="161613"/>
                </a:solidFill>
                <a:latin typeface="Inter"/>
                <a:ea typeface="Inter"/>
                <a:cs typeface="Inter"/>
                <a:sym typeface="Inter"/>
              </a:rPr>
              <a:t>Figure 2: Propensity to approve the policy given bid amount (</a:t>
            </a:r>
            <a:r>
              <a:rPr i="1" lang="en" sz="1100">
                <a:solidFill>
                  <a:srgbClr val="161613"/>
                </a:solidFill>
                <a:latin typeface="Inter"/>
                <a:ea typeface="Inter"/>
                <a:cs typeface="Inter"/>
                <a:sym typeface="Inter"/>
              </a:rPr>
              <a:t>Demographics Only</a:t>
            </a:r>
            <a:r>
              <a:rPr lang="en" sz="1100">
                <a:solidFill>
                  <a:srgbClr val="161613"/>
                </a:solidFill>
                <a:latin typeface="Inter"/>
                <a:ea typeface="Inter"/>
                <a:cs typeface="Inter"/>
                <a:sym typeface="Inter"/>
              </a:rPr>
              <a:t> variation)</a:t>
            </a:r>
            <a:endParaRPr b="0" i="0" sz="1100" u="none" cap="none" strike="noStrike"/>
          </a:p>
        </p:txBody>
      </p:sp>
      <p:sp>
        <p:nvSpPr>
          <p:cNvPr id="353" name="Google Shape;353;p45"/>
          <p:cNvSpPr/>
          <p:nvPr/>
        </p:nvSpPr>
        <p:spPr>
          <a:xfrm>
            <a:off x="5318125" y="1471200"/>
            <a:ext cx="3163800" cy="2985300"/>
          </a:xfrm>
          <a:prstGeom prst="rect">
            <a:avLst/>
          </a:prstGeom>
          <a:noFill/>
          <a:ln>
            <a:noFill/>
          </a:ln>
        </p:spPr>
        <p:txBody>
          <a:bodyPr anchorCtr="0" anchor="t" bIns="0" lIns="0" spcFirstLastPara="1" rIns="0" wrap="square" tIns="0">
            <a:noAutofit/>
          </a:bodyPr>
          <a:lstStyle/>
          <a:p>
            <a:pPr indent="-304800" lvl="0" marL="457200" marR="0" rtl="0" algn="l">
              <a:lnSpc>
                <a:spcPct val="162857"/>
              </a:lnSpc>
              <a:spcBef>
                <a:spcPts val="0"/>
              </a:spcBef>
              <a:spcAft>
                <a:spcPts val="0"/>
              </a:spcAft>
              <a:buClr>
                <a:schemeClr val="accent2"/>
              </a:buClr>
              <a:buSzPts val="1200"/>
              <a:buChar char="●"/>
            </a:pPr>
            <a:r>
              <a:rPr lang="en" sz="1200">
                <a:solidFill>
                  <a:schemeClr val="accent2"/>
                </a:solidFill>
              </a:rPr>
              <a:t>Two models, </a:t>
            </a:r>
            <a:r>
              <a:rPr b="1" lang="en" sz="1200">
                <a:solidFill>
                  <a:schemeClr val="accent2"/>
                </a:solidFill>
              </a:rPr>
              <a:t>Kimi-K2 </a:t>
            </a:r>
            <a:r>
              <a:rPr lang="en" sz="1200">
                <a:solidFill>
                  <a:schemeClr val="accent2"/>
                </a:solidFill>
              </a:rPr>
              <a:t>and</a:t>
            </a:r>
            <a:r>
              <a:rPr b="1" lang="en" sz="1200">
                <a:solidFill>
                  <a:schemeClr val="accent2"/>
                </a:solidFill>
              </a:rPr>
              <a:t> GPT-5-mini</a:t>
            </a:r>
            <a:r>
              <a:rPr lang="en" sz="1200">
                <a:solidFill>
                  <a:schemeClr val="accent2"/>
                </a:solidFill>
              </a:rPr>
              <a:t>, performed better without being fed beliefs</a:t>
            </a:r>
            <a:endParaRPr sz="1200">
              <a:solidFill>
                <a:schemeClr val="accent2"/>
              </a:solidFill>
            </a:endParaRPr>
          </a:p>
          <a:p>
            <a:pPr indent="0" lvl="0" marL="457200" marR="0" rtl="0" algn="l">
              <a:lnSpc>
                <a:spcPct val="162857"/>
              </a:lnSpc>
              <a:spcBef>
                <a:spcPts val="0"/>
              </a:spcBef>
              <a:spcAft>
                <a:spcPts val="0"/>
              </a:spcAft>
              <a:buNone/>
            </a:pPr>
            <a:r>
              <a:t/>
            </a:r>
            <a:endParaRPr sz="1200">
              <a:solidFill>
                <a:schemeClr val="accent2"/>
              </a:solidFill>
            </a:endParaRPr>
          </a:p>
          <a:p>
            <a:pPr indent="-304800" lvl="0" marL="457200" marR="0" rtl="0" algn="l">
              <a:lnSpc>
                <a:spcPct val="162857"/>
              </a:lnSpc>
              <a:spcBef>
                <a:spcPts val="0"/>
              </a:spcBef>
              <a:spcAft>
                <a:spcPts val="0"/>
              </a:spcAft>
              <a:buClr>
                <a:schemeClr val="accent2"/>
              </a:buClr>
              <a:buSzPts val="1200"/>
              <a:buChar char="●"/>
            </a:pPr>
            <a:r>
              <a:rPr lang="en" sz="1200">
                <a:solidFill>
                  <a:schemeClr val="accent2"/>
                </a:solidFill>
              </a:rPr>
              <a:t>Synthetic responses show little sensitivity to bid amount. </a:t>
            </a:r>
            <a:endParaRPr sz="1200">
              <a:solidFill>
                <a:schemeClr val="accent2"/>
              </a:solidFill>
            </a:endParaRPr>
          </a:p>
          <a:p>
            <a:pPr indent="0" lvl="0" marL="0" marR="0" rtl="0" algn="l">
              <a:lnSpc>
                <a:spcPct val="162857"/>
              </a:lnSpc>
              <a:spcBef>
                <a:spcPts val="0"/>
              </a:spcBef>
              <a:spcAft>
                <a:spcPts val="0"/>
              </a:spcAft>
              <a:buClr>
                <a:srgbClr val="161613"/>
              </a:buClr>
              <a:buSzPts val="1100"/>
              <a:buFont typeface="Inter"/>
              <a:buNone/>
            </a:pPr>
            <a:r>
              <a:t/>
            </a:r>
            <a:endParaRPr sz="1200">
              <a:solidFill>
                <a:schemeClr val="accent2"/>
              </a:solidFill>
            </a:endParaRPr>
          </a:p>
          <a:p>
            <a:pPr indent="0" lvl="0" marL="0" marR="0" rtl="0" algn="l">
              <a:lnSpc>
                <a:spcPct val="162857"/>
              </a:lnSpc>
              <a:spcBef>
                <a:spcPts val="0"/>
              </a:spcBef>
              <a:spcAft>
                <a:spcPts val="0"/>
              </a:spcAft>
              <a:buClr>
                <a:srgbClr val="161613"/>
              </a:buClr>
              <a:buSzPts val="1100"/>
              <a:buFont typeface="Inter"/>
              <a:buNone/>
            </a:pPr>
            <a:r>
              <a:t/>
            </a:r>
            <a:endParaRPr sz="1200">
              <a:solidFill>
                <a:schemeClr val="accent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46" title="bid_amount_actual_v_withbeliefs.png"/>
          <p:cNvPicPr preferRelativeResize="0"/>
          <p:nvPr/>
        </p:nvPicPr>
        <p:blipFill>
          <a:blip r:embed="rId3">
            <a:alphaModFix/>
          </a:blip>
          <a:stretch>
            <a:fillRect/>
          </a:stretch>
        </p:blipFill>
        <p:spPr>
          <a:xfrm>
            <a:off x="496125" y="1482425"/>
            <a:ext cx="4559649" cy="2735801"/>
          </a:xfrm>
          <a:prstGeom prst="rect">
            <a:avLst/>
          </a:prstGeom>
          <a:noFill/>
          <a:ln>
            <a:noFill/>
          </a:ln>
        </p:spPr>
      </p:pic>
      <p:sp>
        <p:nvSpPr>
          <p:cNvPr id="359" name="Google Shape;359;p46"/>
          <p:cNvSpPr/>
          <p:nvPr/>
        </p:nvSpPr>
        <p:spPr>
          <a:xfrm>
            <a:off x="492387" y="4356500"/>
            <a:ext cx="44496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lang="en" sz="1100">
                <a:solidFill>
                  <a:srgbClr val="161613"/>
                </a:solidFill>
                <a:latin typeface="Inter"/>
                <a:ea typeface="Inter"/>
                <a:cs typeface="Inter"/>
                <a:sym typeface="Inter"/>
              </a:rPr>
              <a:t>Figure 3: Propensity to approve the policy given bid amount (</a:t>
            </a:r>
            <a:r>
              <a:rPr i="1" lang="en" sz="1100">
                <a:solidFill>
                  <a:srgbClr val="161613"/>
                </a:solidFill>
                <a:latin typeface="Inter"/>
                <a:ea typeface="Inter"/>
                <a:cs typeface="Inter"/>
                <a:sym typeface="Inter"/>
              </a:rPr>
              <a:t>Demographics + All Beliefs</a:t>
            </a:r>
            <a:r>
              <a:rPr lang="en" sz="1100">
                <a:solidFill>
                  <a:srgbClr val="161613"/>
                </a:solidFill>
                <a:latin typeface="Inter"/>
                <a:ea typeface="Inter"/>
                <a:cs typeface="Inter"/>
                <a:sym typeface="Inter"/>
              </a:rPr>
              <a:t> variation)</a:t>
            </a:r>
            <a:endParaRPr b="0" i="0" sz="1100" u="none" cap="none" strike="noStrike"/>
          </a:p>
        </p:txBody>
      </p:sp>
      <p:sp>
        <p:nvSpPr>
          <p:cNvPr id="360" name="Google Shape;360;p46"/>
          <p:cNvSpPr/>
          <p:nvPr/>
        </p:nvSpPr>
        <p:spPr>
          <a:xfrm>
            <a:off x="5578925" y="1471200"/>
            <a:ext cx="2925600" cy="2497500"/>
          </a:xfrm>
          <a:prstGeom prst="rect">
            <a:avLst/>
          </a:prstGeom>
          <a:noFill/>
          <a:ln>
            <a:noFill/>
          </a:ln>
        </p:spPr>
        <p:txBody>
          <a:bodyPr anchorCtr="0" anchor="t" bIns="0" lIns="0" spcFirstLastPara="1" rIns="0" wrap="square" tIns="0">
            <a:noAutofit/>
          </a:bodyPr>
          <a:lstStyle/>
          <a:p>
            <a:pPr indent="-304800" lvl="0" marL="457200" marR="0" rtl="0" algn="l">
              <a:lnSpc>
                <a:spcPct val="162857"/>
              </a:lnSpc>
              <a:spcBef>
                <a:spcPts val="0"/>
              </a:spcBef>
              <a:spcAft>
                <a:spcPts val="0"/>
              </a:spcAft>
              <a:buClr>
                <a:schemeClr val="accent2"/>
              </a:buClr>
              <a:buSzPts val="1200"/>
              <a:buChar char="●"/>
            </a:pPr>
            <a:r>
              <a:rPr lang="en" sz="1200">
                <a:solidFill>
                  <a:schemeClr val="accent2"/>
                </a:solidFill>
              </a:rPr>
              <a:t>Adding beliefs significantly improved the performance of models (except Kimi-K2 and GPT-5-mini)</a:t>
            </a:r>
            <a:endParaRPr sz="1200">
              <a:solidFill>
                <a:schemeClr val="accent2"/>
              </a:solidFill>
            </a:endParaRPr>
          </a:p>
          <a:p>
            <a:pPr indent="0" lvl="0" marL="457200" marR="0" rtl="0" algn="l">
              <a:lnSpc>
                <a:spcPct val="162857"/>
              </a:lnSpc>
              <a:spcBef>
                <a:spcPts val="0"/>
              </a:spcBef>
              <a:spcAft>
                <a:spcPts val="0"/>
              </a:spcAft>
              <a:buNone/>
            </a:pPr>
            <a:r>
              <a:t/>
            </a:r>
            <a:endParaRPr sz="1200">
              <a:solidFill>
                <a:schemeClr val="accent2"/>
              </a:solidFill>
            </a:endParaRPr>
          </a:p>
          <a:p>
            <a:pPr indent="-304800" lvl="0" marL="457200" marR="0" rtl="0" algn="l">
              <a:lnSpc>
                <a:spcPct val="162857"/>
              </a:lnSpc>
              <a:spcBef>
                <a:spcPts val="0"/>
              </a:spcBef>
              <a:spcAft>
                <a:spcPts val="0"/>
              </a:spcAft>
              <a:buClr>
                <a:schemeClr val="accent2"/>
              </a:buClr>
              <a:buSzPts val="1200"/>
              <a:buChar char="●"/>
            </a:pPr>
            <a:r>
              <a:rPr lang="en" sz="1200">
                <a:solidFill>
                  <a:schemeClr val="accent2"/>
                </a:solidFill>
              </a:rPr>
              <a:t>Models tend to underestimate WTP without beliefs and overestimate WTP when beliefs are included</a:t>
            </a:r>
            <a:endParaRPr sz="1200">
              <a:solidFill>
                <a:schemeClr val="accent2"/>
              </a:solidFill>
            </a:endParaRPr>
          </a:p>
          <a:p>
            <a:pPr indent="0" lvl="0" marL="457200" marR="0" rtl="0" algn="l">
              <a:lnSpc>
                <a:spcPct val="162857"/>
              </a:lnSpc>
              <a:spcBef>
                <a:spcPts val="0"/>
              </a:spcBef>
              <a:spcAft>
                <a:spcPts val="0"/>
              </a:spcAft>
              <a:buNone/>
            </a:pPr>
            <a:r>
              <a:t/>
            </a:r>
            <a:endParaRPr sz="1200">
              <a:solidFill>
                <a:schemeClr val="accent2"/>
              </a:solidFill>
            </a:endParaRPr>
          </a:p>
          <a:p>
            <a:pPr indent="-304800" lvl="0" marL="457200" marR="0" rtl="0" algn="l">
              <a:lnSpc>
                <a:spcPct val="162857"/>
              </a:lnSpc>
              <a:spcBef>
                <a:spcPts val="0"/>
              </a:spcBef>
              <a:spcAft>
                <a:spcPts val="0"/>
              </a:spcAft>
              <a:buClr>
                <a:schemeClr val="accent2"/>
              </a:buClr>
              <a:buSzPts val="1200"/>
              <a:buChar char="●"/>
            </a:pPr>
            <a:r>
              <a:rPr lang="en" sz="1200">
                <a:solidFill>
                  <a:schemeClr val="accent2"/>
                </a:solidFill>
              </a:rPr>
              <a:t>Still, less sensitivity to bid amount than human respondents.</a:t>
            </a:r>
            <a:endParaRPr sz="1200">
              <a:solidFill>
                <a:schemeClr val="accent2"/>
              </a:solidFill>
            </a:endParaRPr>
          </a:p>
          <a:p>
            <a:pPr indent="0" lvl="0" marL="0" marR="0" rtl="0" algn="l">
              <a:lnSpc>
                <a:spcPct val="162857"/>
              </a:lnSpc>
              <a:spcBef>
                <a:spcPts val="0"/>
              </a:spcBef>
              <a:spcAft>
                <a:spcPts val="0"/>
              </a:spcAft>
              <a:buClr>
                <a:srgbClr val="161613"/>
              </a:buClr>
              <a:buSzPts val="1100"/>
              <a:buFont typeface="Inter"/>
              <a:buNone/>
            </a:pPr>
            <a:r>
              <a:t/>
            </a:r>
            <a:endParaRPr sz="1200">
              <a:solidFill>
                <a:schemeClr val="accent2"/>
              </a:solidFill>
            </a:endParaRPr>
          </a:p>
          <a:p>
            <a:pPr indent="0" lvl="0" marL="0" marR="0" rtl="0" algn="l">
              <a:lnSpc>
                <a:spcPct val="162857"/>
              </a:lnSpc>
              <a:spcBef>
                <a:spcPts val="0"/>
              </a:spcBef>
              <a:spcAft>
                <a:spcPts val="0"/>
              </a:spcAft>
              <a:buClr>
                <a:srgbClr val="161613"/>
              </a:buClr>
              <a:buSzPts val="1100"/>
              <a:buFont typeface="Inter"/>
              <a:buNone/>
            </a:pPr>
            <a:r>
              <a:t/>
            </a:r>
            <a:endParaRPr sz="1200">
              <a:solidFill>
                <a:schemeClr val="accent2"/>
              </a:solidFill>
            </a:endParaRPr>
          </a:p>
        </p:txBody>
      </p:sp>
      <p:sp>
        <p:nvSpPr>
          <p:cNvPr id="361" name="Google Shape;361;p46"/>
          <p:cNvSpPr/>
          <p:nvPr/>
        </p:nvSpPr>
        <p:spPr>
          <a:xfrm>
            <a:off x="146350" y="300718"/>
            <a:ext cx="51837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Study 1 Synthetic Replication – </a:t>
            </a:r>
            <a:r>
              <a:rPr lang="en" sz="1600">
                <a:solidFill>
                  <a:srgbClr val="161613"/>
                </a:solidFill>
                <a:latin typeface="DM Sans"/>
                <a:ea typeface="DM Sans"/>
                <a:cs typeface="DM Sans"/>
                <a:sym typeface="DM Sans"/>
              </a:rPr>
              <a:t>Results</a:t>
            </a:r>
            <a:endParaRPr sz="1600">
              <a:solidFill>
                <a:srgbClr val="161613"/>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7"/>
          <p:cNvSpPr/>
          <p:nvPr/>
        </p:nvSpPr>
        <p:spPr>
          <a:xfrm>
            <a:off x="439450" y="1518275"/>
            <a:ext cx="3903000" cy="32103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SzPts val="1100"/>
              <a:buChar char="●"/>
            </a:pPr>
            <a:r>
              <a:rPr lang="en" sz="1100">
                <a:solidFill>
                  <a:schemeClr val="accent2"/>
                </a:solidFill>
              </a:rPr>
              <a:t>Asking a single “good” belief question performs better than asking all belief questions because a select few "poor" belief questions (Q1 and Q3) are responsible for reducing the accuracy of the synthetic survey responses</a:t>
            </a:r>
            <a:endParaRPr sz="1100">
              <a:solidFill>
                <a:schemeClr val="accent2"/>
              </a:solidFill>
            </a:endParaRPr>
          </a:p>
          <a:p>
            <a:pPr indent="-298450" lvl="0" marL="457200" marR="0" rtl="0" algn="l">
              <a:lnSpc>
                <a:spcPct val="162857"/>
              </a:lnSpc>
              <a:spcBef>
                <a:spcPts val="0"/>
              </a:spcBef>
              <a:spcAft>
                <a:spcPts val="0"/>
              </a:spcAft>
              <a:buSzPts val="1100"/>
              <a:buChar char="●"/>
            </a:pPr>
            <a:r>
              <a:rPr lang="en" sz="1100">
                <a:solidFill>
                  <a:schemeClr val="accent2"/>
                </a:solidFill>
              </a:rPr>
              <a:t>Two LLMs outperform the others by far: </a:t>
            </a:r>
            <a:r>
              <a:rPr b="1" lang="en" sz="1100">
                <a:solidFill>
                  <a:schemeClr val="accent2"/>
                </a:solidFill>
              </a:rPr>
              <a:t>Llama-4 (Scout)</a:t>
            </a:r>
            <a:r>
              <a:rPr lang="en" sz="1100">
                <a:solidFill>
                  <a:schemeClr val="accent2"/>
                </a:solidFill>
              </a:rPr>
              <a:t> and </a:t>
            </a:r>
            <a:r>
              <a:rPr b="1" lang="en" sz="1100">
                <a:solidFill>
                  <a:schemeClr val="accent2"/>
                </a:solidFill>
              </a:rPr>
              <a:t>GPT-5-mini</a:t>
            </a:r>
            <a:r>
              <a:rPr lang="en" sz="1100">
                <a:solidFill>
                  <a:schemeClr val="accent2"/>
                </a:solidFill>
              </a:rPr>
              <a:t>. LLM selection seems to be more important than relying on aggregating many different "poor" models.</a:t>
            </a:r>
            <a:endParaRPr sz="1100">
              <a:solidFill>
                <a:srgbClr val="161613"/>
              </a:solidFill>
              <a:latin typeface="Inter"/>
              <a:ea typeface="Inter"/>
              <a:cs typeface="Inter"/>
              <a:sym typeface="Inter"/>
            </a:endParaRPr>
          </a:p>
        </p:txBody>
      </p:sp>
      <p:sp>
        <p:nvSpPr>
          <p:cNvPr id="367" name="Google Shape;367;p47"/>
          <p:cNvSpPr/>
          <p:nvPr/>
        </p:nvSpPr>
        <p:spPr>
          <a:xfrm>
            <a:off x="4952477" y="4503900"/>
            <a:ext cx="3516000" cy="5421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lang="en" sz="1100">
                <a:solidFill>
                  <a:srgbClr val="161613"/>
                </a:solidFill>
                <a:latin typeface="Inter"/>
                <a:ea typeface="Inter"/>
                <a:cs typeface="Inter"/>
                <a:sym typeface="Inter"/>
              </a:rPr>
              <a:t>Figure 4: Propensity to approve the policy given bid amount (</a:t>
            </a:r>
            <a:r>
              <a:rPr i="1" lang="en" sz="1100">
                <a:solidFill>
                  <a:srgbClr val="161613"/>
                </a:solidFill>
                <a:latin typeface="Inter"/>
                <a:ea typeface="Inter"/>
                <a:cs typeface="Inter"/>
                <a:sym typeface="Inter"/>
              </a:rPr>
              <a:t>Demographics + One Belief</a:t>
            </a:r>
            <a:r>
              <a:rPr lang="en" sz="1100">
                <a:solidFill>
                  <a:srgbClr val="161613"/>
                </a:solidFill>
                <a:latin typeface="Inter"/>
                <a:ea typeface="Inter"/>
                <a:cs typeface="Inter"/>
                <a:sym typeface="Inter"/>
              </a:rPr>
              <a:t> variation)</a:t>
            </a:r>
            <a:endParaRPr b="0" i="0" sz="1100" u="none" cap="none" strike="noStrike"/>
          </a:p>
        </p:txBody>
      </p:sp>
      <p:pic>
        <p:nvPicPr>
          <p:cNvPr id="368" name="Google Shape;368;p47" title="bid_amount_actual_v_beliefQ_Var3.png"/>
          <p:cNvPicPr preferRelativeResize="0"/>
          <p:nvPr/>
        </p:nvPicPr>
        <p:blipFill>
          <a:blip r:embed="rId3">
            <a:alphaModFix/>
          </a:blip>
          <a:stretch>
            <a:fillRect/>
          </a:stretch>
        </p:blipFill>
        <p:spPr>
          <a:xfrm>
            <a:off x="4985413" y="289800"/>
            <a:ext cx="3450124" cy="4140149"/>
          </a:xfrm>
          <a:prstGeom prst="rect">
            <a:avLst/>
          </a:prstGeom>
          <a:noFill/>
          <a:ln>
            <a:noFill/>
          </a:ln>
        </p:spPr>
      </p:pic>
      <p:pic>
        <p:nvPicPr>
          <p:cNvPr id="369" name="Google Shape;369;p47"/>
          <p:cNvPicPr preferRelativeResize="0"/>
          <p:nvPr/>
        </p:nvPicPr>
        <p:blipFill>
          <a:blip r:embed="rId4">
            <a:alphaModFix/>
          </a:blip>
          <a:stretch>
            <a:fillRect/>
          </a:stretch>
        </p:blipFill>
        <p:spPr>
          <a:xfrm>
            <a:off x="5821450" y="3999665"/>
            <a:ext cx="1940076" cy="349685"/>
          </a:xfrm>
          <a:prstGeom prst="rect">
            <a:avLst/>
          </a:prstGeom>
          <a:noFill/>
          <a:ln>
            <a:noFill/>
          </a:ln>
        </p:spPr>
      </p:pic>
      <p:sp>
        <p:nvSpPr>
          <p:cNvPr id="370" name="Google Shape;370;p47"/>
          <p:cNvSpPr/>
          <p:nvPr/>
        </p:nvSpPr>
        <p:spPr>
          <a:xfrm>
            <a:off x="146350" y="300718"/>
            <a:ext cx="51837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Study 1 Synthetic Replication – </a:t>
            </a:r>
            <a:r>
              <a:rPr lang="en" sz="1600">
                <a:solidFill>
                  <a:srgbClr val="161613"/>
                </a:solidFill>
                <a:latin typeface="DM Sans"/>
                <a:ea typeface="DM Sans"/>
                <a:cs typeface="DM Sans"/>
                <a:sym typeface="DM Sans"/>
              </a:rPr>
              <a:t>Results</a:t>
            </a:r>
            <a:endParaRPr sz="1600">
              <a:solidFill>
                <a:srgbClr val="161613"/>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p48" title="3565199F-1808-4547-ACD4-C39FDB0B50B9.png"/>
          <p:cNvPicPr preferRelativeResize="0"/>
          <p:nvPr/>
        </p:nvPicPr>
        <p:blipFill>
          <a:blip r:embed="rId3">
            <a:alphaModFix/>
          </a:blip>
          <a:stretch>
            <a:fillRect/>
          </a:stretch>
        </p:blipFill>
        <p:spPr>
          <a:xfrm>
            <a:off x="422800" y="1499775"/>
            <a:ext cx="3784074" cy="2745675"/>
          </a:xfrm>
          <a:prstGeom prst="rect">
            <a:avLst/>
          </a:prstGeom>
          <a:noFill/>
          <a:ln>
            <a:noFill/>
          </a:ln>
        </p:spPr>
      </p:pic>
      <p:sp>
        <p:nvSpPr>
          <p:cNvPr id="377" name="Google Shape;377;p48"/>
          <p:cNvSpPr/>
          <p:nvPr/>
        </p:nvSpPr>
        <p:spPr>
          <a:xfrm>
            <a:off x="457527" y="4365625"/>
            <a:ext cx="37146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lang="en" sz="1100">
                <a:solidFill>
                  <a:srgbClr val="161613"/>
                </a:solidFill>
                <a:latin typeface="Inter"/>
                <a:ea typeface="Inter"/>
                <a:cs typeface="Inter"/>
                <a:sym typeface="Inter"/>
              </a:rPr>
              <a:t>Figure 5: WTP estimates (means and 95% confidence intervals) based on logit results.</a:t>
            </a:r>
            <a:endParaRPr b="0" i="0" sz="1100" u="none" cap="none" strike="noStrike"/>
          </a:p>
        </p:txBody>
      </p:sp>
      <p:sp>
        <p:nvSpPr>
          <p:cNvPr id="378" name="Google Shape;378;p48"/>
          <p:cNvSpPr/>
          <p:nvPr/>
        </p:nvSpPr>
        <p:spPr>
          <a:xfrm>
            <a:off x="4715275" y="633125"/>
            <a:ext cx="3849900" cy="2497500"/>
          </a:xfrm>
          <a:prstGeom prst="rect">
            <a:avLst/>
          </a:prstGeom>
          <a:noFill/>
          <a:ln>
            <a:noFill/>
          </a:ln>
        </p:spPr>
        <p:txBody>
          <a:bodyPr anchorCtr="0" anchor="t" bIns="0" lIns="0" spcFirstLastPara="1" rIns="0" wrap="square" tIns="0">
            <a:noAutofit/>
          </a:bodyPr>
          <a:lstStyle/>
          <a:p>
            <a:pPr indent="-304800" lvl="0" marL="457200" marR="0" rtl="0" algn="l">
              <a:lnSpc>
                <a:spcPct val="162857"/>
              </a:lnSpc>
              <a:spcBef>
                <a:spcPts val="0"/>
              </a:spcBef>
              <a:spcAft>
                <a:spcPts val="0"/>
              </a:spcAft>
              <a:buClr>
                <a:schemeClr val="accent2"/>
              </a:buClr>
              <a:buSzPts val="1200"/>
              <a:buChar char="●"/>
            </a:pPr>
            <a:r>
              <a:rPr lang="en" sz="1200">
                <a:solidFill>
                  <a:schemeClr val="accent2"/>
                </a:solidFill>
              </a:rPr>
              <a:t>WTP is almost never positive unless beliefs are included. The two exceptions are </a:t>
            </a:r>
            <a:r>
              <a:rPr b="1" lang="en" sz="1200">
                <a:solidFill>
                  <a:schemeClr val="accent2"/>
                </a:solidFill>
              </a:rPr>
              <a:t>Kimi-K2 </a:t>
            </a:r>
            <a:r>
              <a:rPr lang="en" sz="1200">
                <a:solidFill>
                  <a:schemeClr val="accent2"/>
                </a:solidFill>
              </a:rPr>
              <a:t>and </a:t>
            </a:r>
            <a:r>
              <a:rPr b="1" lang="en" sz="1200">
                <a:solidFill>
                  <a:schemeClr val="accent2"/>
                </a:solidFill>
              </a:rPr>
              <a:t>GPT-5-mini</a:t>
            </a:r>
            <a:r>
              <a:rPr lang="en" sz="1200">
                <a:solidFill>
                  <a:schemeClr val="accent2"/>
                </a:solidFill>
              </a:rPr>
              <a:t>, which were both more predictive without beliefs than with them.</a:t>
            </a:r>
            <a:endParaRPr sz="1200">
              <a:solidFill>
                <a:schemeClr val="accent2"/>
              </a:solidFill>
            </a:endParaRPr>
          </a:p>
          <a:p>
            <a:pPr indent="0" lvl="0" marL="457200" marR="0" rtl="0" algn="l">
              <a:lnSpc>
                <a:spcPct val="162857"/>
              </a:lnSpc>
              <a:spcBef>
                <a:spcPts val="0"/>
              </a:spcBef>
              <a:spcAft>
                <a:spcPts val="0"/>
              </a:spcAft>
              <a:buNone/>
            </a:pPr>
            <a:r>
              <a:t/>
            </a:r>
            <a:endParaRPr sz="1200">
              <a:solidFill>
                <a:schemeClr val="accent2"/>
              </a:solidFill>
            </a:endParaRPr>
          </a:p>
          <a:p>
            <a:pPr indent="-304800" lvl="0" marL="457200" marR="0" rtl="0" algn="l">
              <a:lnSpc>
                <a:spcPct val="162857"/>
              </a:lnSpc>
              <a:spcBef>
                <a:spcPts val="0"/>
              </a:spcBef>
              <a:spcAft>
                <a:spcPts val="0"/>
              </a:spcAft>
              <a:buClr>
                <a:schemeClr val="accent2"/>
              </a:buClr>
              <a:buSzPts val="1200"/>
              <a:buChar char="●"/>
            </a:pPr>
            <a:r>
              <a:rPr lang="en" sz="1200">
                <a:solidFill>
                  <a:schemeClr val="accent2"/>
                </a:solidFill>
              </a:rPr>
              <a:t>There is substantial heterogeneity in the amount by which each LLM updates when taking beliefs into consideration.</a:t>
            </a:r>
            <a:endParaRPr sz="1200">
              <a:solidFill>
                <a:schemeClr val="accent2"/>
              </a:solidFill>
            </a:endParaRPr>
          </a:p>
          <a:p>
            <a:pPr indent="0" lvl="0" marL="457200" marR="0" rtl="0" algn="l">
              <a:lnSpc>
                <a:spcPct val="162857"/>
              </a:lnSpc>
              <a:spcBef>
                <a:spcPts val="0"/>
              </a:spcBef>
              <a:spcAft>
                <a:spcPts val="0"/>
              </a:spcAft>
              <a:buNone/>
            </a:pPr>
            <a:r>
              <a:t/>
            </a:r>
            <a:endParaRPr sz="1200">
              <a:solidFill>
                <a:schemeClr val="accent2"/>
              </a:solidFill>
            </a:endParaRPr>
          </a:p>
          <a:p>
            <a:pPr indent="-304800" lvl="0" marL="457200" marR="0" rtl="0" algn="l">
              <a:lnSpc>
                <a:spcPct val="162857"/>
              </a:lnSpc>
              <a:spcBef>
                <a:spcPts val="0"/>
              </a:spcBef>
              <a:spcAft>
                <a:spcPts val="0"/>
              </a:spcAft>
              <a:buClr>
                <a:schemeClr val="accent2"/>
              </a:buClr>
              <a:buSzPts val="1200"/>
              <a:buChar char="●"/>
            </a:pPr>
            <a:r>
              <a:rPr lang="en" sz="1200">
                <a:solidFill>
                  <a:schemeClr val="accent2"/>
                </a:solidFill>
              </a:rPr>
              <a:t>Despite performing reasonably well with individual belief </a:t>
            </a:r>
            <a:r>
              <a:rPr lang="en" sz="1200">
                <a:solidFill>
                  <a:schemeClr val="accent2"/>
                </a:solidFill>
              </a:rPr>
              <a:t>questions</a:t>
            </a:r>
            <a:r>
              <a:rPr lang="en" sz="1200">
                <a:solidFill>
                  <a:schemeClr val="accent2"/>
                </a:solidFill>
              </a:rPr>
              <a:t>, </a:t>
            </a:r>
            <a:r>
              <a:rPr b="1" lang="en" sz="1100">
                <a:solidFill>
                  <a:schemeClr val="accent2"/>
                </a:solidFill>
              </a:rPr>
              <a:t>Llama-4 (Scout)</a:t>
            </a:r>
            <a:r>
              <a:rPr lang="en" sz="1100">
                <a:solidFill>
                  <a:schemeClr val="accent2"/>
                </a:solidFill>
              </a:rPr>
              <a:t> produced outlier WTP estimates (10X larger than the others)</a:t>
            </a:r>
            <a:endParaRPr sz="1100">
              <a:solidFill>
                <a:schemeClr val="accent2"/>
              </a:solidFill>
            </a:endParaRPr>
          </a:p>
          <a:p>
            <a:pPr indent="0" lvl="0" marL="914400" marR="0" rtl="0" algn="l">
              <a:lnSpc>
                <a:spcPct val="162857"/>
              </a:lnSpc>
              <a:spcBef>
                <a:spcPts val="0"/>
              </a:spcBef>
              <a:spcAft>
                <a:spcPts val="0"/>
              </a:spcAft>
              <a:buNone/>
            </a:pPr>
            <a:r>
              <a:rPr lang="en" sz="1100">
                <a:solidFill>
                  <a:schemeClr val="accent2"/>
                </a:solidFill>
              </a:rPr>
              <a:t>⇒Accuracy of individual-level responses does not necessarily imply accuracy of WTP. Slope of bid response is important.</a:t>
            </a:r>
            <a:endParaRPr sz="1200">
              <a:solidFill>
                <a:schemeClr val="accent2"/>
              </a:solidFill>
            </a:endParaRPr>
          </a:p>
        </p:txBody>
      </p:sp>
      <p:sp>
        <p:nvSpPr>
          <p:cNvPr id="379" name="Google Shape;379;p48"/>
          <p:cNvSpPr/>
          <p:nvPr/>
        </p:nvSpPr>
        <p:spPr>
          <a:xfrm>
            <a:off x="146350" y="300718"/>
            <a:ext cx="51837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Study 1 Synthetic Replication – </a:t>
            </a:r>
            <a:r>
              <a:rPr lang="en" sz="1600">
                <a:solidFill>
                  <a:srgbClr val="161613"/>
                </a:solidFill>
                <a:latin typeface="DM Sans"/>
                <a:ea typeface="DM Sans"/>
                <a:cs typeface="DM Sans"/>
                <a:sym typeface="DM Sans"/>
              </a:rPr>
              <a:t>Results</a:t>
            </a:r>
            <a:endParaRPr sz="1600">
              <a:solidFill>
                <a:srgbClr val="161613"/>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9"/>
          <p:cNvSpPr/>
          <p:nvPr/>
        </p:nvSpPr>
        <p:spPr>
          <a:xfrm>
            <a:off x="496119" y="1472204"/>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Policy</a:t>
            </a:r>
            <a:endParaRPr b="0" i="0" sz="1400" u="none" cap="none" strike="noStrike"/>
          </a:p>
        </p:txBody>
      </p:sp>
      <p:sp>
        <p:nvSpPr>
          <p:cNvPr id="386" name="Google Shape;386;p49"/>
          <p:cNvSpPr/>
          <p:nvPr/>
        </p:nvSpPr>
        <p:spPr>
          <a:xfrm>
            <a:off x="496119" y="1894944"/>
            <a:ext cx="39030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b="0" i="0" lang="en" sz="1100" u="none" cap="none" strike="noStrike">
                <a:solidFill>
                  <a:srgbClr val="161613"/>
                </a:solidFill>
                <a:latin typeface="Inter"/>
                <a:ea typeface="Inter"/>
                <a:cs typeface="Inter"/>
                <a:sym typeface="Inter"/>
              </a:rPr>
              <a:t>Forest protection program addressing hemlock woolly adelgid damage</a:t>
            </a:r>
            <a:endParaRPr b="0" i="0" sz="1100" u="none" cap="none" strike="noStrike"/>
          </a:p>
        </p:txBody>
      </p:sp>
      <p:sp>
        <p:nvSpPr>
          <p:cNvPr id="387" name="Google Shape;387;p49"/>
          <p:cNvSpPr/>
          <p:nvPr/>
        </p:nvSpPr>
        <p:spPr>
          <a:xfrm>
            <a:off x="496119" y="254990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Design</a:t>
            </a:r>
            <a:endParaRPr b="0" i="0" sz="1400" u="none" cap="none" strike="noStrike"/>
          </a:p>
        </p:txBody>
      </p:sp>
      <p:sp>
        <p:nvSpPr>
          <p:cNvPr id="388" name="Google Shape;388;p49"/>
          <p:cNvSpPr/>
          <p:nvPr/>
        </p:nvSpPr>
        <p:spPr>
          <a:xfrm>
            <a:off x="496119" y="2972646"/>
            <a:ext cx="3903000" cy="779700"/>
          </a:xfrm>
          <a:prstGeom prst="rect">
            <a:avLst/>
          </a:prstGeom>
          <a:noFill/>
          <a:ln>
            <a:noFill/>
          </a:ln>
        </p:spPr>
        <p:txBody>
          <a:bodyPr anchorCtr="0" anchor="t" bIns="0" lIns="0" spcFirstLastPara="1" rIns="0" wrap="square" tIns="0">
            <a:noAutofit/>
          </a:bodyPr>
          <a:lstStyle/>
          <a:p>
            <a:pPr indent="-222250" lvl="0" marL="2159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Referendum-style support question</a:t>
            </a:r>
            <a:endParaRPr b="0" i="0" sz="1100" u="none" cap="none" strike="noStrike"/>
          </a:p>
          <a:p>
            <a:pPr indent="-222250" lvl="0" marL="2159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Randomized household cost (bid)</a:t>
            </a:r>
            <a:endParaRPr b="0" i="0" sz="1100" u="none" cap="none" strike="noStrike"/>
          </a:p>
          <a:p>
            <a:pPr indent="-222250" lvl="0" marL="215900" marR="0" rtl="0" algn="l">
              <a:lnSpc>
                <a:spcPct val="162857"/>
              </a:lnSpc>
              <a:spcBef>
                <a:spcPts val="0"/>
              </a:spcBef>
              <a:spcAft>
                <a:spcPts val="0"/>
              </a:spcAft>
              <a:buClr>
                <a:srgbClr val="161613"/>
              </a:buClr>
              <a:buSzPts val="1100"/>
              <a:buFont typeface="Inter"/>
              <a:buChar char="•"/>
            </a:pPr>
            <a:r>
              <a:rPr b="0" i="0" lang="en" sz="1100" u="none" cap="none" strike="noStrike">
                <a:solidFill>
                  <a:srgbClr val="161613"/>
                </a:solidFill>
                <a:latin typeface="Inter"/>
                <a:ea typeface="Inter"/>
                <a:cs typeface="Inter"/>
                <a:sym typeface="Inter"/>
              </a:rPr>
              <a:t>Logit-based WTP estimation</a:t>
            </a:r>
            <a:endParaRPr b="0" i="0" sz="1100" u="none" cap="none" strike="noStrike"/>
          </a:p>
        </p:txBody>
      </p:sp>
      <p:pic>
        <p:nvPicPr>
          <p:cNvPr descr="preencoded.png" id="389" name="Google Shape;389;p49"/>
          <p:cNvPicPr preferRelativeResize="0"/>
          <p:nvPr/>
        </p:nvPicPr>
        <p:blipFill rotWithShape="1">
          <a:blip r:embed="rId3">
            <a:alphaModFix/>
          </a:blip>
          <a:srcRect b="0" l="0" r="0" t="0"/>
          <a:stretch/>
        </p:blipFill>
        <p:spPr>
          <a:xfrm>
            <a:off x="4891459" y="2127721"/>
            <a:ext cx="177180" cy="141759"/>
          </a:xfrm>
          <a:prstGeom prst="rect">
            <a:avLst/>
          </a:prstGeom>
          <a:noFill/>
          <a:ln>
            <a:noFill/>
          </a:ln>
        </p:spPr>
      </p:pic>
      <p:sp>
        <p:nvSpPr>
          <p:cNvPr id="390" name="Google Shape;390;p49"/>
          <p:cNvSpPr/>
          <p:nvPr/>
        </p:nvSpPr>
        <p:spPr>
          <a:xfrm>
            <a:off x="4538375" y="4124900"/>
            <a:ext cx="4158900" cy="634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lang="en" sz="1000">
                <a:solidFill>
                  <a:srgbClr val="161613"/>
                </a:solidFill>
                <a:latin typeface="DM Sans"/>
                <a:ea typeface="DM Sans"/>
                <a:cs typeface="DM Sans"/>
                <a:sym typeface="DM Sans"/>
              </a:rPr>
              <a:t>Figure 6: Distribution of ‘For’ responses at each bid amount. Source: Giguere et al. (2020) “</a:t>
            </a:r>
            <a:r>
              <a:rPr i="1" lang="en" sz="1000">
                <a:solidFill>
                  <a:srgbClr val="161613"/>
                </a:solidFill>
                <a:latin typeface="DM Sans"/>
                <a:ea typeface="DM Sans"/>
                <a:cs typeface="DM Sans"/>
                <a:sym typeface="DM Sans"/>
              </a:rPr>
              <a:t>Valuing Hemlock Woolly Adelgid Control in Public Forests: Scope Effects with Attribute Nonattendance</a:t>
            </a:r>
            <a:r>
              <a:rPr lang="en" sz="1000">
                <a:solidFill>
                  <a:srgbClr val="161613"/>
                </a:solidFill>
                <a:latin typeface="DM Sans"/>
                <a:ea typeface="DM Sans"/>
                <a:cs typeface="DM Sans"/>
                <a:sym typeface="DM Sans"/>
              </a:rPr>
              <a:t>”</a:t>
            </a:r>
            <a:endParaRPr b="0" i="0" sz="1000" u="none" cap="none" strike="noStrike"/>
          </a:p>
        </p:txBody>
      </p:sp>
      <p:pic>
        <p:nvPicPr>
          <p:cNvPr id="391" name="Google Shape;391;p49" title="Graphv2.jpg"/>
          <p:cNvPicPr preferRelativeResize="0"/>
          <p:nvPr/>
        </p:nvPicPr>
        <p:blipFill>
          <a:blip r:embed="rId4">
            <a:alphaModFix/>
          </a:blip>
          <a:stretch>
            <a:fillRect/>
          </a:stretch>
        </p:blipFill>
        <p:spPr>
          <a:xfrm>
            <a:off x="4538375" y="1472200"/>
            <a:ext cx="4012448" cy="2407501"/>
          </a:xfrm>
          <a:prstGeom prst="rect">
            <a:avLst/>
          </a:prstGeom>
          <a:noFill/>
          <a:ln>
            <a:noFill/>
          </a:ln>
        </p:spPr>
      </p:pic>
      <p:sp>
        <p:nvSpPr>
          <p:cNvPr id="392" name="Google Shape;392;p49"/>
          <p:cNvSpPr/>
          <p:nvPr/>
        </p:nvSpPr>
        <p:spPr>
          <a:xfrm>
            <a:off x="146350" y="300718"/>
            <a:ext cx="59412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Study 2: Forest Protection</a:t>
            </a:r>
            <a:r>
              <a:rPr lang="en" sz="1600">
                <a:solidFill>
                  <a:srgbClr val="161613"/>
                </a:solidFill>
                <a:latin typeface="DM Sans"/>
                <a:ea typeface="DM Sans"/>
                <a:cs typeface="DM Sans"/>
                <a:sym typeface="DM Sans"/>
              </a:rPr>
              <a:t>-</a:t>
            </a:r>
            <a:r>
              <a:rPr lang="en" sz="1600">
                <a:solidFill>
                  <a:srgbClr val="161613"/>
                </a:solidFill>
                <a:latin typeface="DM Sans"/>
                <a:ea typeface="DM Sans"/>
                <a:cs typeface="DM Sans"/>
                <a:sym typeface="DM Sans"/>
              </a:rPr>
              <a:t>Hemlock Woolly Adelgid (HWA) </a:t>
            </a:r>
            <a:endParaRPr sz="1600">
              <a:solidFill>
                <a:srgbClr val="161613"/>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0"/>
          <p:cNvSpPr/>
          <p:nvPr/>
        </p:nvSpPr>
        <p:spPr>
          <a:xfrm>
            <a:off x="146350" y="300725"/>
            <a:ext cx="81678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Study 2: Forest Protection-Hemlock Woolly Adelgid (HWA) - original data and results </a:t>
            </a:r>
            <a:endParaRPr sz="1600">
              <a:solidFill>
                <a:srgbClr val="161613"/>
              </a:solidFill>
              <a:latin typeface="DM Sans"/>
              <a:ea typeface="DM Sans"/>
              <a:cs typeface="DM Sans"/>
              <a:sym typeface="DM Sans"/>
            </a:endParaRPr>
          </a:p>
        </p:txBody>
      </p:sp>
      <p:sp>
        <p:nvSpPr>
          <p:cNvPr id="398" name="Google Shape;398;p50"/>
          <p:cNvSpPr/>
          <p:nvPr/>
        </p:nvSpPr>
        <p:spPr>
          <a:xfrm>
            <a:off x="496119" y="1158035"/>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lang="en">
                <a:solidFill>
                  <a:srgbClr val="161613"/>
                </a:solidFill>
                <a:latin typeface="DM Sans"/>
                <a:ea typeface="DM Sans"/>
                <a:cs typeface="DM Sans"/>
                <a:sym typeface="DM Sans"/>
              </a:rPr>
              <a:t>Data &amp; Methods</a:t>
            </a:r>
            <a:endParaRPr b="0" i="0" sz="1400" u="none" cap="none" strike="noStrike"/>
          </a:p>
        </p:txBody>
      </p:sp>
      <p:sp>
        <p:nvSpPr>
          <p:cNvPr id="399" name="Google Shape;399;p50"/>
          <p:cNvSpPr/>
          <p:nvPr/>
        </p:nvSpPr>
        <p:spPr>
          <a:xfrm>
            <a:off x="4864329" y="1158025"/>
            <a:ext cx="27804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lang="en">
                <a:solidFill>
                  <a:srgbClr val="161613"/>
                </a:solidFill>
                <a:latin typeface="DM Sans"/>
                <a:ea typeface="DM Sans"/>
                <a:cs typeface="DM Sans"/>
                <a:sym typeface="DM Sans"/>
              </a:rPr>
              <a:t>Results from the paper</a:t>
            </a:r>
            <a:endParaRPr b="0" i="0" sz="1400" u="none" cap="none" strike="noStrike"/>
          </a:p>
        </p:txBody>
      </p:sp>
      <p:sp>
        <p:nvSpPr>
          <p:cNvPr id="400" name="Google Shape;400;p50"/>
          <p:cNvSpPr/>
          <p:nvPr/>
        </p:nvSpPr>
        <p:spPr>
          <a:xfrm>
            <a:off x="496125" y="1656250"/>
            <a:ext cx="3754800" cy="30879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Clr>
                <a:srgbClr val="161613"/>
              </a:buClr>
              <a:buSzPts val="1100"/>
              <a:buFont typeface="Inter"/>
              <a:buChar char="●"/>
            </a:pPr>
            <a:r>
              <a:rPr b="1" lang="en" sz="1100">
                <a:solidFill>
                  <a:srgbClr val="161613"/>
                </a:solidFill>
                <a:latin typeface="Inter"/>
                <a:ea typeface="Inter"/>
                <a:cs typeface="Inter"/>
                <a:sym typeface="Inter"/>
              </a:rPr>
              <a:t>Data:</a:t>
            </a:r>
            <a:r>
              <a:rPr lang="en" sz="1100">
                <a:solidFill>
                  <a:srgbClr val="161613"/>
                </a:solidFill>
                <a:latin typeface="Inter"/>
                <a:ea typeface="Inter"/>
                <a:cs typeface="Inter"/>
                <a:sym typeface="Inter"/>
              </a:rPr>
              <a:t> online survey, opt-in panel of 907 North Carolina residents </a:t>
            </a:r>
            <a:endParaRPr sz="1100">
              <a:solidFill>
                <a:srgbClr val="161613"/>
              </a:solidFill>
              <a:latin typeface="Inter"/>
              <a:ea typeface="Inter"/>
              <a:cs typeface="Inter"/>
              <a:sym typeface="Inter"/>
            </a:endParaRPr>
          </a:p>
          <a:p>
            <a:pPr indent="0" lvl="0" marL="457200" marR="0" rtl="0" algn="l">
              <a:lnSpc>
                <a:spcPct val="162857"/>
              </a:lnSpc>
              <a:spcBef>
                <a:spcPts val="0"/>
              </a:spcBef>
              <a:spcAft>
                <a:spcPts val="0"/>
              </a:spcAft>
              <a:buNone/>
            </a:pPr>
            <a:r>
              <a:t/>
            </a:r>
            <a:endParaRPr sz="1100">
              <a:solidFill>
                <a:srgbClr val="161613"/>
              </a:solidFill>
              <a:latin typeface="Inter"/>
              <a:ea typeface="Inter"/>
              <a:cs typeface="Inter"/>
              <a:sym typeface="Inter"/>
            </a:endParaRPr>
          </a:p>
          <a:p>
            <a:pPr indent="-298450" lvl="0" marL="457200" rtl="0" algn="l">
              <a:lnSpc>
                <a:spcPct val="162857"/>
              </a:lnSpc>
              <a:spcBef>
                <a:spcPts val="0"/>
              </a:spcBef>
              <a:spcAft>
                <a:spcPts val="0"/>
              </a:spcAft>
              <a:buClr>
                <a:srgbClr val="161613"/>
              </a:buClr>
              <a:buSzPts val="1100"/>
              <a:buFont typeface="Inter"/>
              <a:buChar char="●"/>
            </a:pPr>
            <a:r>
              <a:rPr b="1" lang="en" sz="1100">
                <a:solidFill>
                  <a:srgbClr val="161613"/>
                </a:solidFill>
                <a:latin typeface="Inter"/>
                <a:ea typeface="Inter"/>
                <a:cs typeface="Inter"/>
                <a:sym typeface="Inter"/>
              </a:rPr>
              <a:t>Experimental Design:</a:t>
            </a:r>
            <a:r>
              <a:rPr lang="en" sz="1100">
                <a:solidFill>
                  <a:srgbClr val="161613"/>
                </a:solidFill>
                <a:latin typeface="Inter"/>
                <a:ea typeface="Inter"/>
                <a:cs typeface="Inter"/>
                <a:sym typeface="Inter"/>
              </a:rPr>
              <a:t> </a:t>
            </a:r>
            <a:endParaRPr sz="1100">
              <a:solidFill>
                <a:srgbClr val="161613"/>
              </a:solidFill>
              <a:latin typeface="Inter"/>
              <a:ea typeface="Inter"/>
              <a:cs typeface="Inter"/>
              <a:sym typeface="Inter"/>
            </a:endParaRPr>
          </a:p>
          <a:p>
            <a:pPr indent="-298450" lvl="0" marL="457200" rtl="0" algn="l">
              <a:lnSpc>
                <a:spcPct val="162857"/>
              </a:lnSpc>
              <a:spcBef>
                <a:spcPts val="0"/>
              </a:spcBef>
              <a:spcAft>
                <a:spcPts val="0"/>
              </a:spcAft>
              <a:buClr>
                <a:srgbClr val="161613"/>
              </a:buClr>
              <a:buSzPts val="1100"/>
              <a:buFont typeface="Inter"/>
              <a:buChar char="-"/>
            </a:pPr>
            <a:r>
              <a:rPr lang="en" sz="1100">
                <a:solidFill>
                  <a:srgbClr val="161613"/>
                </a:solidFill>
                <a:latin typeface="Inter"/>
                <a:ea typeface="Inter"/>
                <a:cs typeface="Inter"/>
                <a:sym typeface="Inter"/>
              </a:rPr>
              <a:t>Bounded and Repeated choice experiments</a:t>
            </a:r>
            <a:endParaRPr sz="1100">
              <a:solidFill>
                <a:srgbClr val="161613"/>
              </a:solidFill>
              <a:latin typeface="Inter"/>
              <a:ea typeface="Inter"/>
              <a:cs typeface="Inter"/>
              <a:sym typeface="Inter"/>
            </a:endParaRPr>
          </a:p>
          <a:p>
            <a:pPr indent="-298450" lvl="0" marL="457200" rtl="0" algn="l">
              <a:lnSpc>
                <a:spcPct val="162857"/>
              </a:lnSpc>
              <a:spcBef>
                <a:spcPts val="0"/>
              </a:spcBef>
              <a:spcAft>
                <a:spcPts val="0"/>
              </a:spcAft>
              <a:buClr>
                <a:srgbClr val="161613"/>
              </a:buClr>
              <a:buSzPts val="1100"/>
              <a:buFont typeface="Inter"/>
              <a:buChar char="-"/>
            </a:pPr>
            <a:r>
              <a:rPr lang="en" sz="1100">
                <a:solidFill>
                  <a:srgbClr val="161613"/>
                </a:solidFill>
                <a:latin typeface="Inter"/>
                <a:ea typeface="Inter"/>
                <a:cs typeface="Inter"/>
                <a:sym typeface="Inter"/>
              </a:rPr>
              <a:t>Randomly assigned a</a:t>
            </a:r>
            <a:r>
              <a:rPr lang="en" sz="1100">
                <a:solidFill>
                  <a:srgbClr val="161613"/>
                </a:solidFill>
                <a:latin typeface="Inter"/>
                <a:ea typeface="Inter"/>
                <a:cs typeface="Inter"/>
                <a:sym typeface="Inter"/>
              </a:rPr>
              <a:t>nnual tax over 3 years (</a:t>
            </a:r>
            <a:r>
              <a:rPr i="1" lang="en" sz="1100">
                <a:solidFill>
                  <a:srgbClr val="161613"/>
                </a:solidFill>
                <a:latin typeface="Inter"/>
                <a:ea typeface="Inter"/>
                <a:cs typeface="Inter"/>
                <a:sym typeface="Inter"/>
              </a:rPr>
              <a:t>$50-$200</a:t>
            </a:r>
            <a:r>
              <a:rPr lang="en" sz="1100">
                <a:solidFill>
                  <a:srgbClr val="161613"/>
                </a:solidFill>
                <a:latin typeface="Inter"/>
                <a:ea typeface="Inter"/>
                <a:cs typeface="Inter"/>
                <a:sym typeface="Inter"/>
              </a:rPr>
              <a:t>) </a:t>
            </a:r>
            <a:endParaRPr sz="1100">
              <a:solidFill>
                <a:srgbClr val="161613"/>
              </a:solidFill>
              <a:latin typeface="Inter"/>
              <a:ea typeface="Inter"/>
              <a:cs typeface="Inter"/>
              <a:sym typeface="Inter"/>
            </a:endParaRPr>
          </a:p>
          <a:p>
            <a:pPr indent="0" lvl="0" marL="914400" rtl="0" algn="l">
              <a:lnSpc>
                <a:spcPct val="162857"/>
              </a:lnSpc>
              <a:spcBef>
                <a:spcPts val="0"/>
              </a:spcBef>
              <a:spcAft>
                <a:spcPts val="0"/>
              </a:spcAft>
              <a:buNone/>
            </a:pPr>
            <a:r>
              <a:t/>
            </a:r>
            <a:endParaRPr sz="1100">
              <a:solidFill>
                <a:srgbClr val="161613"/>
              </a:solidFill>
              <a:latin typeface="Inter"/>
              <a:ea typeface="Inter"/>
              <a:cs typeface="Inter"/>
              <a:sym typeface="Inter"/>
            </a:endParaRPr>
          </a:p>
          <a:p>
            <a:pPr indent="-298450" lvl="0" marL="457200" marR="0" rtl="0" algn="l">
              <a:lnSpc>
                <a:spcPct val="162857"/>
              </a:lnSpc>
              <a:spcBef>
                <a:spcPts val="0"/>
              </a:spcBef>
              <a:spcAft>
                <a:spcPts val="0"/>
              </a:spcAft>
              <a:buClr>
                <a:srgbClr val="161613"/>
              </a:buClr>
              <a:buSzPts val="1100"/>
              <a:buFont typeface="Inter"/>
              <a:buChar char="●"/>
            </a:pPr>
            <a:r>
              <a:rPr b="1" lang="en" sz="1100">
                <a:solidFill>
                  <a:srgbClr val="161613"/>
                </a:solidFill>
                <a:latin typeface="Inter"/>
                <a:ea typeface="Inter"/>
                <a:cs typeface="Inter"/>
                <a:sym typeface="Inter"/>
              </a:rPr>
              <a:t>Estimation</a:t>
            </a:r>
            <a:r>
              <a:rPr b="1" lang="en" sz="1100">
                <a:solidFill>
                  <a:srgbClr val="161613"/>
                </a:solidFill>
                <a:latin typeface="Inter"/>
                <a:ea typeface="Inter"/>
                <a:cs typeface="Inter"/>
                <a:sym typeface="Inter"/>
              </a:rPr>
              <a:t>:</a:t>
            </a:r>
            <a:r>
              <a:rPr lang="en" sz="1100">
                <a:solidFill>
                  <a:srgbClr val="161613"/>
                </a:solidFill>
                <a:latin typeface="Inter"/>
                <a:ea typeface="Inter"/>
                <a:cs typeface="Inter"/>
                <a:sym typeface="Inter"/>
              </a:rPr>
              <a:t> conditional logit</a:t>
            </a:r>
            <a:endParaRPr sz="1100">
              <a:solidFill>
                <a:srgbClr val="161613"/>
              </a:solidFill>
              <a:latin typeface="Inter"/>
              <a:ea typeface="Inter"/>
              <a:cs typeface="Inter"/>
              <a:sym typeface="Inter"/>
            </a:endParaRPr>
          </a:p>
          <a:p>
            <a:pPr indent="0" lvl="0" marL="0" marR="0" rtl="0" algn="l">
              <a:lnSpc>
                <a:spcPct val="162857"/>
              </a:lnSpc>
              <a:spcBef>
                <a:spcPts val="0"/>
              </a:spcBef>
              <a:spcAft>
                <a:spcPts val="0"/>
              </a:spcAft>
              <a:buClr>
                <a:srgbClr val="161613"/>
              </a:buClr>
              <a:buSzPts val="1100"/>
              <a:buFont typeface="Inter"/>
              <a:buNone/>
            </a:pPr>
            <a:r>
              <a:t/>
            </a:r>
            <a:endParaRPr sz="1100">
              <a:solidFill>
                <a:srgbClr val="161613"/>
              </a:solidFill>
              <a:latin typeface="Inter"/>
              <a:ea typeface="Inter"/>
              <a:cs typeface="Inter"/>
              <a:sym typeface="Inter"/>
            </a:endParaRPr>
          </a:p>
        </p:txBody>
      </p:sp>
      <p:sp>
        <p:nvSpPr>
          <p:cNvPr id="401" name="Google Shape;401;p50"/>
          <p:cNvSpPr/>
          <p:nvPr/>
        </p:nvSpPr>
        <p:spPr>
          <a:xfrm>
            <a:off x="4864325" y="1609275"/>
            <a:ext cx="3066600" cy="3135000"/>
          </a:xfrm>
          <a:prstGeom prst="rect">
            <a:avLst/>
          </a:prstGeom>
          <a:noFill/>
          <a:ln>
            <a:noFill/>
          </a:ln>
        </p:spPr>
        <p:txBody>
          <a:bodyPr anchorCtr="0" anchor="t" bIns="0" lIns="0" spcFirstLastPara="1" rIns="0" wrap="square" tIns="0">
            <a:noAutofit/>
          </a:bodyPr>
          <a:lstStyle/>
          <a:p>
            <a:pPr indent="-298450" lvl="0" marL="457200" marR="0" rtl="0" algn="l">
              <a:lnSpc>
                <a:spcPct val="162857"/>
              </a:lnSpc>
              <a:spcBef>
                <a:spcPts val="0"/>
              </a:spcBef>
              <a:spcAft>
                <a:spcPts val="0"/>
              </a:spcAft>
              <a:buClr>
                <a:srgbClr val="161613"/>
              </a:buClr>
              <a:buSzPts val="1100"/>
              <a:buFont typeface="Inter"/>
              <a:buChar char="●"/>
            </a:pPr>
            <a:r>
              <a:rPr b="1" lang="en" sz="1100">
                <a:solidFill>
                  <a:srgbClr val="161613"/>
                </a:solidFill>
                <a:latin typeface="Inter"/>
                <a:ea typeface="Inter"/>
                <a:cs typeface="Inter"/>
                <a:sym typeface="Inter"/>
              </a:rPr>
              <a:t>Marginal  WTP </a:t>
            </a:r>
            <a:r>
              <a:rPr lang="en" sz="1100">
                <a:solidFill>
                  <a:srgbClr val="161613"/>
                </a:solidFill>
                <a:latin typeface="Inter"/>
                <a:ea typeface="Inter"/>
                <a:cs typeface="Inter"/>
                <a:sym typeface="Inter"/>
              </a:rPr>
              <a:t>to protect  a “socially important” acre of forest: </a:t>
            </a:r>
            <a:endParaRPr sz="1100">
              <a:solidFill>
                <a:srgbClr val="161613"/>
              </a:solidFill>
              <a:latin typeface="Inter"/>
              <a:ea typeface="Inter"/>
              <a:cs typeface="Inter"/>
              <a:sym typeface="Inter"/>
            </a:endParaRPr>
          </a:p>
          <a:p>
            <a:pPr indent="457200" lvl="0" marL="457200" marR="0" rtl="0" algn="l">
              <a:lnSpc>
                <a:spcPct val="162857"/>
              </a:lnSpc>
              <a:spcBef>
                <a:spcPts val="0"/>
              </a:spcBef>
              <a:spcAft>
                <a:spcPts val="0"/>
              </a:spcAft>
              <a:buNone/>
            </a:pPr>
            <a:r>
              <a:rPr lang="en" sz="1100">
                <a:solidFill>
                  <a:srgbClr val="161613"/>
                </a:solidFill>
                <a:latin typeface="Inter"/>
                <a:ea typeface="Inter"/>
                <a:cs typeface="Inter"/>
                <a:sym typeface="Inter"/>
              </a:rPr>
              <a:t>$56.53 per household/year</a:t>
            </a:r>
            <a:endParaRPr sz="1100">
              <a:solidFill>
                <a:srgbClr val="161613"/>
              </a:solidFill>
              <a:latin typeface="Inter"/>
              <a:ea typeface="Inter"/>
              <a:cs typeface="Inter"/>
              <a:sym typeface="Inter"/>
            </a:endParaRPr>
          </a:p>
          <a:p>
            <a:pPr indent="457200" lvl="0" marL="457200" marR="0" rtl="0" algn="l">
              <a:lnSpc>
                <a:spcPct val="162857"/>
              </a:lnSpc>
              <a:spcBef>
                <a:spcPts val="0"/>
              </a:spcBef>
              <a:spcAft>
                <a:spcPts val="0"/>
              </a:spcAft>
              <a:buNone/>
            </a:pPr>
            <a:r>
              <a:rPr lang="en" sz="1100">
                <a:solidFill>
                  <a:srgbClr val="161613"/>
                </a:solidFill>
                <a:latin typeface="Inter"/>
                <a:ea typeface="Inter"/>
                <a:cs typeface="Inter"/>
                <a:sym typeface="Inter"/>
              </a:rPr>
              <a:t>(95% CI: $24-$75)</a:t>
            </a:r>
            <a:endParaRPr sz="1100">
              <a:solidFill>
                <a:srgbClr val="161613"/>
              </a:solidFill>
              <a:latin typeface="Inter"/>
              <a:ea typeface="Inter"/>
              <a:cs typeface="Inter"/>
              <a:sym typeface="Inter"/>
            </a:endParaRPr>
          </a:p>
          <a:p>
            <a:pPr indent="0" lvl="0" marL="0" marR="0" rtl="0" algn="l">
              <a:lnSpc>
                <a:spcPct val="162857"/>
              </a:lnSpc>
              <a:spcBef>
                <a:spcPts val="0"/>
              </a:spcBef>
              <a:spcAft>
                <a:spcPts val="0"/>
              </a:spcAft>
              <a:buClr>
                <a:srgbClr val="161613"/>
              </a:buClr>
              <a:buSzPts val="1100"/>
              <a:buFont typeface="Inter"/>
              <a:buNone/>
            </a:pPr>
            <a:r>
              <a:t/>
            </a:r>
            <a:endParaRPr sz="1100">
              <a:solidFill>
                <a:srgbClr val="161613"/>
              </a:solidFill>
              <a:latin typeface="Inter"/>
              <a:ea typeface="Inter"/>
              <a:cs typeface="Inter"/>
              <a:sym typeface="Inter"/>
            </a:endParaRPr>
          </a:p>
          <a:p>
            <a:pPr indent="0" lvl="0" marL="0" marR="0" rtl="0" algn="l">
              <a:lnSpc>
                <a:spcPct val="162857"/>
              </a:lnSpc>
              <a:spcBef>
                <a:spcPts val="0"/>
              </a:spcBef>
              <a:spcAft>
                <a:spcPts val="0"/>
              </a:spcAft>
              <a:buClr>
                <a:srgbClr val="161613"/>
              </a:buClr>
              <a:buSzPts val="1100"/>
              <a:buFont typeface="Inter"/>
              <a:buNone/>
            </a:pPr>
            <a:r>
              <a:t/>
            </a:r>
            <a:endParaRPr sz="1100">
              <a:solidFill>
                <a:srgbClr val="161613"/>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1"/>
          <p:cNvSpPr/>
          <p:nvPr/>
        </p:nvSpPr>
        <p:spPr>
          <a:xfrm>
            <a:off x="145728" y="300718"/>
            <a:ext cx="6768300" cy="3324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61613"/>
              </a:buClr>
              <a:buSzPts val="2800"/>
              <a:buFont typeface="DM Sans"/>
              <a:buNone/>
            </a:pPr>
            <a:r>
              <a:rPr lang="en" sz="1600">
                <a:solidFill>
                  <a:srgbClr val="161613"/>
                </a:solidFill>
                <a:latin typeface="DM Sans"/>
                <a:ea typeface="DM Sans"/>
                <a:cs typeface="DM Sans"/>
                <a:sym typeface="DM Sans"/>
              </a:rPr>
              <a:t>Study 2 Synthetic Replication – </a:t>
            </a:r>
            <a:r>
              <a:rPr lang="en" sz="1600">
                <a:solidFill>
                  <a:srgbClr val="161613"/>
                </a:solidFill>
                <a:latin typeface="DM Sans"/>
                <a:ea typeface="DM Sans"/>
                <a:cs typeface="DM Sans"/>
                <a:sym typeface="DM Sans"/>
              </a:rPr>
              <a:t>Results</a:t>
            </a:r>
            <a:r>
              <a:rPr lang="en" sz="1600">
                <a:solidFill>
                  <a:srgbClr val="161613"/>
                </a:solidFill>
                <a:latin typeface="DM Sans"/>
                <a:ea typeface="DM Sans"/>
                <a:cs typeface="DM Sans"/>
                <a:sym typeface="DM Sans"/>
              </a:rPr>
              <a:t> without Beliefs</a:t>
            </a:r>
            <a:endParaRPr b="0" i="0" sz="1600" u="none" cap="none" strike="noStrike"/>
          </a:p>
        </p:txBody>
      </p:sp>
      <p:pic>
        <p:nvPicPr>
          <p:cNvPr id="408" name="Google Shape;408;p51" title="propensity_to_vote_Random_withoutBeliefs_ForestWTP.png"/>
          <p:cNvPicPr preferRelativeResize="0"/>
          <p:nvPr/>
        </p:nvPicPr>
        <p:blipFill>
          <a:blip r:embed="rId3">
            <a:alphaModFix/>
          </a:blip>
          <a:stretch>
            <a:fillRect/>
          </a:stretch>
        </p:blipFill>
        <p:spPr>
          <a:xfrm>
            <a:off x="304800" y="1018775"/>
            <a:ext cx="4267200" cy="3105942"/>
          </a:xfrm>
          <a:prstGeom prst="rect">
            <a:avLst/>
          </a:prstGeom>
          <a:noFill/>
          <a:ln>
            <a:noFill/>
          </a:ln>
        </p:spPr>
      </p:pic>
      <p:pic>
        <p:nvPicPr>
          <p:cNvPr id="409" name="Google Shape;409;p51" title="propensity_to_vote_Bounded_withoutBeliefs_ForestWTP (1).png"/>
          <p:cNvPicPr preferRelativeResize="0"/>
          <p:nvPr/>
        </p:nvPicPr>
        <p:blipFill>
          <a:blip r:embed="rId4">
            <a:alphaModFix/>
          </a:blip>
          <a:stretch>
            <a:fillRect/>
          </a:stretch>
        </p:blipFill>
        <p:spPr>
          <a:xfrm>
            <a:off x="4572000" y="1018768"/>
            <a:ext cx="4267200" cy="310596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2"/>
          <p:cNvSpPr/>
          <p:nvPr/>
        </p:nvSpPr>
        <p:spPr>
          <a:xfrm>
            <a:off x="145728" y="300718"/>
            <a:ext cx="6768300" cy="3324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61613"/>
              </a:buClr>
              <a:buSzPts val="2800"/>
              <a:buFont typeface="DM Sans"/>
              <a:buNone/>
            </a:pPr>
            <a:r>
              <a:rPr lang="en" sz="1600">
                <a:solidFill>
                  <a:srgbClr val="161613"/>
                </a:solidFill>
                <a:latin typeface="DM Sans"/>
                <a:ea typeface="DM Sans"/>
                <a:cs typeface="DM Sans"/>
                <a:sym typeface="DM Sans"/>
              </a:rPr>
              <a:t>Study 2 Synthetic Replication – </a:t>
            </a:r>
            <a:r>
              <a:rPr lang="en" sz="1600">
                <a:solidFill>
                  <a:srgbClr val="161613"/>
                </a:solidFill>
                <a:latin typeface="DM Sans"/>
                <a:ea typeface="DM Sans"/>
                <a:cs typeface="DM Sans"/>
                <a:sym typeface="DM Sans"/>
              </a:rPr>
              <a:t>Results</a:t>
            </a:r>
            <a:r>
              <a:rPr lang="en" sz="1600">
                <a:solidFill>
                  <a:srgbClr val="161613"/>
                </a:solidFill>
                <a:latin typeface="DM Sans"/>
                <a:ea typeface="DM Sans"/>
                <a:cs typeface="DM Sans"/>
                <a:sym typeface="DM Sans"/>
              </a:rPr>
              <a:t> with Beliefs</a:t>
            </a:r>
            <a:endParaRPr b="0" i="0" sz="1600" u="none" cap="none" strike="noStrike"/>
          </a:p>
        </p:txBody>
      </p:sp>
      <p:pic>
        <p:nvPicPr>
          <p:cNvPr id="416" name="Google Shape;416;p52" title="propensity_to_vote_Random_withBeliefs_ForestWTP.png"/>
          <p:cNvPicPr preferRelativeResize="0"/>
          <p:nvPr/>
        </p:nvPicPr>
        <p:blipFill>
          <a:blip r:embed="rId3">
            <a:alphaModFix/>
          </a:blip>
          <a:stretch>
            <a:fillRect/>
          </a:stretch>
        </p:blipFill>
        <p:spPr>
          <a:xfrm>
            <a:off x="304800" y="1018775"/>
            <a:ext cx="4267200" cy="3105962"/>
          </a:xfrm>
          <a:prstGeom prst="rect">
            <a:avLst/>
          </a:prstGeom>
          <a:noFill/>
          <a:ln>
            <a:noFill/>
          </a:ln>
        </p:spPr>
      </p:pic>
      <p:pic>
        <p:nvPicPr>
          <p:cNvPr id="417" name="Google Shape;417;p52" title="propensity_to_vote_Bounded_withBeliefs_ForestWTP (1).png"/>
          <p:cNvPicPr preferRelativeResize="0"/>
          <p:nvPr/>
        </p:nvPicPr>
        <p:blipFill>
          <a:blip r:embed="rId4">
            <a:alphaModFix/>
          </a:blip>
          <a:stretch>
            <a:fillRect/>
          </a:stretch>
        </p:blipFill>
        <p:spPr>
          <a:xfrm>
            <a:off x="4572000" y="1018768"/>
            <a:ext cx="4267200" cy="310596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3"/>
          <p:cNvSpPr/>
          <p:nvPr/>
        </p:nvSpPr>
        <p:spPr>
          <a:xfrm>
            <a:off x="270700" y="845267"/>
            <a:ext cx="7691700" cy="3951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61613"/>
              </a:buClr>
              <a:buSzPts val="2800"/>
              <a:buFont typeface="DM Sans"/>
              <a:buNone/>
            </a:pPr>
            <a:r>
              <a:rPr lang="en" sz="1200">
                <a:solidFill>
                  <a:schemeClr val="dk1"/>
                </a:solidFill>
                <a:latin typeface="DM Sans"/>
                <a:ea typeface="DM Sans"/>
                <a:cs typeface="DM Sans"/>
                <a:sym typeface="DM Sans"/>
              </a:rPr>
              <a:t>→</a:t>
            </a:r>
            <a:r>
              <a:rPr lang="en" sz="1500">
                <a:solidFill>
                  <a:schemeClr val="dk1"/>
                </a:solidFill>
                <a:latin typeface="DM Sans"/>
                <a:ea typeface="DM Sans"/>
                <a:cs typeface="DM Sans"/>
                <a:sym typeface="DM Sans"/>
              </a:rPr>
              <a:t> </a:t>
            </a:r>
            <a:r>
              <a:rPr lang="en" sz="1500" cap="none" strike="noStrike">
                <a:solidFill>
                  <a:schemeClr val="dk1"/>
                </a:solidFill>
                <a:latin typeface="DM Sans SemiBold"/>
                <a:ea typeface="DM Sans SemiBold"/>
                <a:cs typeface="DM Sans SemiBold"/>
                <a:sym typeface="DM Sans SemiBold"/>
              </a:rPr>
              <a:t>WTP to </a:t>
            </a:r>
            <a:r>
              <a:rPr lang="en" sz="1500">
                <a:solidFill>
                  <a:schemeClr val="dk1"/>
                </a:solidFill>
                <a:latin typeface="DM Sans SemiBold"/>
                <a:ea typeface="DM Sans SemiBold"/>
                <a:cs typeface="DM Sans SemiBold"/>
                <a:sym typeface="DM Sans SemiBold"/>
              </a:rPr>
              <a:t>treat a </a:t>
            </a:r>
            <a:r>
              <a:rPr lang="en" sz="1500">
                <a:solidFill>
                  <a:schemeClr val="dk1"/>
                </a:solidFill>
                <a:latin typeface="DM Sans SemiBold"/>
                <a:ea typeface="DM Sans SemiBold"/>
                <a:cs typeface="DM Sans SemiBold"/>
                <a:sym typeface="DM Sans SemiBold"/>
              </a:rPr>
              <a:t>“</a:t>
            </a:r>
            <a:r>
              <a:rPr lang="en" sz="1500">
                <a:solidFill>
                  <a:schemeClr val="dk1"/>
                </a:solidFill>
                <a:latin typeface="DM Sans SemiBold"/>
                <a:ea typeface="DM Sans SemiBold"/>
                <a:cs typeface="DM Sans SemiBold"/>
                <a:sym typeface="DM Sans SemiBold"/>
              </a:rPr>
              <a:t>socially important</a:t>
            </a:r>
            <a:r>
              <a:rPr lang="en" sz="1500">
                <a:solidFill>
                  <a:schemeClr val="dk1"/>
                </a:solidFill>
                <a:latin typeface="DM Sans SemiBold"/>
                <a:ea typeface="DM Sans SemiBold"/>
                <a:cs typeface="DM Sans SemiBold"/>
                <a:sym typeface="DM Sans SemiBold"/>
              </a:rPr>
              <a:t>”</a:t>
            </a:r>
            <a:r>
              <a:rPr lang="en" sz="1500">
                <a:solidFill>
                  <a:schemeClr val="dk1"/>
                </a:solidFill>
                <a:latin typeface="DM Sans SemiBold"/>
                <a:ea typeface="DM Sans SemiBold"/>
                <a:cs typeface="DM Sans SemiBold"/>
                <a:sym typeface="DM Sans SemiBold"/>
              </a:rPr>
              <a:t> acre of forest</a:t>
            </a:r>
            <a:endParaRPr sz="1500" cap="none" strike="noStrike">
              <a:solidFill>
                <a:schemeClr val="dk1"/>
              </a:solidFill>
              <a:latin typeface="DM Sans SemiBold"/>
              <a:ea typeface="DM Sans SemiBold"/>
              <a:cs typeface="DM Sans SemiBold"/>
              <a:sym typeface="DM Sans SemiBold"/>
            </a:endParaRPr>
          </a:p>
        </p:txBody>
      </p:sp>
      <p:sp>
        <p:nvSpPr>
          <p:cNvPr id="424" name="Google Shape;424;p53"/>
          <p:cNvSpPr txBox="1"/>
          <p:nvPr/>
        </p:nvSpPr>
        <p:spPr>
          <a:xfrm>
            <a:off x="449275" y="1271269"/>
            <a:ext cx="3858600" cy="33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150">
                <a:latin typeface="DM Sans Medium"/>
                <a:ea typeface="DM Sans Medium"/>
                <a:cs typeface="DM Sans Medium"/>
                <a:sym typeface="DM Sans Medium"/>
              </a:rPr>
              <a:t>Random-bid Repeated Choice Experiment</a:t>
            </a:r>
            <a:endParaRPr i="1" sz="1150">
              <a:latin typeface="DM Sans Medium"/>
              <a:ea typeface="DM Sans Medium"/>
              <a:cs typeface="DM Sans Medium"/>
              <a:sym typeface="DM Sans Medium"/>
            </a:endParaRPr>
          </a:p>
        </p:txBody>
      </p:sp>
      <p:sp>
        <p:nvSpPr>
          <p:cNvPr id="425" name="Google Shape;425;p53"/>
          <p:cNvSpPr txBox="1"/>
          <p:nvPr/>
        </p:nvSpPr>
        <p:spPr>
          <a:xfrm>
            <a:off x="5105325" y="1271263"/>
            <a:ext cx="3597900" cy="33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150">
                <a:latin typeface="DM Sans Medium"/>
                <a:ea typeface="DM Sans Medium"/>
                <a:cs typeface="DM Sans Medium"/>
                <a:sym typeface="DM Sans Medium"/>
              </a:rPr>
              <a:t>B</a:t>
            </a:r>
            <a:r>
              <a:rPr i="1" lang="en" sz="1150">
                <a:latin typeface="DM Sans Medium"/>
                <a:ea typeface="DM Sans Medium"/>
                <a:cs typeface="DM Sans Medium"/>
                <a:sym typeface="DM Sans Medium"/>
              </a:rPr>
              <a:t>ounded Choice Experiment</a:t>
            </a:r>
            <a:endParaRPr i="1" sz="1150">
              <a:latin typeface="DM Sans Medium"/>
              <a:ea typeface="DM Sans Medium"/>
              <a:cs typeface="DM Sans Medium"/>
              <a:sym typeface="DM Sans Medium"/>
            </a:endParaRPr>
          </a:p>
        </p:txBody>
      </p:sp>
      <p:sp>
        <p:nvSpPr>
          <p:cNvPr id="426" name="Google Shape;426;p53"/>
          <p:cNvSpPr/>
          <p:nvPr/>
        </p:nvSpPr>
        <p:spPr>
          <a:xfrm>
            <a:off x="146350" y="300718"/>
            <a:ext cx="59412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Study 2 Synthetic Replication – Results </a:t>
            </a:r>
            <a:endParaRPr sz="1600">
              <a:solidFill>
                <a:srgbClr val="161613"/>
              </a:solidFill>
              <a:latin typeface="DM Sans"/>
              <a:ea typeface="DM Sans"/>
              <a:cs typeface="DM Sans"/>
              <a:sym typeface="DM Sans"/>
            </a:endParaRPr>
          </a:p>
        </p:txBody>
      </p:sp>
      <p:pic>
        <p:nvPicPr>
          <p:cNvPr id="427" name="Google Shape;427;p53" title="dot_and_95CI_bounded_ForestWTP_NoOutliers (1).png"/>
          <p:cNvPicPr preferRelativeResize="0"/>
          <p:nvPr/>
        </p:nvPicPr>
        <p:blipFill>
          <a:blip r:embed="rId3">
            <a:alphaModFix/>
          </a:blip>
          <a:stretch>
            <a:fillRect/>
          </a:stretch>
        </p:blipFill>
        <p:spPr>
          <a:xfrm>
            <a:off x="4543150" y="1582675"/>
            <a:ext cx="4211165" cy="3063626"/>
          </a:xfrm>
          <a:prstGeom prst="rect">
            <a:avLst/>
          </a:prstGeom>
          <a:noFill/>
          <a:ln>
            <a:noFill/>
          </a:ln>
        </p:spPr>
      </p:pic>
      <p:pic>
        <p:nvPicPr>
          <p:cNvPr id="428" name="Google Shape;428;p53" title="dot_and_95CI_repeated_ForestWTP_NoOutliers (3).png"/>
          <p:cNvPicPr preferRelativeResize="0"/>
          <p:nvPr/>
        </p:nvPicPr>
        <p:blipFill>
          <a:blip r:embed="rId4">
            <a:alphaModFix/>
          </a:blip>
          <a:stretch>
            <a:fillRect/>
          </a:stretch>
        </p:blipFill>
        <p:spPr>
          <a:xfrm>
            <a:off x="333650" y="1572782"/>
            <a:ext cx="4238350" cy="3083400"/>
          </a:xfrm>
          <a:prstGeom prst="rect">
            <a:avLst/>
          </a:prstGeom>
          <a:noFill/>
          <a:ln>
            <a:noFill/>
          </a:ln>
        </p:spPr>
      </p:pic>
      <p:sp>
        <p:nvSpPr>
          <p:cNvPr id="429" name="Google Shape;429;p53"/>
          <p:cNvSpPr txBox="1"/>
          <p:nvPr/>
        </p:nvSpPr>
        <p:spPr>
          <a:xfrm>
            <a:off x="4665300" y="4704175"/>
            <a:ext cx="4344600" cy="22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100">
                <a:solidFill>
                  <a:schemeClr val="dk2"/>
                </a:solidFill>
              </a:rPr>
              <a:t>Very large confidence intervals have been removed</a:t>
            </a:r>
            <a:endParaRPr i="1" sz="11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4" name="Shape 434"/>
        <p:cNvGrpSpPr/>
        <p:nvPr/>
      </p:nvGrpSpPr>
      <p:grpSpPr>
        <a:xfrm>
          <a:off x="0" y="0"/>
          <a:ext cx="0" cy="0"/>
          <a:chOff x="0" y="0"/>
          <a:chExt cx="0" cy="0"/>
        </a:xfrm>
      </p:grpSpPr>
      <p:sp>
        <p:nvSpPr>
          <p:cNvPr id="435" name="Google Shape;435;p54"/>
          <p:cNvSpPr/>
          <p:nvPr/>
        </p:nvSpPr>
        <p:spPr>
          <a:xfrm>
            <a:off x="146350" y="312775"/>
            <a:ext cx="78315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Cross-Study Summary – Computational Execution of Synthetic </a:t>
            </a:r>
            <a:r>
              <a:rPr lang="en" sz="1600">
                <a:solidFill>
                  <a:srgbClr val="161613"/>
                </a:solidFill>
                <a:latin typeface="DM Sans"/>
                <a:ea typeface="DM Sans"/>
                <a:cs typeface="DM Sans"/>
                <a:sym typeface="DM Sans"/>
              </a:rPr>
              <a:t>Simulation</a:t>
            </a:r>
            <a:endParaRPr sz="1600">
              <a:solidFill>
                <a:srgbClr val="161613"/>
              </a:solidFill>
              <a:latin typeface="DM Sans"/>
              <a:ea typeface="DM Sans"/>
              <a:cs typeface="DM Sans"/>
              <a:sym typeface="DM Sans"/>
            </a:endParaRPr>
          </a:p>
        </p:txBody>
      </p:sp>
      <p:graphicFrame>
        <p:nvGraphicFramePr>
          <p:cNvPr id="436" name="Google Shape;436;p54"/>
          <p:cNvGraphicFramePr/>
          <p:nvPr/>
        </p:nvGraphicFramePr>
        <p:xfrm>
          <a:off x="777200" y="986613"/>
          <a:ext cx="3000000" cy="3000000"/>
        </p:xfrm>
        <a:graphic>
          <a:graphicData uri="http://schemas.openxmlformats.org/drawingml/2006/table">
            <a:tbl>
              <a:tblPr>
                <a:noFill/>
                <a:tableStyleId>{8A125B41-AD74-4D98-8F56-BF913B72A7BE}</a:tableStyleId>
              </a:tblPr>
              <a:tblGrid>
                <a:gridCol w="1639900"/>
                <a:gridCol w="3186100"/>
                <a:gridCol w="2763600"/>
              </a:tblGrid>
              <a:tr h="381000">
                <a:tc>
                  <a:txBody>
                    <a:bodyPr/>
                    <a:lstStyle/>
                    <a:p>
                      <a:pPr indent="0" lvl="0" marL="0" rtl="0" algn="l">
                        <a:spcBef>
                          <a:spcPts val="0"/>
                        </a:spcBef>
                        <a:spcAft>
                          <a:spcPts val="0"/>
                        </a:spcAft>
                        <a:buNone/>
                      </a:pPr>
                      <a:r>
                        <a:t/>
                      </a:r>
                      <a:endParaRPr sz="12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Study 1 (Clean Energy Standard)</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Study 2 (Forest </a:t>
                      </a:r>
                      <a:r>
                        <a:rPr lang="en" sz="1100">
                          <a:latin typeface="Inter"/>
                          <a:ea typeface="Inter"/>
                          <a:cs typeface="Inter"/>
                          <a:sym typeface="Inter"/>
                        </a:rPr>
                        <a:t>Protection)</a:t>
                      </a:r>
                      <a:endParaRPr sz="11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i="1" lang="en" sz="1100">
                          <a:latin typeface="Inter"/>
                          <a:ea typeface="Inter"/>
                          <a:cs typeface="Inter"/>
                          <a:sym typeface="Inter"/>
                        </a:rPr>
                        <a:t>Respondents</a:t>
                      </a:r>
                      <a:endParaRPr i="1"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1010</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a:t>
                      </a:r>
                      <a:r>
                        <a:rPr baseline="-25000" lang="en" sz="1100">
                          <a:solidFill>
                            <a:schemeClr val="dk1"/>
                          </a:solidFill>
                          <a:latin typeface="Inter"/>
                          <a:ea typeface="Inter"/>
                          <a:cs typeface="Inter"/>
                          <a:sym typeface="Inter"/>
                        </a:rPr>
                        <a:t>respondents2</a:t>
                      </a:r>
                      <a:endParaRPr sz="11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i="1" lang="en" sz="1100">
                          <a:latin typeface="Inter"/>
                          <a:ea typeface="Inter"/>
                          <a:cs typeface="Inter"/>
                          <a:sym typeface="Inter"/>
                        </a:rPr>
                        <a:t>Output values synthetically generated per run</a:t>
                      </a:r>
                      <a:endParaRPr i="1"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a:t>
                      </a:r>
                      <a:r>
                        <a:rPr baseline="-25000" lang="en" sz="1100">
                          <a:latin typeface="Inter"/>
                          <a:ea typeface="Inter"/>
                          <a:cs typeface="Inter"/>
                          <a:sym typeface="Inter"/>
                        </a:rPr>
                        <a:t>output1</a:t>
                      </a:r>
                      <a:endParaRPr baseline="-25000"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a:t>
                      </a:r>
                      <a:r>
                        <a:rPr baseline="-25000" lang="en" sz="1100">
                          <a:solidFill>
                            <a:schemeClr val="dk1"/>
                          </a:solidFill>
                          <a:latin typeface="Inter"/>
                          <a:ea typeface="Inter"/>
                          <a:cs typeface="Inter"/>
                          <a:sym typeface="Inter"/>
                        </a:rPr>
                        <a:t>output2</a:t>
                      </a:r>
                      <a:endParaRPr sz="11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i="1" lang="en" sz="1100">
                          <a:latin typeface="Inter"/>
                          <a:ea typeface="Inter"/>
                          <a:cs typeface="Inter"/>
                          <a:sym typeface="Inter"/>
                        </a:rPr>
                        <a:t># of </a:t>
                      </a:r>
                      <a:r>
                        <a:rPr i="1" lang="en" sz="1100">
                          <a:latin typeface="Inter"/>
                          <a:ea typeface="Inter"/>
                          <a:cs typeface="Inter"/>
                          <a:sym typeface="Inter"/>
                        </a:rPr>
                        <a:t>AI Models</a:t>
                      </a:r>
                      <a:br>
                        <a:rPr i="1" lang="en" sz="1100">
                          <a:latin typeface="Inter"/>
                          <a:ea typeface="Inter"/>
                          <a:cs typeface="Inter"/>
                          <a:sym typeface="Inter"/>
                        </a:rPr>
                      </a:br>
                      <a:r>
                        <a:rPr i="1" lang="en" sz="1100">
                          <a:latin typeface="Inter"/>
                          <a:ea typeface="Inter"/>
                          <a:cs typeface="Inter"/>
                          <a:sym typeface="Inter"/>
                        </a:rPr>
                        <a:t>X # of repeat runs</a:t>
                      </a:r>
                      <a:endParaRPr i="1"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6(17) + 3(3) = </a:t>
                      </a:r>
                      <a:r>
                        <a:rPr lang="en" sz="1100">
                          <a:solidFill>
                            <a:schemeClr val="dk1"/>
                          </a:solidFill>
                          <a:latin typeface="Inter"/>
                          <a:ea typeface="Inter"/>
                          <a:cs typeface="Inter"/>
                          <a:sym typeface="Inter"/>
                        </a:rPr>
                        <a:t>#</a:t>
                      </a:r>
                      <a:r>
                        <a:rPr baseline="-25000" lang="en" sz="1100">
                          <a:solidFill>
                            <a:schemeClr val="dk1"/>
                          </a:solidFill>
                          <a:latin typeface="Inter"/>
                          <a:ea typeface="Inter"/>
                          <a:cs typeface="Inter"/>
                          <a:sym typeface="Inter"/>
                        </a:rPr>
                        <a:t>runs1</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#(8) + ?</a:t>
                      </a:r>
                      <a:endParaRPr sz="11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i="1" lang="en" sz="1100">
                          <a:latin typeface="Inter"/>
                          <a:ea typeface="Inter"/>
                          <a:cs typeface="Inter"/>
                          <a:sym typeface="Inter"/>
                        </a:rPr>
                        <a:t># of variations</a:t>
                      </a:r>
                      <a:endParaRPr i="1"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2</a:t>
                      </a:r>
                      <a:r>
                        <a:rPr baseline="30000" lang="en" sz="1100">
                          <a:latin typeface="Inter"/>
                          <a:ea typeface="Inter"/>
                          <a:cs typeface="Inter"/>
                          <a:sym typeface="Inter"/>
                        </a:rPr>
                        <a:t>i</a:t>
                      </a:r>
                      <a:endParaRPr baseline="30000"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1</a:t>
                      </a:r>
                      <a:endParaRPr sz="11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i="1" lang="en" sz="1100">
                          <a:latin typeface="Inter"/>
                          <a:ea typeface="Inter"/>
                          <a:cs typeface="Inter"/>
                          <a:sym typeface="Inter"/>
                        </a:rPr>
                        <a:t>Total number of AI processing calls</a:t>
                      </a:r>
                      <a:endParaRPr i="1"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100">
                          <a:solidFill>
                            <a:schemeClr val="dk1"/>
                          </a:solidFill>
                          <a:latin typeface="Inter"/>
                          <a:ea typeface="Inter"/>
                          <a:cs typeface="Inter"/>
                          <a:sym typeface="Inter"/>
                        </a:rPr>
                        <a:t>(1010)(</a:t>
                      </a:r>
                      <a:r>
                        <a:rPr lang="en" sz="1100">
                          <a:solidFill>
                            <a:schemeClr val="dk1"/>
                          </a:solidFill>
                          <a:latin typeface="Inter"/>
                          <a:ea typeface="Inter"/>
                          <a:cs typeface="Inter"/>
                          <a:sym typeface="Inter"/>
                        </a:rPr>
                        <a:t>#</a:t>
                      </a:r>
                      <a:r>
                        <a:rPr baseline="-25000" lang="en" sz="1100">
                          <a:solidFill>
                            <a:schemeClr val="dk1"/>
                          </a:solidFill>
                          <a:latin typeface="Inter"/>
                          <a:ea typeface="Inter"/>
                          <a:cs typeface="Inter"/>
                          <a:sym typeface="Inter"/>
                        </a:rPr>
                        <a:t>output1</a:t>
                      </a:r>
                      <a:r>
                        <a:rPr lang="en" sz="1100">
                          <a:solidFill>
                            <a:schemeClr val="dk1"/>
                          </a:solidFill>
                          <a:latin typeface="Inter"/>
                          <a:ea typeface="Inter"/>
                          <a:cs typeface="Inter"/>
                          <a:sym typeface="Inter"/>
                        </a:rPr>
                        <a:t>)(#</a:t>
                      </a:r>
                      <a:r>
                        <a:rPr baseline="-25000" lang="en" sz="1100">
                          <a:solidFill>
                            <a:schemeClr val="dk1"/>
                          </a:solidFill>
                          <a:latin typeface="Inter"/>
                          <a:ea typeface="Inter"/>
                          <a:cs typeface="Inter"/>
                          <a:sym typeface="Inter"/>
                        </a:rPr>
                        <a:t>runs1</a:t>
                      </a:r>
                      <a:r>
                        <a:rPr lang="en" sz="1100">
                          <a:solidFill>
                            <a:schemeClr val="dk1"/>
                          </a:solidFill>
                          <a:latin typeface="Inter"/>
                          <a:ea typeface="Inter"/>
                          <a:cs typeface="Inter"/>
                          <a:sym typeface="Inter"/>
                        </a:rPr>
                        <a:t>)(2) = #</a:t>
                      </a:r>
                      <a:r>
                        <a:rPr baseline="-25000" lang="en" sz="1100">
                          <a:solidFill>
                            <a:schemeClr val="dk1"/>
                          </a:solidFill>
                          <a:latin typeface="Inter"/>
                          <a:ea typeface="Inter"/>
                          <a:cs typeface="Inter"/>
                          <a:sym typeface="Inter"/>
                        </a:rPr>
                        <a:t>totalAIcalls1</a:t>
                      </a:r>
                      <a:endParaRPr baseline="-25000"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100">
                          <a:solidFill>
                            <a:schemeClr val="dk1"/>
                          </a:solidFill>
                          <a:latin typeface="Inter"/>
                          <a:ea typeface="Inter"/>
                          <a:cs typeface="Inter"/>
                          <a:sym typeface="Inter"/>
                        </a:rPr>
                        <a:t>(#</a:t>
                      </a:r>
                      <a:r>
                        <a:rPr baseline="-25000" lang="en" sz="1100">
                          <a:solidFill>
                            <a:schemeClr val="dk1"/>
                          </a:solidFill>
                          <a:latin typeface="Inter"/>
                          <a:ea typeface="Inter"/>
                          <a:cs typeface="Inter"/>
                          <a:sym typeface="Inter"/>
                        </a:rPr>
                        <a:t>respondents2</a:t>
                      </a:r>
                      <a:r>
                        <a:rPr lang="en" sz="1100">
                          <a:solidFill>
                            <a:schemeClr val="dk1"/>
                          </a:solidFill>
                          <a:latin typeface="Inter"/>
                          <a:ea typeface="Inter"/>
                          <a:cs typeface="Inter"/>
                          <a:sym typeface="Inter"/>
                        </a:rPr>
                        <a:t>)(#</a:t>
                      </a:r>
                      <a:r>
                        <a:rPr baseline="-25000" lang="en" sz="1100">
                          <a:solidFill>
                            <a:schemeClr val="dk1"/>
                          </a:solidFill>
                          <a:latin typeface="Inter"/>
                          <a:ea typeface="Inter"/>
                          <a:cs typeface="Inter"/>
                          <a:sym typeface="Inter"/>
                        </a:rPr>
                        <a:t>output2</a:t>
                      </a:r>
                      <a:r>
                        <a:rPr lang="en" sz="1100">
                          <a:solidFill>
                            <a:schemeClr val="dk1"/>
                          </a:solidFill>
                          <a:latin typeface="Inter"/>
                          <a:ea typeface="Inter"/>
                          <a:cs typeface="Inter"/>
                          <a:sym typeface="Inter"/>
                        </a:rPr>
                        <a:t>)(#</a:t>
                      </a:r>
                      <a:r>
                        <a:rPr baseline="-25000" lang="en" sz="1100">
                          <a:solidFill>
                            <a:schemeClr val="dk1"/>
                          </a:solidFill>
                          <a:latin typeface="Inter"/>
                          <a:ea typeface="Inter"/>
                          <a:cs typeface="Inter"/>
                          <a:sym typeface="Inter"/>
                        </a:rPr>
                        <a:t>runs2</a:t>
                      </a:r>
                      <a:r>
                        <a:rPr lang="en" sz="1100">
                          <a:solidFill>
                            <a:schemeClr val="dk1"/>
                          </a:solidFill>
                          <a:latin typeface="Inter"/>
                          <a:ea typeface="Inter"/>
                          <a:cs typeface="Inter"/>
                          <a:sym typeface="Inter"/>
                        </a:rPr>
                        <a:t>)(2) = #</a:t>
                      </a:r>
                      <a:r>
                        <a:rPr baseline="-25000" lang="en" sz="1100">
                          <a:solidFill>
                            <a:schemeClr val="dk1"/>
                          </a:solidFill>
                          <a:latin typeface="Inter"/>
                          <a:ea typeface="Inter"/>
                          <a:cs typeface="Inter"/>
                          <a:sym typeface="Inter"/>
                        </a:rPr>
                        <a:t>totalAIcalls2</a:t>
                      </a:r>
                      <a:endParaRPr sz="11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i="1" lang="en" sz="1100">
                          <a:latin typeface="Inter"/>
                          <a:ea typeface="Inter"/>
                          <a:cs typeface="Inter"/>
                          <a:sym typeface="Inter"/>
                        </a:rPr>
                        <a:t>Total number of synthetic data values generated</a:t>
                      </a:r>
                      <a:endParaRPr i="1"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100">
                          <a:latin typeface="Inter"/>
                          <a:ea typeface="Inter"/>
                          <a:cs typeface="Inter"/>
                          <a:sym typeface="Inter"/>
                        </a:rPr>
                        <a:t>= (</a:t>
                      </a:r>
                      <a:r>
                        <a:rPr lang="en" sz="1100">
                          <a:solidFill>
                            <a:schemeClr val="dk1"/>
                          </a:solidFill>
                          <a:latin typeface="Inter"/>
                          <a:ea typeface="Inter"/>
                          <a:cs typeface="Inter"/>
                          <a:sym typeface="Inter"/>
                        </a:rPr>
                        <a:t>#</a:t>
                      </a:r>
                      <a:r>
                        <a:rPr baseline="-25000" lang="en" sz="1100">
                          <a:solidFill>
                            <a:schemeClr val="dk1"/>
                          </a:solidFill>
                          <a:latin typeface="Inter"/>
                          <a:ea typeface="Inter"/>
                          <a:cs typeface="Inter"/>
                          <a:sym typeface="Inter"/>
                        </a:rPr>
                        <a:t>totalAIcalls1</a:t>
                      </a:r>
                      <a:r>
                        <a:rPr lang="en" sz="1100">
                          <a:solidFill>
                            <a:schemeClr val="dk1"/>
                          </a:solidFill>
                          <a:latin typeface="Inter"/>
                          <a:ea typeface="Inter"/>
                          <a:cs typeface="Inter"/>
                          <a:sym typeface="Inter"/>
                        </a:rPr>
                        <a:t>)(#</a:t>
                      </a:r>
                      <a:r>
                        <a:rPr baseline="-25000" lang="en" sz="1100">
                          <a:solidFill>
                            <a:schemeClr val="dk1"/>
                          </a:solidFill>
                          <a:latin typeface="Inter"/>
                          <a:ea typeface="Inter"/>
                          <a:cs typeface="Inter"/>
                          <a:sym typeface="Inter"/>
                        </a:rPr>
                        <a:t>output1</a:t>
                      </a:r>
                      <a:r>
                        <a:rPr lang="en" sz="1100">
                          <a:solidFill>
                            <a:schemeClr val="dk1"/>
                          </a:solidFill>
                          <a:latin typeface="Inter"/>
                          <a:ea typeface="Inter"/>
                          <a:cs typeface="Inter"/>
                          <a:sym typeface="Inter"/>
                        </a:rPr>
                        <a:t>) = #</a:t>
                      </a:r>
                      <a:r>
                        <a:rPr baseline="-25000" lang="en" sz="1100">
                          <a:solidFill>
                            <a:schemeClr val="dk1"/>
                          </a:solidFill>
                          <a:latin typeface="Inter"/>
                          <a:ea typeface="Inter"/>
                          <a:cs typeface="Inter"/>
                          <a:sym typeface="Inter"/>
                        </a:rPr>
                        <a:t>synthdata1</a:t>
                      </a:r>
                      <a:endParaRPr sz="11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100">
                          <a:solidFill>
                            <a:schemeClr val="dk1"/>
                          </a:solidFill>
                          <a:latin typeface="Inter"/>
                          <a:ea typeface="Inter"/>
                          <a:cs typeface="Inter"/>
                          <a:sym typeface="Inter"/>
                        </a:rPr>
                        <a:t>= (#</a:t>
                      </a:r>
                      <a:r>
                        <a:rPr baseline="-25000" lang="en" sz="1100">
                          <a:solidFill>
                            <a:schemeClr val="dk1"/>
                          </a:solidFill>
                          <a:latin typeface="Inter"/>
                          <a:ea typeface="Inter"/>
                          <a:cs typeface="Inter"/>
                          <a:sym typeface="Inter"/>
                        </a:rPr>
                        <a:t>totalAIcalls2</a:t>
                      </a:r>
                      <a:r>
                        <a:rPr lang="en" sz="1100">
                          <a:solidFill>
                            <a:schemeClr val="dk1"/>
                          </a:solidFill>
                          <a:latin typeface="Inter"/>
                          <a:ea typeface="Inter"/>
                          <a:cs typeface="Inter"/>
                          <a:sym typeface="Inter"/>
                        </a:rPr>
                        <a:t>)(#</a:t>
                      </a:r>
                      <a:r>
                        <a:rPr baseline="-25000" lang="en" sz="1100">
                          <a:solidFill>
                            <a:schemeClr val="dk1"/>
                          </a:solidFill>
                          <a:latin typeface="Inter"/>
                          <a:ea typeface="Inter"/>
                          <a:cs typeface="Inter"/>
                          <a:sym typeface="Inter"/>
                        </a:rPr>
                        <a:t>output2</a:t>
                      </a:r>
                      <a:r>
                        <a:rPr lang="en" sz="1100">
                          <a:solidFill>
                            <a:schemeClr val="dk1"/>
                          </a:solidFill>
                          <a:latin typeface="Inter"/>
                          <a:ea typeface="Inter"/>
                          <a:cs typeface="Inter"/>
                          <a:sym typeface="Inter"/>
                        </a:rPr>
                        <a:t>) = #</a:t>
                      </a:r>
                      <a:r>
                        <a:rPr baseline="-25000" lang="en" sz="1100">
                          <a:solidFill>
                            <a:schemeClr val="dk1"/>
                          </a:solidFill>
                          <a:latin typeface="Inter"/>
                          <a:ea typeface="Inter"/>
                          <a:cs typeface="Inter"/>
                          <a:sym typeface="Inter"/>
                        </a:rPr>
                        <a:t>synthdata2</a:t>
                      </a:r>
                      <a:endParaRPr sz="1100">
                        <a:latin typeface="Inter"/>
                        <a:ea typeface="Inter"/>
                        <a:cs typeface="Inter"/>
                        <a:sym typeface="Inter"/>
                      </a:endParaRPr>
                    </a:p>
                  </a:txBody>
                  <a:tcPr marT="91425" marB="91425" marR="91425" marL="91425"/>
                </a:tc>
              </a:tr>
            </a:tbl>
          </a:graphicData>
        </a:graphic>
      </p:graphicFrame>
      <p:sp>
        <p:nvSpPr>
          <p:cNvPr id="437" name="Google Shape;437;p54"/>
          <p:cNvSpPr txBox="1"/>
          <p:nvPr/>
        </p:nvSpPr>
        <p:spPr>
          <a:xfrm>
            <a:off x="80080" y="4666500"/>
            <a:ext cx="9039000" cy="4770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baseline="30000" i="1" lang="en" sz="1000">
                <a:latin typeface="Inter"/>
                <a:ea typeface="Inter"/>
                <a:cs typeface="Inter"/>
                <a:sym typeface="Inter"/>
              </a:rPr>
              <a:t>i</a:t>
            </a:r>
            <a:r>
              <a:rPr i="1" lang="en" sz="1000">
                <a:latin typeface="Inter"/>
                <a:ea typeface="Inter"/>
                <a:cs typeface="Inter"/>
                <a:sym typeface="Inter"/>
              </a:rPr>
              <a:t> </a:t>
            </a:r>
            <a:r>
              <a:rPr i="1" lang="en" sz="750">
                <a:latin typeface="Inter"/>
                <a:ea typeface="Inter"/>
                <a:cs typeface="Inter"/>
                <a:sym typeface="Inter"/>
              </a:rPr>
              <a:t>We switched t</a:t>
            </a:r>
            <a:r>
              <a:rPr i="1" lang="en" sz="750">
                <a:latin typeface="Inter"/>
                <a:ea typeface="Inter"/>
                <a:cs typeface="Inter"/>
                <a:sym typeface="Inter"/>
              </a:rPr>
              <a:t>he word order of “for” and “against” by which support for the policy was queried to each synthetic respondent.</a:t>
            </a:r>
            <a:br>
              <a:rPr i="1" lang="en" sz="750">
                <a:latin typeface="Inter"/>
                <a:ea typeface="Inter"/>
                <a:cs typeface="Inter"/>
                <a:sym typeface="Inter"/>
              </a:rPr>
            </a:br>
            <a:r>
              <a:rPr i="1" lang="en" sz="750">
                <a:latin typeface="Inter"/>
                <a:ea typeface="Inter"/>
                <a:cs typeface="Inter"/>
                <a:sym typeface="Inter"/>
              </a:rPr>
              <a:t> </a:t>
            </a:r>
            <a:r>
              <a:rPr i="1" lang="en" sz="750">
                <a:latin typeface="Inter"/>
                <a:ea typeface="Inter"/>
                <a:cs typeface="Inter"/>
                <a:sym typeface="Inter"/>
              </a:rPr>
              <a:t>We found no meaningful effect from this variation testing.</a:t>
            </a:r>
            <a:endParaRPr i="1" sz="750">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5"/>
          <p:cNvSpPr/>
          <p:nvPr/>
        </p:nvSpPr>
        <p:spPr>
          <a:xfrm>
            <a:off x="496119" y="2390105"/>
            <a:ext cx="4005000" cy="1081800"/>
          </a:xfrm>
          <a:prstGeom prst="roundRect">
            <a:avLst>
              <a:gd fmla="val 8453" name="adj"/>
            </a:avLst>
          </a:prstGeom>
          <a:solidFill>
            <a:srgbClr val="F9F8F5"/>
          </a:solidFill>
          <a:ln cap="flat" cmpd="sng" w="19050">
            <a:solidFill>
              <a:srgbClr val="D3D1C9"/>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44" name="Google Shape;444;p55"/>
          <p:cNvSpPr/>
          <p:nvPr/>
        </p:nvSpPr>
        <p:spPr>
          <a:xfrm>
            <a:off x="477069" y="2390105"/>
            <a:ext cx="76200" cy="10818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45" name="Google Shape;445;p55"/>
          <p:cNvSpPr/>
          <p:nvPr/>
        </p:nvSpPr>
        <p:spPr>
          <a:xfrm>
            <a:off x="714075" y="2550925"/>
            <a:ext cx="36264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lang="en">
                <a:solidFill>
                  <a:srgbClr val="161613"/>
                </a:solidFill>
                <a:latin typeface="DM Sans"/>
                <a:ea typeface="DM Sans"/>
                <a:cs typeface="DM Sans"/>
                <a:sym typeface="DM Sans"/>
              </a:rPr>
              <a:t>Unclear benefit from extra respondent info</a:t>
            </a:r>
            <a:endParaRPr b="0" i="0" sz="1400" u="none" cap="none" strike="noStrike"/>
          </a:p>
        </p:txBody>
      </p:sp>
      <p:sp>
        <p:nvSpPr>
          <p:cNvPr id="446" name="Google Shape;446;p55"/>
          <p:cNvSpPr/>
          <p:nvPr/>
        </p:nvSpPr>
        <p:spPr>
          <a:xfrm>
            <a:off x="714078" y="2857426"/>
            <a:ext cx="36264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lang="en" sz="1100">
                <a:solidFill>
                  <a:srgbClr val="161613"/>
                </a:solidFill>
                <a:latin typeface="Inter"/>
                <a:ea typeface="Inter"/>
                <a:cs typeface="Inter"/>
                <a:sym typeface="Inter"/>
              </a:rPr>
              <a:t>In first replication, belief inputs were critical. In second replication, demographics alone performed better.</a:t>
            </a:r>
            <a:endParaRPr b="0" i="0" sz="1100" u="none" cap="none" strike="noStrike"/>
          </a:p>
        </p:txBody>
      </p:sp>
      <p:sp>
        <p:nvSpPr>
          <p:cNvPr id="447" name="Google Shape;447;p55"/>
          <p:cNvSpPr/>
          <p:nvPr/>
        </p:nvSpPr>
        <p:spPr>
          <a:xfrm>
            <a:off x="4642843" y="2390105"/>
            <a:ext cx="4005000" cy="1081800"/>
          </a:xfrm>
          <a:prstGeom prst="roundRect">
            <a:avLst>
              <a:gd fmla="val 8453" name="adj"/>
            </a:avLst>
          </a:prstGeom>
          <a:solidFill>
            <a:srgbClr val="F9F8F5"/>
          </a:solidFill>
          <a:ln cap="flat" cmpd="sng" w="19050">
            <a:solidFill>
              <a:srgbClr val="D3D1C9"/>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48" name="Google Shape;448;p55"/>
          <p:cNvSpPr/>
          <p:nvPr/>
        </p:nvSpPr>
        <p:spPr>
          <a:xfrm>
            <a:off x="4623792" y="2390105"/>
            <a:ext cx="76200" cy="10818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49" name="Google Shape;449;p55"/>
          <p:cNvSpPr/>
          <p:nvPr/>
        </p:nvSpPr>
        <p:spPr>
          <a:xfrm>
            <a:off x="4860799" y="2550925"/>
            <a:ext cx="3536700" cy="2214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rgbClr val="161613"/>
              </a:buClr>
              <a:buSzPts val="1400"/>
              <a:buFont typeface="DM Sans"/>
              <a:buNone/>
            </a:pPr>
            <a:r>
              <a:rPr lang="en">
                <a:solidFill>
                  <a:srgbClr val="161613"/>
                </a:solidFill>
                <a:latin typeface="DM Sans"/>
                <a:ea typeface="DM Sans"/>
                <a:cs typeface="DM Sans"/>
                <a:sym typeface="DM Sans"/>
              </a:rPr>
              <a:t>Not all LLMs are equal</a:t>
            </a:r>
            <a:endParaRPr>
              <a:solidFill>
                <a:schemeClr val="dk1"/>
              </a:solidFill>
            </a:endParaRPr>
          </a:p>
        </p:txBody>
      </p:sp>
      <p:sp>
        <p:nvSpPr>
          <p:cNvPr id="450" name="Google Shape;450;p55"/>
          <p:cNvSpPr/>
          <p:nvPr/>
        </p:nvSpPr>
        <p:spPr>
          <a:xfrm>
            <a:off x="4860801" y="2857426"/>
            <a:ext cx="3626400" cy="453600"/>
          </a:xfrm>
          <a:prstGeom prst="rect">
            <a:avLst/>
          </a:prstGeom>
          <a:noFill/>
          <a:ln>
            <a:noFill/>
          </a:ln>
        </p:spPr>
        <p:txBody>
          <a:bodyPr anchorCtr="0" anchor="t" bIns="0" lIns="0" spcFirstLastPara="1" rIns="0" wrap="square" tIns="0">
            <a:noAutofit/>
          </a:bodyPr>
          <a:lstStyle/>
          <a:p>
            <a:pPr indent="0" lvl="0" marL="0" rtl="0" algn="l">
              <a:lnSpc>
                <a:spcPct val="162857"/>
              </a:lnSpc>
              <a:spcBef>
                <a:spcPts val="0"/>
              </a:spcBef>
              <a:spcAft>
                <a:spcPts val="0"/>
              </a:spcAft>
              <a:buClr>
                <a:srgbClr val="161613"/>
              </a:buClr>
              <a:buSzPts val="1100"/>
              <a:buFont typeface="Inter"/>
              <a:buNone/>
            </a:pPr>
            <a:r>
              <a:rPr lang="en" sz="1100">
                <a:solidFill>
                  <a:srgbClr val="161613"/>
                </a:solidFill>
                <a:latin typeface="Inter"/>
                <a:ea typeface="Inter"/>
                <a:cs typeface="Inter"/>
                <a:sym typeface="Inter"/>
              </a:rPr>
              <a:t>Some LLMs far outperform others. Aggregation cannot compensate for poor LLM performance.</a:t>
            </a:r>
            <a:endParaRPr sz="1100">
              <a:solidFill>
                <a:schemeClr val="dk1"/>
              </a:solidFill>
            </a:endParaRPr>
          </a:p>
        </p:txBody>
      </p:sp>
      <p:sp>
        <p:nvSpPr>
          <p:cNvPr id="451" name="Google Shape;451;p55"/>
          <p:cNvSpPr/>
          <p:nvPr/>
        </p:nvSpPr>
        <p:spPr>
          <a:xfrm>
            <a:off x="496119" y="3613621"/>
            <a:ext cx="4005000" cy="1081800"/>
          </a:xfrm>
          <a:prstGeom prst="roundRect">
            <a:avLst>
              <a:gd fmla="val 8453" name="adj"/>
            </a:avLst>
          </a:prstGeom>
          <a:solidFill>
            <a:srgbClr val="F9F8F5"/>
          </a:solidFill>
          <a:ln cap="flat" cmpd="sng" w="19050">
            <a:solidFill>
              <a:srgbClr val="D3D1C9"/>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52" name="Google Shape;452;p55"/>
          <p:cNvSpPr/>
          <p:nvPr/>
        </p:nvSpPr>
        <p:spPr>
          <a:xfrm>
            <a:off x="477069" y="3613621"/>
            <a:ext cx="76200" cy="10818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53" name="Google Shape;453;p55"/>
          <p:cNvSpPr/>
          <p:nvPr/>
        </p:nvSpPr>
        <p:spPr>
          <a:xfrm>
            <a:off x="714078" y="3774430"/>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b="0" i="0" lang="en" sz="1400" u="none" cap="none" strike="noStrike">
                <a:solidFill>
                  <a:srgbClr val="161613"/>
                </a:solidFill>
                <a:latin typeface="DM Sans"/>
                <a:ea typeface="DM Sans"/>
                <a:cs typeface="DM Sans"/>
                <a:sym typeface="DM Sans"/>
              </a:rPr>
              <a:t>Parsimonious Signal</a:t>
            </a:r>
            <a:endParaRPr b="0" i="0" sz="1400" u="none" cap="none" strike="noStrike"/>
          </a:p>
        </p:txBody>
      </p:sp>
      <p:sp>
        <p:nvSpPr>
          <p:cNvPr id="454" name="Google Shape;454;p55"/>
          <p:cNvSpPr/>
          <p:nvPr/>
        </p:nvSpPr>
        <p:spPr>
          <a:xfrm>
            <a:off x="714078" y="4080942"/>
            <a:ext cx="36264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b="0" i="0" lang="en" sz="1100" u="none" cap="none" strike="noStrike">
                <a:solidFill>
                  <a:srgbClr val="161613"/>
                </a:solidFill>
                <a:latin typeface="Inter"/>
                <a:ea typeface="Inter"/>
                <a:cs typeface="Inter"/>
                <a:sym typeface="Inter"/>
              </a:rPr>
              <a:t>A small subset of belief questions may recover most of the predictive signal.</a:t>
            </a:r>
            <a:endParaRPr b="0" i="0" sz="1100" u="none" cap="none" strike="noStrike"/>
          </a:p>
        </p:txBody>
      </p:sp>
      <p:sp>
        <p:nvSpPr>
          <p:cNvPr id="455" name="Google Shape;455;p55"/>
          <p:cNvSpPr/>
          <p:nvPr/>
        </p:nvSpPr>
        <p:spPr>
          <a:xfrm>
            <a:off x="4642843" y="3613621"/>
            <a:ext cx="4005000" cy="1081800"/>
          </a:xfrm>
          <a:prstGeom prst="roundRect">
            <a:avLst>
              <a:gd fmla="val 8453" name="adj"/>
            </a:avLst>
          </a:prstGeom>
          <a:solidFill>
            <a:srgbClr val="F9F8F5"/>
          </a:solidFill>
          <a:ln cap="flat" cmpd="sng" w="19050">
            <a:solidFill>
              <a:srgbClr val="D3D1C9"/>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56" name="Google Shape;456;p55"/>
          <p:cNvSpPr/>
          <p:nvPr/>
        </p:nvSpPr>
        <p:spPr>
          <a:xfrm>
            <a:off x="4623792" y="3613621"/>
            <a:ext cx="76200" cy="10818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57" name="Google Shape;457;p55"/>
          <p:cNvSpPr/>
          <p:nvPr/>
        </p:nvSpPr>
        <p:spPr>
          <a:xfrm>
            <a:off x="4860800" y="3774425"/>
            <a:ext cx="2963400" cy="2214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rgbClr val="161613"/>
              </a:buClr>
              <a:buSzPts val="1400"/>
              <a:buFont typeface="DM Sans"/>
              <a:buNone/>
            </a:pPr>
            <a:r>
              <a:rPr lang="en">
                <a:solidFill>
                  <a:srgbClr val="161613"/>
                </a:solidFill>
                <a:latin typeface="DM Sans"/>
                <a:ea typeface="DM Sans"/>
                <a:cs typeface="DM Sans"/>
                <a:sym typeface="DM Sans"/>
              </a:rPr>
              <a:t>Bounded choice exp. may be better</a:t>
            </a:r>
            <a:endParaRPr b="0" i="0" sz="1400" u="none" cap="none" strike="noStrike"/>
          </a:p>
        </p:txBody>
      </p:sp>
      <p:sp>
        <p:nvSpPr>
          <p:cNvPr id="458" name="Google Shape;458;p55"/>
          <p:cNvSpPr/>
          <p:nvPr/>
        </p:nvSpPr>
        <p:spPr>
          <a:xfrm>
            <a:off x="4860801" y="4080942"/>
            <a:ext cx="36264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lang="en" sz="1100">
                <a:solidFill>
                  <a:srgbClr val="161613"/>
                </a:solidFill>
                <a:latin typeface="Inter"/>
                <a:ea typeface="Inter"/>
                <a:cs typeface="Inter"/>
                <a:sym typeface="Inter"/>
              </a:rPr>
              <a:t>In the absence of belief inputs, the bounded choice experiments outperformed the repeated choice exp.</a:t>
            </a:r>
            <a:endParaRPr b="0" i="0" sz="1100" u="none" cap="none" strike="noStrike"/>
          </a:p>
        </p:txBody>
      </p:sp>
      <p:sp>
        <p:nvSpPr>
          <p:cNvPr id="459" name="Google Shape;459;p55"/>
          <p:cNvSpPr/>
          <p:nvPr/>
        </p:nvSpPr>
        <p:spPr>
          <a:xfrm>
            <a:off x="146350" y="312775"/>
            <a:ext cx="51837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Cross-Study Summary</a:t>
            </a:r>
            <a:r>
              <a:rPr lang="en" sz="1600">
                <a:solidFill>
                  <a:srgbClr val="161613"/>
                </a:solidFill>
                <a:latin typeface="DM Sans"/>
                <a:ea typeface="DM Sans"/>
                <a:cs typeface="DM Sans"/>
                <a:sym typeface="DM Sans"/>
              </a:rPr>
              <a:t> – Comparative Takeaways</a:t>
            </a:r>
            <a:endParaRPr sz="1600">
              <a:solidFill>
                <a:srgbClr val="161613"/>
              </a:solidFill>
              <a:latin typeface="DM Sans"/>
              <a:ea typeface="DM Sans"/>
              <a:cs typeface="DM Sans"/>
              <a:sym typeface="DM Sans"/>
            </a:endParaRPr>
          </a:p>
        </p:txBody>
      </p:sp>
      <p:sp>
        <p:nvSpPr>
          <p:cNvPr id="460" name="Google Shape;460;p55"/>
          <p:cNvSpPr/>
          <p:nvPr/>
        </p:nvSpPr>
        <p:spPr>
          <a:xfrm>
            <a:off x="4652369" y="1210405"/>
            <a:ext cx="4005000" cy="1081800"/>
          </a:xfrm>
          <a:prstGeom prst="roundRect">
            <a:avLst>
              <a:gd fmla="val 8453" name="adj"/>
            </a:avLst>
          </a:prstGeom>
          <a:solidFill>
            <a:srgbClr val="F9F8F5"/>
          </a:solidFill>
          <a:ln cap="flat" cmpd="sng" w="19050">
            <a:solidFill>
              <a:srgbClr val="D3D1C9"/>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61" name="Google Shape;461;p55"/>
          <p:cNvSpPr/>
          <p:nvPr/>
        </p:nvSpPr>
        <p:spPr>
          <a:xfrm>
            <a:off x="4633319" y="1210405"/>
            <a:ext cx="76200" cy="10818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62" name="Google Shape;462;p55"/>
          <p:cNvSpPr/>
          <p:nvPr/>
        </p:nvSpPr>
        <p:spPr>
          <a:xfrm>
            <a:off x="4870323" y="1371225"/>
            <a:ext cx="3163800" cy="2214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rgbClr val="161613"/>
              </a:buClr>
              <a:buSzPts val="1400"/>
              <a:buFont typeface="DM Sans"/>
              <a:buNone/>
            </a:pPr>
            <a:r>
              <a:rPr lang="en">
                <a:solidFill>
                  <a:srgbClr val="161613"/>
                </a:solidFill>
                <a:latin typeface="DM Sans"/>
                <a:ea typeface="DM Sans"/>
                <a:cs typeface="DM Sans"/>
                <a:sym typeface="DM Sans"/>
              </a:rPr>
              <a:t>Robust across contexts </a:t>
            </a:r>
            <a:endParaRPr b="0" i="0" sz="1400" u="none" cap="none" strike="noStrike"/>
          </a:p>
        </p:txBody>
      </p:sp>
      <p:sp>
        <p:nvSpPr>
          <p:cNvPr id="463" name="Google Shape;463;p55"/>
          <p:cNvSpPr/>
          <p:nvPr/>
        </p:nvSpPr>
        <p:spPr>
          <a:xfrm>
            <a:off x="4870327" y="1677726"/>
            <a:ext cx="3626400" cy="453600"/>
          </a:xfrm>
          <a:prstGeom prst="rect">
            <a:avLst/>
          </a:prstGeom>
          <a:noFill/>
          <a:ln>
            <a:noFill/>
          </a:ln>
        </p:spPr>
        <p:txBody>
          <a:bodyPr anchorCtr="0" anchor="t" bIns="0" lIns="0" spcFirstLastPara="1" rIns="0" wrap="square" tIns="0">
            <a:noAutofit/>
          </a:bodyPr>
          <a:lstStyle/>
          <a:p>
            <a:pPr indent="0" lvl="0" marL="0" rtl="0" algn="l">
              <a:lnSpc>
                <a:spcPct val="162857"/>
              </a:lnSpc>
              <a:spcBef>
                <a:spcPts val="0"/>
              </a:spcBef>
              <a:spcAft>
                <a:spcPts val="0"/>
              </a:spcAft>
              <a:buClr>
                <a:srgbClr val="161613"/>
              </a:buClr>
              <a:buSzPts val="1100"/>
              <a:buFont typeface="Inter"/>
              <a:buNone/>
            </a:pPr>
            <a:r>
              <a:rPr lang="en" sz="1100">
                <a:solidFill>
                  <a:srgbClr val="161613"/>
                </a:solidFill>
                <a:latin typeface="Inter"/>
                <a:ea typeface="Inter"/>
                <a:cs typeface="Inter"/>
                <a:sym typeface="Inter"/>
              </a:rPr>
              <a:t>Key patterns replicate across two independent CV studies with distinct policy contexts.</a:t>
            </a:r>
            <a:endParaRPr b="0" i="0" sz="1100" u="none" cap="none" strike="noStrike"/>
          </a:p>
        </p:txBody>
      </p:sp>
      <p:sp>
        <p:nvSpPr>
          <p:cNvPr id="464" name="Google Shape;464;p55"/>
          <p:cNvSpPr/>
          <p:nvPr/>
        </p:nvSpPr>
        <p:spPr>
          <a:xfrm>
            <a:off x="505644" y="1210405"/>
            <a:ext cx="4005000" cy="1081800"/>
          </a:xfrm>
          <a:prstGeom prst="roundRect">
            <a:avLst>
              <a:gd fmla="val 8453" name="adj"/>
            </a:avLst>
          </a:prstGeom>
          <a:solidFill>
            <a:srgbClr val="F9F8F5"/>
          </a:solidFill>
          <a:ln cap="flat" cmpd="sng" w="19050">
            <a:solidFill>
              <a:srgbClr val="D3D1C9"/>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65" name="Google Shape;465;p55"/>
          <p:cNvSpPr/>
          <p:nvPr/>
        </p:nvSpPr>
        <p:spPr>
          <a:xfrm>
            <a:off x="486594" y="1210405"/>
            <a:ext cx="76200" cy="1081800"/>
          </a:xfrm>
          <a:prstGeom prst="roundRect">
            <a:avLst>
              <a:gd fmla="val 27907" name="adj"/>
            </a:avLst>
          </a:prstGeom>
          <a:solidFill>
            <a:srgbClr val="28282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66" name="Google Shape;466;p55"/>
          <p:cNvSpPr/>
          <p:nvPr/>
        </p:nvSpPr>
        <p:spPr>
          <a:xfrm>
            <a:off x="723598" y="1371225"/>
            <a:ext cx="31638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400"/>
              <a:buFont typeface="DM Sans"/>
              <a:buNone/>
            </a:pPr>
            <a:r>
              <a:rPr lang="en"/>
              <a:t>Referendum behavior is replicable</a:t>
            </a:r>
            <a:endParaRPr b="0" i="0" sz="1400" u="none" cap="none" strike="noStrike"/>
          </a:p>
        </p:txBody>
      </p:sp>
      <p:sp>
        <p:nvSpPr>
          <p:cNvPr id="467" name="Google Shape;467;p55"/>
          <p:cNvSpPr/>
          <p:nvPr/>
        </p:nvSpPr>
        <p:spPr>
          <a:xfrm>
            <a:off x="723603" y="1677726"/>
            <a:ext cx="36264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lang="en" sz="1100"/>
              <a:t>High-performing LLMs consistently replicate voting behavior. But most LLMs are not very sensitive to cost.</a:t>
            </a:r>
            <a:endParaRPr b="0" i="0" sz="1100" u="none" cap="none" strike="noStrike"/>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6"/>
          <p:cNvSpPr/>
          <p:nvPr/>
        </p:nvSpPr>
        <p:spPr>
          <a:xfrm>
            <a:off x="496119" y="763279"/>
            <a:ext cx="239100" cy="239100"/>
          </a:xfrm>
          <a:prstGeom prst="roundRect">
            <a:avLst>
              <a:gd fmla="val 6669" name="adj"/>
            </a:avLst>
          </a:prstGeom>
          <a:solidFill>
            <a:srgbClr val="EDEBE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74" name="Google Shape;474;p56"/>
          <p:cNvSpPr/>
          <p:nvPr/>
        </p:nvSpPr>
        <p:spPr>
          <a:xfrm>
            <a:off x="814985" y="746574"/>
            <a:ext cx="3247500" cy="1671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161613"/>
              </a:buClr>
              <a:buSzPts val="1000"/>
              <a:buFont typeface="DM Sans"/>
              <a:buNone/>
            </a:pPr>
            <a:r>
              <a:rPr lang="en" sz="1200">
                <a:solidFill>
                  <a:srgbClr val="161613"/>
                </a:solidFill>
                <a:latin typeface="DM Sans"/>
                <a:ea typeface="DM Sans"/>
                <a:cs typeface="DM Sans"/>
                <a:sym typeface="DM Sans"/>
              </a:rPr>
              <a:t>Improving study design</a:t>
            </a:r>
            <a:endParaRPr b="0" i="0" sz="1200" u="none" cap="none" strike="noStrike"/>
          </a:p>
        </p:txBody>
      </p:sp>
      <p:sp>
        <p:nvSpPr>
          <p:cNvPr id="475" name="Google Shape;475;p56"/>
          <p:cNvSpPr/>
          <p:nvPr/>
        </p:nvSpPr>
        <p:spPr>
          <a:xfrm>
            <a:off x="967400" y="1025147"/>
            <a:ext cx="7335000" cy="2979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161613"/>
              </a:buClr>
              <a:buSzPts val="800"/>
              <a:buFont typeface="Inter"/>
              <a:buNone/>
            </a:pPr>
            <a:r>
              <a:rPr b="0" i="1" lang="en" sz="1000" u="none" cap="none" strike="noStrike">
                <a:solidFill>
                  <a:srgbClr val="161613"/>
                </a:solidFill>
                <a:latin typeface="Inter"/>
                <a:ea typeface="Inter"/>
                <a:cs typeface="Inter"/>
                <a:sym typeface="Inter"/>
              </a:rPr>
              <a:t>LLMs </a:t>
            </a:r>
            <a:r>
              <a:rPr i="1" lang="en" sz="1000">
                <a:solidFill>
                  <a:srgbClr val="161613"/>
                </a:solidFill>
                <a:latin typeface="Inter"/>
                <a:ea typeface="Inter"/>
                <a:cs typeface="Inter"/>
                <a:sym typeface="Inter"/>
              </a:rPr>
              <a:t>can help us refine study designs to address </a:t>
            </a:r>
            <a:r>
              <a:rPr i="1" lang="en" sz="1000">
                <a:solidFill>
                  <a:srgbClr val="161613"/>
                </a:solidFill>
                <a:latin typeface="Inter"/>
                <a:ea typeface="Inter"/>
                <a:cs typeface="Inter"/>
                <a:sym typeface="Inter"/>
              </a:rPr>
              <a:t>potential</a:t>
            </a:r>
            <a:r>
              <a:rPr i="1" lang="en" sz="1000">
                <a:solidFill>
                  <a:srgbClr val="161613"/>
                </a:solidFill>
                <a:latin typeface="Inter"/>
                <a:ea typeface="Inter"/>
                <a:cs typeface="Inter"/>
                <a:sym typeface="Inter"/>
              </a:rPr>
              <a:t> issues with wording, etc.</a:t>
            </a:r>
            <a:endParaRPr b="0" i="1" sz="1000" u="none" cap="none" strike="noStrike"/>
          </a:p>
        </p:txBody>
      </p:sp>
      <p:sp>
        <p:nvSpPr>
          <p:cNvPr id="476" name="Google Shape;476;p56"/>
          <p:cNvSpPr/>
          <p:nvPr/>
        </p:nvSpPr>
        <p:spPr>
          <a:xfrm>
            <a:off x="496119" y="1394607"/>
            <a:ext cx="239100" cy="239100"/>
          </a:xfrm>
          <a:prstGeom prst="roundRect">
            <a:avLst>
              <a:gd fmla="val 6669" name="adj"/>
            </a:avLst>
          </a:prstGeom>
          <a:solidFill>
            <a:srgbClr val="EDEBE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77" name="Google Shape;477;p56"/>
          <p:cNvSpPr/>
          <p:nvPr/>
        </p:nvSpPr>
        <p:spPr>
          <a:xfrm>
            <a:off x="814979" y="1377899"/>
            <a:ext cx="4154100" cy="1662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161613"/>
              </a:buClr>
              <a:buSzPts val="1000"/>
              <a:buFont typeface="DM Sans"/>
              <a:buNone/>
            </a:pPr>
            <a:r>
              <a:rPr lang="en" sz="1200">
                <a:solidFill>
                  <a:srgbClr val="161613"/>
                </a:solidFill>
                <a:latin typeface="DM Sans"/>
                <a:ea typeface="DM Sans"/>
                <a:cs typeface="DM Sans"/>
                <a:sym typeface="DM Sans"/>
              </a:rPr>
              <a:t>A way of implementing the benefit transfer method</a:t>
            </a:r>
            <a:endParaRPr b="0" i="0" sz="1200" u="none" cap="none" strike="noStrike"/>
          </a:p>
        </p:txBody>
      </p:sp>
      <p:sp>
        <p:nvSpPr>
          <p:cNvPr id="478" name="Google Shape;478;p56"/>
          <p:cNvSpPr/>
          <p:nvPr/>
        </p:nvSpPr>
        <p:spPr>
          <a:xfrm>
            <a:off x="967400" y="1656497"/>
            <a:ext cx="7335000" cy="2979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161613"/>
              </a:buClr>
              <a:buSzPts val="800"/>
              <a:buFont typeface="Inter"/>
              <a:buNone/>
            </a:pPr>
            <a:r>
              <a:rPr i="1" lang="en" sz="1000">
                <a:solidFill>
                  <a:srgbClr val="161613"/>
                </a:solidFill>
                <a:latin typeface="Inter"/>
                <a:ea typeface="Inter"/>
                <a:cs typeface="Inter"/>
                <a:sym typeface="Inter"/>
              </a:rPr>
              <a:t>We already accept some ways of generalizing from existing research; this could be another, or serve as a robustness check on other such methods.</a:t>
            </a:r>
            <a:endParaRPr b="0" i="1" sz="1000" u="none" cap="none" strike="noStrike"/>
          </a:p>
        </p:txBody>
      </p:sp>
      <p:sp>
        <p:nvSpPr>
          <p:cNvPr id="479" name="Google Shape;479;p56"/>
          <p:cNvSpPr/>
          <p:nvPr/>
        </p:nvSpPr>
        <p:spPr>
          <a:xfrm>
            <a:off x="496119" y="2254537"/>
            <a:ext cx="239100" cy="239100"/>
          </a:xfrm>
          <a:prstGeom prst="roundRect">
            <a:avLst>
              <a:gd fmla="val 6669" name="adj"/>
            </a:avLst>
          </a:prstGeom>
          <a:solidFill>
            <a:srgbClr val="EDEBE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80" name="Google Shape;480;p56"/>
          <p:cNvSpPr/>
          <p:nvPr/>
        </p:nvSpPr>
        <p:spPr>
          <a:xfrm>
            <a:off x="814976" y="2237826"/>
            <a:ext cx="3911100" cy="167100"/>
          </a:xfrm>
          <a:prstGeom prst="rect">
            <a:avLst/>
          </a:prstGeom>
          <a:noFill/>
          <a:ln>
            <a:noFill/>
          </a:ln>
        </p:spPr>
        <p:txBody>
          <a:bodyPr anchorCtr="0" anchor="t" bIns="0" lIns="0" spcFirstLastPara="1" rIns="0" wrap="square" tIns="0">
            <a:noAutofit/>
          </a:bodyPr>
          <a:lstStyle/>
          <a:p>
            <a:pPr indent="0" lvl="0" marL="0" rtl="0" algn="l">
              <a:lnSpc>
                <a:spcPct val="124242"/>
              </a:lnSpc>
              <a:spcBef>
                <a:spcPts val="0"/>
              </a:spcBef>
              <a:spcAft>
                <a:spcPts val="0"/>
              </a:spcAft>
              <a:buClr>
                <a:srgbClr val="161613"/>
              </a:buClr>
              <a:buSzPts val="1000"/>
              <a:buFont typeface="DM Sans"/>
              <a:buNone/>
            </a:pPr>
            <a:r>
              <a:rPr lang="en" sz="1200">
                <a:solidFill>
                  <a:srgbClr val="161613"/>
                </a:solidFill>
                <a:latin typeface="DM Sans"/>
                <a:ea typeface="DM Sans"/>
                <a:cs typeface="DM Sans"/>
                <a:sym typeface="DM Sans"/>
              </a:rPr>
              <a:t>Setting lower and upper bound estimates of WTP</a:t>
            </a:r>
            <a:endParaRPr sz="1200">
              <a:solidFill>
                <a:schemeClr val="dk1"/>
              </a:solidFill>
            </a:endParaRPr>
          </a:p>
          <a:p>
            <a:pPr indent="0" lvl="0" marL="0" rtl="0" algn="l">
              <a:lnSpc>
                <a:spcPct val="124242"/>
              </a:lnSpc>
              <a:spcBef>
                <a:spcPts val="0"/>
              </a:spcBef>
              <a:spcAft>
                <a:spcPts val="0"/>
              </a:spcAft>
              <a:buClr>
                <a:srgbClr val="161613"/>
              </a:buClr>
              <a:buSzPts val="1000"/>
              <a:buFont typeface="DM Sans"/>
              <a:buNone/>
            </a:pPr>
            <a:r>
              <a:t/>
            </a:r>
            <a:endParaRPr sz="1200">
              <a:solidFill>
                <a:srgbClr val="161613"/>
              </a:solidFill>
              <a:latin typeface="DM Sans"/>
              <a:ea typeface="DM Sans"/>
              <a:cs typeface="DM Sans"/>
              <a:sym typeface="DM Sans"/>
            </a:endParaRPr>
          </a:p>
          <a:p>
            <a:pPr indent="0" lvl="0" marL="0" marR="0" rtl="0" algn="l">
              <a:lnSpc>
                <a:spcPct val="124242"/>
              </a:lnSpc>
              <a:spcBef>
                <a:spcPts val="0"/>
              </a:spcBef>
              <a:spcAft>
                <a:spcPts val="0"/>
              </a:spcAft>
              <a:buClr>
                <a:srgbClr val="161613"/>
              </a:buClr>
              <a:buSzPts val="1000"/>
              <a:buFont typeface="DM Sans"/>
              <a:buNone/>
            </a:pPr>
            <a:r>
              <a:t/>
            </a:r>
            <a:endParaRPr sz="1200">
              <a:solidFill>
                <a:srgbClr val="161613"/>
              </a:solidFill>
              <a:latin typeface="DM Sans"/>
              <a:ea typeface="DM Sans"/>
              <a:cs typeface="DM Sans"/>
              <a:sym typeface="DM Sans"/>
            </a:endParaRPr>
          </a:p>
        </p:txBody>
      </p:sp>
      <p:sp>
        <p:nvSpPr>
          <p:cNvPr id="481" name="Google Shape;481;p56"/>
          <p:cNvSpPr/>
          <p:nvPr/>
        </p:nvSpPr>
        <p:spPr>
          <a:xfrm>
            <a:off x="967400" y="2516425"/>
            <a:ext cx="7671900" cy="2979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161613"/>
              </a:buClr>
              <a:buSzPts val="800"/>
              <a:buFont typeface="Inter"/>
              <a:buNone/>
            </a:pPr>
            <a:r>
              <a:rPr i="1" lang="en" sz="1000">
                <a:solidFill>
                  <a:srgbClr val="161613"/>
                </a:solidFill>
                <a:latin typeface="Inter"/>
                <a:ea typeface="Inter"/>
                <a:cs typeface="Inter"/>
                <a:sym typeface="Inter"/>
              </a:rPr>
              <a:t>If it’s independently plausible that stakeholders value some non-market good, s</a:t>
            </a:r>
            <a:r>
              <a:rPr i="1" lang="en" sz="1000">
                <a:solidFill>
                  <a:srgbClr val="161613"/>
                </a:solidFill>
                <a:latin typeface="Inter"/>
                <a:ea typeface="Inter"/>
                <a:cs typeface="Inter"/>
                <a:sym typeface="Inter"/>
              </a:rPr>
              <a:t>ynthetic experiments could allow us to identify a lower bound value (where it’s implausible that stakeholders would value a benefit or cost below some discounted level that synthetic experiments support).</a:t>
            </a:r>
            <a:endParaRPr b="0" i="1" sz="1000" u="none" cap="none" strike="noStrike"/>
          </a:p>
        </p:txBody>
      </p:sp>
      <p:sp>
        <p:nvSpPr>
          <p:cNvPr id="482" name="Google Shape;482;p56"/>
          <p:cNvSpPr/>
          <p:nvPr/>
        </p:nvSpPr>
        <p:spPr>
          <a:xfrm>
            <a:off x="496119" y="3190665"/>
            <a:ext cx="239100" cy="239100"/>
          </a:xfrm>
          <a:prstGeom prst="roundRect">
            <a:avLst>
              <a:gd fmla="val 6669" name="adj"/>
            </a:avLst>
          </a:prstGeom>
          <a:solidFill>
            <a:srgbClr val="EDEBE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483" name="Google Shape;483;p56"/>
          <p:cNvSpPr/>
          <p:nvPr/>
        </p:nvSpPr>
        <p:spPr>
          <a:xfrm>
            <a:off x="814979" y="3173952"/>
            <a:ext cx="2927100" cy="166200"/>
          </a:xfrm>
          <a:prstGeom prst="rect">
            <a:avLst/>
          </a:prstGeom>
          <a:noFill/>
          <a:ln>
            <a:noFill/>
          </a:ln>
        </p:spPr>
        <p:txBody>
          <a:bodyPr anchorCtr="0" anchor="t" bIns="0" lIns="0" spcFirstLastPara="1" rIns="0" wrap="square" tIns="0">
            <a:noAutofit/>
          </a:bodyPr>
          <a:lstStyle/>
          <a:p>
            <a:pPr indent="0" lvl="0" marL="0" rtl="0" algn="l">
              <a:lnSpc>
                <a:spcPct val="124242"/>
              </a:lnSpc>
              <a:spcBef>
                <a:spcPts val="0"/>
              </a:spcBef>
              <a:spcAft>
                <a:spcPts val="0"/>
              </a:spcAft>
              <a:buClr>
                <a:srgbClr val="161613"/>
              </a:buClr>
              <a:buSzPts val="1000"/>
              <a:buFont typeface="DM Sans"/>
              <a:buNone/>
            </a:pPr>
            <a:r>
              <a:rPr lang="en" sz="1200">
                <a:solidFill>
                  <a:srgbClr val="161613"/>
                </a:solidFill>
                <a:latin typeface="DM Sans"/>
                <a:ea typeface="DM Sans"/>
                <a:cs typeface="DM Sans"/>
                <a:sym typeface="DM Sans"/>
              </a:rPr>
              <a:t>Estimating</a:t>
            </a:r>
            <a:r>
              <a:rPr lang="en" sz="1200">
                <a:solidFill>
                  <a:srgbClr val="161613"/>
                </a:solidFill>
                <a:latin typeface="DM Sans"/>
                <a:ea typeface="DM Sans"/>
                <a:cs typeface="DM Sans"/>
                <a:sym typeface="DM Sans"/>
              </a:rPr>
              <a:t> WTP</a:t>
            </a:r>
            <a:endParaRPr sz="1200">
              <a:solidFill>
                <a:schemeClr val="dk1"/>
              </a:solidFill>
            </a:endParaRPr>
          </a:p>
          <a:p>
            <a:pPr indent="0" lvl="0" marL="0" marR="0" rtl="0" algn="l">
              <a:lnSpc>
                <a:spcPct val="124242"/>
              </a:lnSpc>
              <a:spcBef>
                <a:spcPts val="0"/>
              </a:spcBef>
              <a:spcAft>
                <a:spcPts val="0"/>
              </a:spcAft>
              <a:buClr>
                <a:srgbClr val="161613"/>
              </a:buClr>
              <a:buSzPts val="1000"/>
              <a:buFont typeface="DM Sans"/>
              <a:buNone/>
            </a:pPr>
            <a:r>
              <a:t/>
            </a:r>
            <a:endParaRPr sz="1200">
              <a:solidFill>
                <a:srgbClr val="161613"/>
              </a:solidFill>
              <a:latin typeface="DM Sans"/>
              <a:ea typeface="DM Sans"/>
              <a:cs typeface="DM Sans"/>
              <a:sym typeface="DM Sans"/>
            </a:endParaRPr>
          </a:p>
        </p:txBody>
      </p:sp>
      <p:sp>
        <p:nvSpPr>
          <p:cNvPr id="484" name="Google Shape;484;p56"/>
          <p:cNvSpPr/>
          <p:nvPr/>
        </p:nvSpPr>
        <p:spPr>
          <a:xfrm>
            <a:off x="967400" y="3452547"/>
            <a:ext cx="7335000" cy="2979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161613"/>
              </a:buClr>
              <a:buSzPts val="800"/>
              <a:buFont typeface="Inter"/>
              <a:buNone/>
            </a:pPr>
            <a:r>
              <a:rPr i="1" lang="en" sz="1000">
                <a:solidFill>
                  <a:srgbClr val="161613"/>
                </a:solidFill>
                <a:latin typeface="Inter"/>
                <a:ea typeface="Inter"/>
                <a:cs typeface="Inter"/>
                <a:sym typeface="Inter"/>
              </a:rPr>
              <a:t>As models improve, we may eventually be able to estimate WTP with LLMs accuracy approaching conventional surveys.</a:t>
            </a:r>
            <a:endParaRPr b="0" i="1" sz="1000" u="none" cap="none" strike="noStrike"/>
          </a:p>
        </p:txBody>
      </p:sp>
      <p:sp>
        <p:nvSpPr>
          <p:cNvPr id="485" name="Google Shape;485;p56"/>
          <p:cNvSpPr/>
          <p:nvPr/>
        </p:nvSpPr>
        <p:spPr>
          <a:xfrm>
            <a:off x="146350" y="312775"/>
            <a:ext cx="5183700" cy="332400"/>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161613"/>
              </a:buClr>
              <a:buSzPts val="2100"/>
              <a:buFont typeface="DM Sans"/>
              <a:buNone/>
            </a:pPr>
            <a:r>
              <a:rPr lang="en" sz="1600">
                <a:solidFill>
                  <a:srgbClr val="161613"/>
                </a:solidFill>
                <a:latin typeface="DM Sans"/>
                <a:ea typeface="DM Sans"/>
                <a:cs typeface="DM Sans"/>
                <a:sym typeface="DM Sans"/>
              </a:rPr>
              <a:t>Use Cases</a:t>
            </a:r>
            <a:endParaRPr sz="1600">
              <a:solidFill>
                <a:srgbClr val="161613"/>
              </a:solidFill>
              <a:latin typeface="DM Sans"/>
              <a:ea typeface="DM Sans"/>
              <a:cs typeface="DM Sans"/>
              <a:sym typeface="DM Sans"/>
            </a:endParaRPr>
          </a:p>
        </p:txBody>
      </p:sp>
      <p:sp>
        <p:nvSpPr>
          <p:cNvPr id="486" name="Google Shape;486;p56"/>
          <p:cNvSpPr/>
          <p:nvPr/>
        </p:nvSpPr>
        <p:spPr>
          <a:xfrm>
            <a:off x="736050" y="3942750"/>
            <a:ext cx="7671900" cy="773100"/>
          </a:xfrm>
          <a:prstGeom prst="roundRect">
            <a:avLst>
              <a:gd fmla="val 2354" name="adj"/>
            </a:avLst>
          </a:prstGeom>
          <a:solidFill>
            <a:srgbClr val="D6D6DC"/>
          </a:solidFill>
          <a:ln>
            <a:noFill/>
          </a:ln>
        </p:spPr>
        <p:txBody>
          <a:bodyPr anchorCtr="0" anchor="ctr" bIns="89825" lIns="89825" spcFirstLastPara="1" rIns="89825" wrap="square" tIns="89825">
            <a:noAutofit/>
          </a:bodyPr>
          <a:lstStyle/>
          <a:p>
            <a:pPr indent="0" lvl="0" marL="0" rtl="0" algn="l">
              <a:spcBef>
                <a:spcPts val="0"/>
              </a:spcBef>
              <a:spcAft>
                <a:spcPts val="0"/>
              </a:spcAft>
              <a:buNone/>
            </a:pPr>
            <a:r>
              <a:t/>
            </a:r>
            <a:endParaRPr/>
          </a:p>
        </p:txBody>
      </p:sp>
      <p:sp>
        <p:nvSpPr>
          <p:cNvPr id="487" name="Google Shape;487;p56"/>
          <p:cNvSpPr/>
          <p:nvPr/>
        </p:nvSpPr>
        <p:spPr>
          <a:xfrm>
            <a:off x="938700" y="4092575"/>
            <a:ext cx="7159200" cy="524400"/>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000000"/>
              </a:buClr>
              <a:buSzPts val="1258"/>
              <a:buFont typeface="Inter"/>
              <a:buNone/>
            </a:pPr>
            <a:r>
              <a:rPr lang="en" sz="1100">
                <a:latin typeface="Inter Medium"/>
                <a:ea typeface="Inter Medium"/>
                <a:cs typeface="Inter Medium"/>
                <a:sym typeface="Inter Medium"/>
              </a:rPr>
              <a:t>Synthetic CV experiments won’t replace conventional CV experiments, but they can be helpful tools now as  fast, cheap, and modifiable simulations – especially of otherwise neglected areas where WTP is needed.</a:t>
            </a:r>
            <a:endParaRPr i="0" sz="1100" u="none" cap="none" strike="noStrike">
              <a:latin typeface="Inter Medium"/>
              <a:ea typeface="Inter Medium"/>
              <a:cs typeface="Inter Medium"/>
              <a:sym typeface="Inter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7"/>
          <p:cNvSpPr/>
          <p:nvPr/>
        </p:nvSpPr>
        <p:spPr>
          <a:xfrm>
            <a:off x="1980150" y="2430450"/>
            <a:ext cx="5183700" cy="282600"/>
          </a:xfrm>
          <a:prstGeom prst="rect">
            <a:avLst/>
          </a:prstGeom>
          <a:noFill/>
          <a:ln>
            <a:noFill/>
          </a:ln>
        </p:spPr>
        <p:txBody>
          <a:bodyPr anchorCtr="0" anchor="t" bIns="0" lIns="0" spcFirstLastPara="1" rIns="0" wrap="square" tIns="0">
            <a:noAutofit/>
          </a:bodyPr>
          <a:lstStyle/>
          <a:p>
            <a:pPr indent="0" lvl="0" marL="0" marR="0" rtl="0" algn="ctr">
              <a:lnSpc>
                <a:spcPct val="125757"/>
              </a:lnSpc>
              <a:spcBef>
                <a:spcPts val="0"/>
              </a:spcBef>
              <a:spcAft>
                <a:spcPts val="0"/>
              </a:spcAft>
              <a:buClr>
                <a:srgbClr val="161613"/>
              </a:buClr>
              <a:buSzPts val="2100"/>
              <a:buFont typeface="DM Sans"/>
              <a:buNone/>
            </a:pPr>
            <a:r>
              <a:rPr lang="en" sz="1800">
                <a:solidFill>
                  <a:srgbClr val="161613"/>
                </a:solidFill>
                <a:latin typeface="DM Sans"/>
                <a:ea typeface="DM Sans"/>
                <a:cs typeface="DM Sans"/>
                <a:sym typeface="DM Sans"/>
              </a:rPr>
              <a:t>THANK YOU</a:t>
            </a:r>
            <a:endParaRPr sz="1800">
              <a:solidFill>
                <a:srgbClr val="161613"/>
              </a:solidFill>
              <a:latin typeface="DM Sans"/>
              <a:ea typeface="DM Sans"/>
              <a:cs typeface="DM Sans"/>
              <a:sym typeface="DM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8"/>
          <p:cNvSpPr/>
          <p:nvPr/>
        </p:nvSpPr>
        <p:spPr>
          <a:xfrm>
            <a:off x="496119" y="628501"/>
            <a:ext cx="6906900" cy="4431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61613"/>
              </a:buClr>
              <a:buSzPts val="2800"/>
              <a:buFont typeface="DM Sans"/>
              <a:buNone/>
            </a:pPr>
            <a:r>
              <a:rPr lang="en" sz="2800">
                <a:solidFill>
                  <a:srgbClr val="161613"/>
                </a:solidFill>
                <a:latin typeface="DM Sans"/>
                <a:ea typeface="DM Sans"/>
                <a:cs typeface="DM Sans"/>
                <a:sym typeface="DM Sans"/>
              </a:rPr>
              <a:t>Estimating</a:t>
            </a:r>
            <a:r>
              <a:rPr b="0" i="0" lang="en" sz="2800" u="none" cap="none" strike="noStrike">
                <a:solidFill>
                  <a:srgbClr val="161613"/>
                </a:solidFill>
                <a:latin typeface="DM Sans"/>
                <a:ea typeface="DM Sans"/>
                <a:cs typeface="DM Sans"/>
                <a:sym typeface="DM Sans"/>
              </a:rPr>
              <a:t> Willingness-to-Pay </a:t>
            </a:r>
            <a:r>
              <a:rPr lang="en" sz="2800">
                <a:solidFill>
                  <a:srgbClr val="161613"/>
                </a:solidFill>
                <a:latin typeface="DM Sans"/>
                <a:ea typeface="DM Sans"/>
                <a:cs typeface="DM Sans"/>
                <a:sym typeface="DM Sans"/>
              </a:rPr>
              <a:t>w</a:t>
            </a:r>
            <a:r>
              <a:rPr b="0" i="0" lang="en" sz="2800" u="none" cap="none" strike="noStrike">
                <a:solidFill>
                  <a:srgbClr val="161613"/>
                </a:solidFill>
                <a:latin typeface="DM Sans"/>
                <a:ea typeface="DM Sans"/>
                <a:cs typeface="DM Sans"/>
                <a:sym typeface="DM Sans"/>
              </a:rPr>
              <a:t>ith LLMs</a:t>
            </a:r>
            <a:endParaRPr b="0" i="0" sz="2800" u="none" cap="none" strike="noStrike"/>
          </a:p>
        </p:txBody>
      </p:sp>
      <p:sp>
        <p:nvSpPr>
          <p:cNvPr id="500" name="Google Shape;500;p58"/>
          <p:cNvSpPr/>
          <p:nvPr/>
        </p:nvSpPr>
        <p:spPr>
          <a:xfrm>
            <a:off x="496119" y="1226860"/>
            <a:ext cx="8151900" cy="2268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100"/>
              <a:buFont typeface="Inter"/>
              <a:buNone/>
            </a:pPr>
            <a:r>
              <a:rPr b="0" i="1" lang="en" sz="1300" u="none" cap="none" strike="noStrike">
                <a:solidFill>
                  <a:srgbClr val="161613"/>
                </a:solidFill>
                <a:latin typeface="Inter"/>
                <a:ea typeface="Inter"/>
                <a:cs typeface="Inter"/>
                <a:sym typeface="Inter"/>
              </a:rPr>
              <a:t>Bridging the Data Availability Gap with Synthetic Contingent Valuation</a:t>
            </a:r>
            <a:endParaRPr b="0" i="1" sz="1300" u="none" cap="none" strike="noStrike"/>
          </a:p>
        </p:txBody>
      </p:sp>
      <p:sp>
        <p:nvSpPr>
          <p:cNvPr id="501" name="Google Shape;501;p58"/>
          <p:cNvSpPr/>
          <p:nvPr/>
        </p:nvSpPr>
        <p:spPr>
          <a:xfrm>
            <a:off x="506621" y="1994125"/>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sz="1338"/>
          </a:p>
        </p:txBody>
      </p:sp>
      <p:sp>
        <p:nvSpPr>
          <p:cNvPr id="502" name="Google Shape;502;p58"/>
          <p:cNvSpPr/>
          <p:nvPr/>
        </p:nvSpPr>
        <p:spPr>
          <a:xfrm>
            <a:off x="496125" y="2098290"/>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Trevor Woolley</a:t>
            </a:r>
            <a:endParaRPr b="0" i="0" sz="1338" u="none" cap="none" strike="noStrike"/>
          </a:p>
        </p:txBody>
      </p:sp>
      <p:sp>
        <p:nvSpPr>
          <p:cNvPr id="503" name="Google Shape;503;p58"/>
          <p:cNvSpPr/>
          <p:nvPr/>
        </p:nvSpPr>
        <p:spPr>
          <a:xfrm>
            <a:off x="496125" y="2391364"/>
            <a:ext cx="25080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b="0" i="0" lang="en" sz="1051" u="none" cap="none" strike="noStrike">
                <a:solidFill>
                  <a:srgbClr val="161613"/>
                </a:solidFill>
                <a:latin typeface="Inter"/>
                <a:ea typeface="Inter"/>
                <a:cs typeface="Inter"/>
                <a:sym typeface="Inter"/>
              </a:rPr>
              <a:t>U</a:t>
            </a:r>
            <a:r>
              <a:rPr lang="en" sz="1051">
                <a:solidFill>
                  <a:srgbClr val="161613"/>
                </a:solidFill>
                <a:latin typeface="Inter"/>
                <a:ea typeface="Inter"/>
                <a:cs typeface="Inter"/>
                <a:sym typeface="Inter"/>
              </a:rPr>
              <a:t>niversity of California,</a:t>
            </a:r>
            <a:r>
              <a:rPr b="0" i="0" lang="en" sz="1051" u="none" cap="none" strike="noStrike">
                <a:solidFill>
                  <a:srgbClr val="161613"/>
                </a:solidFill>
                <a:latin typeface="Inter"/>
                <a:ea typeface="Inter"/>
                <a:cs typeface="Inter"/>
                <a:sym typeface="Inter"/>
              </a:rPr>
              <a:t> Berkeley</a:t>
            </a:r>
            <a:endParaRPr b="0" i="0" sz="1051" u="none" cap="none" strike="noStrike"/>
          </a:p>
        </p:txBody>
      </p:sp>
      <p:sp>
        <p:nvSpPr>
          <p:cNvPr id="504" name="Google Shape;504;p58"/>
          <p:cNvSpPr/>
          <p:nvPr/>
        </p:nvSpPr>
        <p:spPr>
          <a:xfrm>
            <a:off x="3139398" y="1994125"/>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a:p>
        </p:txBody>
      </p:sp>
      <p:sp>
        <p:nvSpPr>
          <p:cNvPr id="505" name="Google Shape;505;p58"/>
          <p:cNvSpPr/>
          <p:nvPr/>
        </p:nvSpPr>
        <p:spPr>
          <a:xfrm>
            <a:off x="3139398" y="2098290"/>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Sankalpa Ghose</a:t>
            </a:r>
            <a:endParaRPr b="0" i="0" sz="1338" u="none" cap="none" strike="noStrike"/>
          </a:p>
        </p:txBody>
      </p:sp>
      <p:sp>
        <p:nvSpPr>
          <p:cNvPr id="506" name="Google Shape;506;p58"/>
          <p:cNvSpPr/>
          <p:nvPr/>
        </p:nvSpPr>
        <p:spPr>
          <a:xfrm>
            <a:off x="3139398" y="2391364"/>
            <a:ext cx="25080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b="0" i="0" lang="en" sz="1051" u="none" cap="none" strike="noStrike">
                <a:solidFill>
                  <a:srgbClr val="161613"/>
                </a:solidFill>
                <a:latin typeface="Inter"/>
                <a:ea typeface="Inter"/>
                <a:cs typeface="Inter"/>
                <a:sym typeface="Inter"/>
              </a:rPr>
              <a:t>National University of Singapore</a:t>
            </a:r>
            <a:endParaRPr b="0" i="0" sz="1051" u="none" cap="none" strike="noStrike"/>
          </a:p>
        </p:txBody>
      </p:sp>
      <p:sp>
        <p:nvSpPr>
          <p:cNvPr id="507" name="Google Shape;507;p58"/>
          <p:cNvSpPr/>
          <p:nvPr/>
        </p:nvSpPr>
        <p:spPr>
          <a:xfrm>
            <a:off x="5782670" y="1994125"/>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a:p>
        </p:txBody>
      </p:sp>
      <p:sp>
        <p:nvSpPr>
          <p:cNvPr id="508" name="Google Shape;508;p58"/>
          <p:cNvSpPr/>
          <p:nvPr/>
        </p:nvSpPr>
        <p:spPr>
          <a:xfrm>
            <a:off x="5782670" y="2098290"/>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Alina Khindrova</a:t>
            </a:r>
            <a:endParaRPr b="0" i="0" sz="1338" u="none" cap="none" strike="noStrike"/>
          </a:p>
        </p:txBody>
      </p:sp>
      <p:sp>
        <p:nvSpPr>
          <p:cNvPr id="509" name="Google Shape;509;p58"/>
          <p:cNvSpPr/>
          <p:nvPr/>
        </p:nvSpPr>
        <p:spPr>
          <a:xfrm>
            <a:off x="5782670" y="2391364"/>
            <a:ext cx="25080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b="0" i="0" lang="en" sz="1051" u="none" cap="none" strike="noStrike">
                <a:solidFill>
                  <a:srgbClr val="161613"/>
                </a:solidFill>
                <a:latin typeface="Inter"/>
                <a:ea typeface="Inter"/>
                <a:cs typeface="Inter"/>
                <a:sym typeface="Inter"/>
              </a:rPr>
              <a:t>University of </a:t>
            </a:r>
            <a:r>
              <a:rPr lang="en" sz="1051">
                <a:solidFill>
                  <a:srgbClr val="161613"/>
                </a:solidFill>
                <a:latin typeface="Inter"/>
                <a:ea typeface="Inter"/>
                <a:cs typeface="Inter"/>
                <a:sym typeface="Inter"/>
              </a:rPr>
              <a:t>Texas at San Antonio</a:t>
            </a:r>
            <a:endParaRPr b="0" i="0" sz="1051" u="none" cap="none" strike="noStrike"/>
          </a:p>
        </p:txBody>
      </p:sp>
      <p:sp>
        <p:nvSpPr>
          <p:cNvPr id="510" name="Google Shape;510;p58"/>
          <p:cNvSpPr/>
          <p:nvPr/>
        </p:nvSpPr>
        <p:spPr>
          <a:xfrm>
            <a:off x="496125" y="3005508"/>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Kasra Rasaee</a:t>
            </a:r>
            <a:endParaRPr b="0" i="0" sz="1338" u="none" cap="none" strike="noStrike"/>
          </a:p>
        </p:txBody>
      </p:sp>
      <p:sp>
        <p:nvSpPr>
          <p:cNvPr id="511" name="Google Shape;511;p58"/>
          <p:cNvSpPr/>
          <p:nvPr/>
        </p:nvSpPr>
        <p:spPr>
          <a:xfrm>
            <a:off x="496126" y="3298569"/>
            <a:ext cx="25080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lang="en" sz="1051">
                <a:solidFill>
                  <a:srgbClr val="161613"/>
                </a:solidFill>
                <a:latin typeface="Inter"/>
                <a:ea typeface="Inter"/>
                <a:cs typeface="Inter"/>
                <a:sym typeface="Inter"/>
              </a:rPr>
              <a:t>Bloomberg</a:t>
            </a:r>
            <a:endParaRPr b="0" i="0" sz="1051" u="none" cap="none" strike="noStrike"/>
          </a:p>
        </p:txBody>
      </p:sp>
      <p:sp>
        <p:nvSpPr>
          <p:cNvPr id="512" name="Google Shape;512;p58"/>
          <p:cNvSpPr/>
          <p:nvPr/>
        </p:nvSpPr>
        <p:spPr>
          <a:xfrm>
            <a:off x="3143463" y="3005508"/>
            <a:ext cx="1694400" cy="211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1613"/>
              </a:buClr>
              <a:buSzPts val="1339"/>
              <a:buFont typeface="DM Sans"/>
              <a:buNone/>
            </a:pPr>
            <a:r>
              <a:rPr b="0" i="0" lang="en" sz="1338" u="none" cap="none" strike="noStrike">
                <a:solidFill>
                  <a:srgbClr val="161613"/>
                </a:solidFill>
                <a:latin typeface="DM Sans"/>
                <a:ea typeface="DM Sans"/>
                <a:cs typeface="DM Sans"/>
                <a:sym typeface="DM Sans"/>
              </a:rPr>
              <a:t>Bob Fischer</a:t>
            </a:r>
            <a:endParaRPr b="0" i="0" sz="1338" u="none" cap="none" strike="noStrike"/>
          </a:p>
        </p:txBody>
      </p:sp>
      <p:sp>
        <p:nvSpPr>
          <p:cNvPr id="513" name="Google Shape;513;p58"/>
          <p:cNvSpPr/>
          <p:nvPr/>
        </p:nvSpPr>
        <p:spPr>
          <a:xfrm>
            <a:off x="3143463" y="3298581"/>
            <a:ext cx="3829500" cy="216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61613"/>
              </a:buClr>
              <a:buSzPts val="1052"/>
              <a:buFont typeface="Inter"/>
              <a:buNone/>
            </a:pPr>
            <a:r>
              <a:rPr b="0" i="0" lang="en" sz="1051" u="none" cap="none" strike="noStrike">
                <a:solidFill>
                  <a:srgbClr val="161613"/>
                </a:solidFill>
                <a:latin typeface="Inter"/>
                <a:ea typeface="Inter"/>
                <a:cs typeface="Inter"/>
                <a:sym typeface="Inter"/>
              </a:rPr>
              <a:t>Texas State University</a:t>
            </a:r>
            <a:endParaRPr b="0" i="0" sz="1051" u="none" cap="none" strike="noStrike"/>
          </a:p>
        </p:txBody>
      </p:sp>
      <p:sp>
        <p:nvSpPr>
          <p:cNvPr id="514" name="Google Shape;514;p58"/>
          <p:cNvSpPr/>
          <p:nvPr/>
        </p:nvSpPr>
        <p:spPr>
          <a:xfrm>
            <a:off x="496119" y="4179053"/>
            <a:ext cx="8151900" cy="2268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161613"/>
              </a:buClr>
              <a:buSzPts val="1100"/>
              <a:buFont typeface="Inter"/>
              <a:buNone/>
            </a:pPr>
            <a:r>
              <a:rPr b="0" i="1" lang="en" sz="1200" u="none" cap="none" strike="noStrike">
                <a:solidFill>
                  <a:srgbClr val="161613"/>
                </a:solidFill>
                <a:latin typeface="Inter"/>
                <a:ea typeface="Inter"/>
                <a:cs typeface="Inter"/>
                <a:sym typeface="Inter"/>
              </a:rPr>
              <a:t>Society for Benefit-Cost Analysis Conference</a:t>
            </a:r>
            <a:br>
              <a:rPr i="1" lang="en" sz="1200">
                <a:solidFill>
                  <a:srgbClr val="161613"/>
                </a:solidFill>
                <a:latin typeface="Inter"/>
                <a:ea typeface="Inter"/>
                <a:cs typeface="Inter"/>
                <a:sym typeface="Inter"/>
              </a:rPr>
            </a:br>
            <a:r>
              <a:rPr b="0" i="1" lang="en" sz="1200" u="none" cap="none" strike="noStrike">
                <a:solidFill>
                  <a:srgbClr val="161613"/>
                </a:solidFill>
                <a:latin typeface="Inter"/>
                <a:ea typeface="Inter"/>
                <a:cs typeface="Inter"/>
                <a:sym typeface="Inter"/>
              </a:rPr>
              <a:t>March 12, 2026</a:t>
            </a:r>
            <a:endParaRPr b="0" i="1" sz="1200" u="none" cap="none" strike="noStrike"/>
          </a:p>
        </p:txBody>
      </p:sp>
      <p:sp>
        <p:nvSpPr>
          <p:cNvPr id="515" name="Google Shape;515;p58"/>
          <p:cNvSpPr/>
          <p:nvPr/>
        </p:nvSpPr>
        <p:spPr>
          <a:xfrm>
            <a:off x="496138" y="2905686"/>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sz="1338"/>
          </a:p>
        </p:txBody>
      </p:sp>
      <p:sp>
        <p:nvSpPr>
          <p:cNvPr id="516" name="Google Shape;516;p58"/>
          <p:cNvSpPr/>
          <p:nvPr/>
        </p:nvSpPr>
        <p:spPr>
          <a:xfrm>
            <a:off x="3143466" y="2905686"/>
            <a:ext cx="2508000" cy="18600"/>
          </a:xfrm>
          <a:prstGeom prst="rect">
            <a:avLst/>
          </a:prstGeom>
          <a:solidFill>
            <a:srgbClr val="28282F"/>
          </a:solidFill>
          <a:ln>
            <a:noFill/>
          </a:ln>
        </p:spPr>
        <p:txBody>
          <a:bodyPr anchorCtr="0" anchor="ctr" bIns="54650" lIns="54650" spcFirstLastPara="1" rIns="54650" wrap="square" tIns="54650">
            <a:noAutofit/>
          </a:bodyPr>
          <a:lstStyle/>
          <a:p>
            <a:pPr indent="0" lvl="0" marL="0" rtl="0" algn="l">
              <a:spcBef>
                <a:spcPts val="0"/>
              </a:spcBef>
              <a:spcAft>
                <a:spcPts val="0"/>
              </a:spcAft>
              <a:buNone/>
            </a:pPr>
            <a:r>
              <a:t/>
            </a:r>
            <a:endParaRPr sz="1338"/>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